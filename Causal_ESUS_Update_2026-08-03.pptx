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everything shown traces to a CSV. One finding changes what the next month should be — flag it 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Khan: NT-proBNP has more than one owner. Atrial stretch, heart failure, kidneys.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 with the caveat. It is the credibility move.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Khan: hand it a group with no real subtypes. The standard method made some up, 500 times out of 500.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 bad news. This is the design justification and reviewers reward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it plainly. This is not a failed experiment — it is a result we can state as a proposition.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Khan here: can heart failure plausibly elevate PTFV1? If not, which redundant pair is real biology?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1.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C3F5F"/>
        </a:solidFill>
      </p:bgPr>
    </p:bg>
    <p:spTree>
      <p:nvGrpSpPr>
        <p:cNvPr id="1" name=""/>
        <p:cNvGrpSpPr/>
        <p:nvPr/>
      </p:nvGrpSpPr>
      <p:grpSpPr>
        <a:xfrm>
          <a:off x="0" y="0"/>
          <a:ext cx="0" cy="0"/>
          <a:chOff x="0" y="0"/>
          <a:chExt cx="0" cy="0"/>
        </a:xfrm>
      </p:grpSpPr>
      <p:sp>
        <p:nvSpPr>
          <p:cNvPr id="2" name="Text 0"/>
          <p:cNvSpPr/>
          <p:nvPr/>
        </p:nvSpPr>
        <p:spPr>
          <a:xfrm>
            <a:off x="822960" y="1371600"/>
            <a:ext cx="10515600" cy="320040"/>
          </a:xfrm>
          <a:prstGeom prst="rect">
            <a:avLst/>
          </a:prstGeom>
          <a:noFill/>
          <a:ln/>
        </p:spPr>
        <p:txBody>
          <a:bodyPr wrap="square" rtlCol="0" anchor="ctr"/>
          <a:lstStyle/>
          <a:p>
            <a:pPr indent="0" marL="0">
              <a:buNone/>
            </a:pPr>
            <a:r>
              <a:rPr lang="en-US" sz="1300" b="1" spc="300" kern="0" dirty="0">
                <a:solidFill>
                  <a:srgbClr val="9DB6CC"/>
                </a:solidFill>
                <a:latin typeface="Calibri" pitchFamily="34" charset="0"/>
                <a:ea typeface="Calibri" pitchFamily="34" charset="-122"/>
                <a:cs typeface="Calibri" pitchFamily="34" charset="-120"/>
              </a:rPr>
              <a:t>CAUSAL-ESUS  ·  R01 WORKING PACKAGE</a:t>
            </a:r>
            <a:endParaRPr lang="en-US" sz="1300" dirty="0"/>
          </a:p>
        </p:txBody>
      </p:sp>
      <p:sp>
        <p:nvSpPr>
          <p:cNvPr id="3" name="Text 1"/>
          <p:cNvSpPr/>
          <p:nvPr/>
        </p:nvSpPr>
        <p:spPr>
          <a:xfrm>
            <a:off x="822960" y="1783080"/>
            <a:ext cx="10515600" cy="1371600"/>
          </a:xfrm>
          <a:prstGeom prst="rect">
            <a:avLst/>
          </a:prstGeom>
          <a:noFill/>
          <a:ln/>
        </p:spPr>
        <p:txBody>
          <a:bodyPr wrap="square" rtlCol="0" anchor="ctr"/>
          <a:lstStyle/>
          <a:p>
            <a:pPr indent="0" marL="0">
              <a:lnSpc>
                <a:spcPts val="4400"/>
              </a:lnSpc>
              <a:buNone/>
            </a:pPr>
            <a:r>
              <a:rPr lang="en-US" sz="4000" b="1" dirty="0">
                <a:solidFill>
                  <a:srgbClr val="FFFFFF"/>
                </a:solidFill>
                <a:latin typeface="Cambria" pitchFamily="34" charset="0"/>
                <a:ea typeface="Cambria" pitchFamily="34" charset="-122"/>
                <a:cs typeface="Cambria" pitchFamily="34" charset="-120"/>
              </a:rPr>
              <a:t>Preliminary Evidence for Aim 1:</a:t>
            </a:r>
            <a:endParaRPr lang="en-US" sz="4000" dirty="0"/>
          </a:p>
          <a:p>
            <a:pPr indent="0" marL="0">
              <a:lnSpc>
                <a:spcPts val="4400"/>
              </a:lnSpc>
              <a:buNone/>
            </a:pPr>
            <a:r>
              <a:rPr lang="en-US" sz="4000" b="1" dirty="0">
                <a:solidFill>
                  <a:srgbClr val="FFFFFF"/>
                </a:solidFill>
                <a:latin typeface="Cambria" pitchFamily="34" charset="0"/>
                <a:ea typeface="Cambria" pitchFamily="34" charset="-122"/>
                <a:cs typeface="Cambria" pitchFamily="34" charset="-120"/>
              </a:rPr>
              <a:t>Modular Causal Endotyping in ESUS</a:t>
            </a:r>
            <a:endParaRPr lang="en-US" sz="4000" dirty="0"/>
          </a:p>
        </p:txBody>
      </p:sp>
      <p:sp>
        <p:nvSpPr>
          <p:cNvPr id="4" name="Text 2"/>
          <p:cNvSpPr/>
          <p:nvPr/>
        </p:nvSpPr>
        <p:spPr>
          <a:xfrm>
            <a:off x="822960" y="3291840"/>
            <a:ext cx="10058400" cy="1280160"/>
          </a:xfrm>
          <a:prstGeom prst="rect">
            <a:avLst/>
          </a:prstGeom>
          <a:noFill/>
          <a:ln/>
        </p:spPr>
        <p:txBody>
          <a:bodyPr wrap="square" rtlCol="0" anchor="ctr"/>
          <a:lstStyle/>
          <a:p>
            <a:pPr indent="0" marL="0">
              <a:lnSpc>
                <a:spcPts val="2600"/>
              </a:lnSpc>
              <a:buNone/>
            </a:pPr>
            <a:r>
              <a:rPr lang="en-US" sz="1600" dirty="0">
                <a:solidFill>
                  <a:srgbClr val="C7D6E4"/>
                </a:solidFill>
                <a:latin typeface="Calibri" pitchFamily="34" charset="0"/>
                <a:ea typeface="Calibri" pitchFamily="34" charset="-122"/>
                <a:cs typeface="Calibri" pitchFamily="34" charset="-120"/>
              </a:rPr>
              <a:t>Technical update for Dr. Bukhari and Dr. Khan  ·  3 August 2026</a:t>
            </a:r>
            <a:endParaRPr lang="en-US" sz="1600" dirty="0"/>
          </a:p>
          <a:p>
            <a:pPr indent="0" marL="0">
              <a:lnSpc>
                <a:spcPts val="2600"/>
              </a:lnSpc>
              <a:buNone/>
            </a:pPr>
            <a:r>
              <a:rPr lang="en-US" sz="1600" dirty="0">
                <a:solidFill>
                  <a:srgbClr val="C7D6E4"/>
                </a:solidFill>
                <a:latin typeface="Calibri" pitchFamily="34" charset="0"/>
                <a:ea typeface="Calibri" pitchFamily="34" charset="-122"/>
                <a:cs typeface="Calibri" pitchFamily="34" charset="-120"/>
              </a:rPr>
              <a:t>Neeam Hayder — technical lead</a:t>
            </a:r>
            <a:endParaRPr lang="en-US" sz="1600" dirty="0"/>
          </a:p>
        </p:txBody>
      </p:sp>
      <p:sp>
        <p:nvSpPr>
          <p:cNvPr id="5" name="Shape 3"/>
          <p:cNvSpPr/>
          <p:nvPr/>
        </p:nvSpPr>
        <p:spPr>
          <a:xfrm>
            <a:off x="822960" y="4892040"/>
            <a:ext cx="502920" cy="41148"/>
          </a:xfrm>
          <a:prstGeom prst="rect">
            <a:avLst/>
          </a:prstGeom>
          <a:solidFill>
            <a:srgbClr val="C25A2E"/>
          </a:solidFill>
          <a:ln/>
        </p:spPr>
      </p:sp>
      <p:sp>
        <p:nvSpPr>
          <p:cNvPr id="6" name="Text 4"/>
          <p:cNvSpPr/>
          <p:nvPr/>
        </p:nvSpPr>
        <p:spPr>
          <a:xfrm>
            <a:off x="822960" y="5120640"/>
            <a:ext cx="10058400" cy="365760"/>
          </a:xfrm>
          <a:prstGeom prst="rect">
            <a:avLst/>
          </a:prstGeom>
          <a:noFill/>
          <a:ln/>
        </p:spPr>
        <p:txBody>
          <a:bodyPr wrap="square" lIns="0" tIns="0" rIns="0" bIns="0" rtlCol="0" anchor="ctr"/>
          <a:lstStyle/>
          <a:p>
            <a:pPr indent="0" marL="0">
              <a:buNone/>
            </a:pPr>
            <a:r>
              <a:rPr lang="en-US" sz="1300" i="1" dirty="0">
                <a:solidFill>
                  <a:srgbClr val="9DB6CC"/>
                </a:solidFill>
                <a:latin typeface="Calibri" pitchFamily="34" charset="0"/>
                <a:ea typeface="Calibri" pitchFamily="34" charset="-122"/>
                <a:cs typeface="Calibri" pitchFamily="34" charset="-120"/>
              </a:rPr>
              <a:t>All results below are synthetic, reproducible, and traced to a saved output file.</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11064240" cy="256032"/>
          </a:xfrm>
          <a:prstGeom prst="rect">
            <a:avLst/>
          </a:prstGeom>
          <a:noFill/>
          <a:ln/>
        </p:spPr>
        <p:txBody>
          <a:bodyPr wrap="square" lIns="0" tIns="0" rIns="0" bIns="0" rtlCol="0" anchor="ctr"/>
          <a:lstStyle/>
          <a:p>
            <a:pPr indent="0" marL="0">
              <a:buNone/>
            </a:pPr>
            <a:r>
              <a:rPr lang="en-US" sz="1100" b="1" spc="200" kern="0" dirty="0">
                <a:solidFill>
                  <a:srgbClr val="C25A2E"/>
                </a:solidFill>
                <a:latin typeface="Calibri" pitchFamily="34" charset="0"/>
                <a:ea typeface="Calibri" pitchFamily="34" charset="-122"/>
                <a:cs typeface="Calibri" pitchFamily="34" charset="-120"/>
              </a:rPr>
              <a:t>AGENDA</a:t>
            </a:r>
            <a:endParaRPr lang="en-US" sz="1100" dirty="0"/>
          </a:p>
        </p:txBody>
      </p:sp>
      <p:sp>
        <p:nvSpPr>
          <p:cNvPr id="3" name="Text 1"/>
          <p:cNvSpPr/>
          <p:nvPr/>
        </p:nvSpPr>
        <p:spPr>
          <a:xfrm>
            <a:off x="548640" y="585216"/>
            <a:ext cx="11064240" cy="566928"/>
          </a:xfrm>
          <a:prstGeom prst="rect">
            <a:avLst/>
          </a:prstGeom>
          <a:noFill/>
          <a:ln/>
        </p:spPr>
        <p:txBody>
          <a:bodyPr wrap="square" lIns="0" tIns="0" rIns="0" bIns="0" rtlCol="0" anchor="ctr"/>
          <a:lstStyle/>
          <a:p>
            <a:pPr indent="0" marL="0">
              <a:buNone/>
            </a:pPr>
            <a:r>
              <a:rPr lang="en-US" sz="2900" b="1" dirty="0">
                <a:solidFill>
                  <a:srgbClr val="1C3F5F"/>
                </a:solidFill>
                <a:latin typeface="Cambria" pitchFamily="34" charset="0"/>
                <a:ea typeface="Cambria" pitchFamily="34" charset="-122"/>
                <a:cs typeface="Cambria" pitchFamily="34" charset="-120"/>
              </a:rPr>
              <a:t>What you asked me to bring</a:t>
            </a:r>
            <a:endParaRPr lang="en-US" sz="2900" dirty="0"/>
          </a:p>
        </p:txBody>
      </p:sp>
      <p:sp>
        <p:nvSpPr>
          <p:cNvPr id="4" name="Shape 2"/>
          <p:cNvSpPr/>
          <p:nvPr/>
        </p:nvSpPr>
        <p:spPr>
          <a:xfrm>
            <a:off x="548640" y="1417320"/>
            <a:ext cx="11064240" cy="987552"/>
          </a:xfrm>
          <a:prstGeom prst="roundRect">
            <a:avLst>
              <a:gd name="adj" fmla="val 5556"/>
            </a:avLst>
          </a:prstGeom>
          <a:solidFill>
            <a:srgbClr val="F5F7F9"/>
          </a:solidFill>
          <a:ln w="9525">
            <a:solidFill>
              <a:srgbClr val="D8DEE4"/>
            </a:solidFill>
            <a:prstDash val="solid"/>
          </a:ln>
        </p:spPr>
      </p:sp>
      <p:sp>
        <p:nvSpPr>
          <p:cNvPr id="5" name="Shape 3"/>
          <p:cNvSpPr/>
          <p:nvPr/>
        </p:nvSpPr>
        <p:spPr>
          <a:xfrm>
            <a:off x="868680" y="1636776"/>
            <a:ext cx="548640" cy="548640"/>
          </a:xfrm>
          <a:prstGeom prst="ellipse">
            <a:avLst/>
          </a:prstGeom>
          <a:solidFill>
            <a:srgbClr val="1C3F5F"/>
          </a:solidFill>
          <a:ln/>
        </p:spPr>
      </p:sp>
      <p:sp>
        <p:nvSpPr>
          <p:cNvPr id="6" name="Text 4"/>
          <p:cNvSpPr/>
          <p:nvPr/>
        </p:nvSpPr>
        <p:spPr>
          <a:xfrm>
            <a:off x="868680" y="1636776"/>
            <a:ext cx="548640" cy="54864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1</a:t>
            </a:r>
            <a:endParaRPr lang="en-US" sz="2200" dirty="0"/>
          </a:p>
        </p:txBody>
      </p:sp>
      <p:sp>
        <p:nvSpPr>
          <p:cNvPr id="7" name="Text 5"/>
          <p:cNvSpPr/>
          <p:nvPr/>
        </p:nvSpPr>
        <p:spPr>
          <a:xfrm>
            <a:off x="1691640" y="1600200"/>
            <a:ext cx="5669280" cy="365760"/>
          </a:xfrm>
          <a:prstGeom prst="rect">
            <a:avLst/>
          </a:prstGeom>
          <a:noFill/>
          <a:ln/>
        </p:spPr>
        <p:txBody>
          <a:bodyPr wrap="square" lIns="0" tIns="0" rIns="0" bIns="0" rtlCol="0" anchor="ctr"/>
          <a:lstStyle/>
          <a:p>
            <a:pPr indent="0" marL="0">
              <a:buNone/>
            </a:pPr>
            <a:r>
              <a:rPr lang="en-US" sz="1700" b="1" dirty="0">
                <a:solidFill>
                  <a:srgbClr val="1C3F5F"/>
                </a:solidFill>
                <a:latin typeface="Calibri" pitchFamily="34" charset="0"/>
                <a:ea typeface="Calibri" pitchFamily="34" charset="-122"/>
                <a:cs typeface="Calibri" pitchFamily="34" charset="-120"/>
              </a:rPr>
              <a:t>Current experimental results</a:t>
            </a:r>
            <a:endParaRPr lang="en-US" sz="1700" dirty="0"/>
          </a:p>
        </p:txBody>
      </p:sp>
      <p:sp>
        <p:nvSpPr>
          <p:cNvPr id="8" name="Text 6"/>
          <p:cNvSpPr/>
          <p:nvPr/>
        </p:nvSpPr>
        <p:spPr>
          <a:xfrm>
            <a:off x="1691640" y="1965960"/>
            <a:ext cx="8229600" cy="320040"/>
          </a:xfrm>
          <a:prstGeom prst="rect">
            <a:avLst/>
          </a:prstGeom>
          <a:noFill/>
          <a:ln/>
        </p:spPr>
        <p:txBody>
          <a:bodyPr wrap="square" lIns="0" tIns="0" rIns="0" bIns="0" rtlCol="0" anchor="ctr"/>
          <a:lstStyle/>
          <a:p>
            <a:pPr indent="0" marL="0">
              <a:buNone/>
            </a:pPr>
            <a:r>
              <a:rPr lang="en-US" sz="1300" dirty="0">
                <a:solidFill>
                  <a:srgbClr val="6B7885"/>
                </a:solidFill>
                <a:latin typeface="Calibri" pitchFamily="34" charset="0"/>
                <a:ea typeface="Calibri" pitchFamily="34" charset="-122"/>
                <a:cs typeface="Calibri" pitchFamily="34" charset="-120"/>
              </a:rPr>
              <a:t>Three locked experiments, 500 paired repeats each</a:t>
            </a:r>
            <a:endParaRPr lang="en-US" sz="1300" dirty="0"/>
          </a:p>
        </p:txBody>
      </p:sp>
      <p:sp>
        <p:nvSpPr>
          <p:cNvPr id="9" name="Shape 7"/>
          <p:cNvSpPr/>
          <p:nvPr/>
        </p:nvSpPr>
        <p:spPr>
          <a:xfrm>
            <a:off x="548640" y="2587752"/>
            <a:ext cx="11064240" cy="987552"/>
          </a:xfrm>
          <a:prstGeom prst="roundRect">
            <a:avLst>
              <a:gd name="adj" fmla="val 5556"/>
            </a:avLst>
          </a:prstGeom>
          <a:solidFill>
            <a:srgbClr val="F5F7F9"/>
          </a:solidFill>
          <a:ln w="9525">
            <a:solidFill>
              <a:srgbClr val="D8DEE4"/>
            </a:solidFill>
            <a:prstDash val="solid"/>
          </a:ln>
        </p:spPr>
      </p:sp>
      <p:sp>
        <p:nvSpPr>
          <p:cNvPr id="10" name="Shape 8"/>
          <p:cNvSpPr/>
          <p:nvPr/>
        </p:nvSpPr>
        <p:spPr>
          <a:xfrm>
            <a:off x="868680" y="2807208"/>
            <a:ext cx="548640" cy="548640"/>
          </a:xfrm>
          <a:prstGeom prst="ellipse">
            <a:avLst/>
          </a:prstGeom>
          <a:solidFill>
            <a:srgbClr val="1C3F5F"/>
          </a:solidFill>
          <a:ln/>
        </p:spPr>
      </p:sp>
      <p:sp>
        <p:nvSpPr>
          <p:cNvPr id="11" name="Text 9"/>
          <p:cNvSpPr/>
          <p:nvPr/>
        </p:nvSpPr>
        <p:spPr>
          <a:xfrm>
            <a:off x="868680" y="2807208"/>
            <a:ext cx="548640" cy="54864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2</a:t>
            </a:r>
            <a:endParaRPr lang="en-US" sz="2200" dirty="0"/>
          </a:p>
        </p:txBody>
      </p:sp>
      <p:sp>
        <p:nvSpPr>
          <p:cNvPr id="12" name="Text 10"/>
          <p:cNvSpPr/>
          <p:nvPr/>
        </p:nvSpPr>
        <p:spPr>
          <a:xfrm>
            <a:off x="1691640" y="2770632"/>
            <a:ext cx="5669280" cy="365760"/>
          </a:xfrm>
          <a:prstGeom prst="rect">
            <a:avLst/>
          </a:prstGeom>
          <a:noFill/>
          <a:ln/>
        </p:spPr>
        <p:txBody>
          <a:bodyPr wrap="square" lIns="0" tIns="0" rIns="0" bIns="0" rtlCol="0" anchor="ctr"/>
          <a:lstStyle/>
          <a:p>
            <a:pPr indent="0" marL="0">
              <a:buNone/>
            </a:pPr>
            <a:r>
              <a:rPr lang="en-US" sz="1700" b="1" dirty="0">
                <a:solidFill>
                  <a:srgbClr val="1C3F5F"/>
                </a:solidFill>
                <a:latin typeface="Calibri" pitchFamily="34" charset="0"/>
                <a:ea typeface="Calibri" pitchFamily="34" charset="-122"/>
                <a:cs typeface="Calibri" pitchFamily="34" charset="-120"/>
              </a:rPr>
              <a:t>Figures for Aim 1 preliminary evidence</a:t>
            </a:r>
            <a:endParaRPr lang="en-US" sz="1700" dirty="0"/>
          </a:p>
        </p:txBody>
      </p:sp>
      <p:sp>
        <p:nvSpPr>
          <p:cNvPr id="13" name="Text 11"/>
          <p:cNvSpPr/>
          <p:nvPr/>
        </p:nvSpPr>
        <p:spPr>
          <a:xfrm>
            <a:off x="1691640" y="3136392"/>
            <a:ext cx="8229600" cy="320040"/>
          </a:xfrm>
          <a:prstGeom prst="rect">
            <a:avLst/>
          </a:prstGeom>
          <a:noFill/>
          <a:ln/>
        </p:spPr>
        <p:txBody>
          <a:bodyPr wrap="square" lIns="0" tIns="0" rIns="0" bIns="0" rtlCol="0" anchor="ctr"/>
          <a:lstStyle/>
          <a:p>
            <a:pPr indent="0" marL="0">
              <a:buNone/>
            </a:pPr>
            <a:r>
              <a:rPr lang="en-US" sz="1300" dirty="0">
                <a:solidFill>
                  <a:srgbClr val="6B7885"/>
                </a:solidFill>
                <a:latin typeface="Calibri" pitchFamily="34" charset="0"/>
                <a:ea typeface="Calibri" pitchFamily="34" charset="-122"/>
                <a:cs typeface="Calibri" pitchFamily="34" charset="-120"/>
              </a:rPr>
              <a:t>Seven code-generated figures; one critical gap</a:t>
            </a:r>
            <a:endParaRPr lang="en-US" sz="1300" dirty="0"/>
          </a:p>
        </p:txBody>
      </p:sp>
      <p:sp>
        <p:nvSpPr>
          <p:cNvPr id="14" name="Shape 12"/>
          <p:cNvSpPr/>
          <p:nvPr/>
        </p:nvSpPr>
        <p:spPr>
          <a:xfrm>
            <a:off x="548640" y="3758184"/>
            <a:ext cx="11064240" cy="987552"/>
          </a:xfrm>
          <a:prstGeom prst="roundRect">
            <a:avLst>
              <a:gd name="adj" fmla="val 5556"/>
            </a:avLst>
          </a:prstGeom>
          <a:solidFill>
            <a:srgbClr val="F5F7F9"/>
          </a:solidFill>
          <a:ln w="9525">
            <a:solidFill>
              <a:srgbClr val="D8DEE4"/>
            </a:solidFill>
            <a:prstDash val="solid"/>
          </a:ln>
        </p:spPr>
      </p:sp>
      <p:sp>
        <p:nvSpPr>
          <p:cNvPr id="15" name="Shape 13"/>
          <p:cNvSpPr/>
          <p:nvPr/>
        </p:nvSpPr>
        <p:spPr>
          <a:xfrm>
            <a:off x="868680" y="3977640"/>
            <a:ext cx="548640" cy="548640"/>
          </a:xfrm>
          <a:prstGeom prst="ellipse">
            <a:avLst/>
          </a:prstGeom>
          <a:solidFill>
            <a:srgbClr val="1C3F5F"/>
          </a:solidFill>
          <a:ln/>
        </p:spPr>
      </p:sp>
      <p:sp>
        <p:nvSpPr>
          <p:cNvPr id="16" name="Text 14"/>
          <p:cNvSpPr/>
          <p:nvPr/>
        </p:nvSpPr>
        <p:spPr>
          <a:xfrm>
            <a:off x="868680" y="3977640"/>
            <a:ext cx="548640" cy="54864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3</a:t>
            </a:r>
            <a:endParaRPr lang="en-US" sz="2200" dirty="0"/>
          </a:p>
        </p:txBody>
      </p:sp>
      <p:sp>
        <p:nvSpPr>
          <p:cNvPr id="17" name="Text 15"/>
          <p:cNvSpPr/>
          <p:nvPr/>
        </p:nvSpPr>
        <p:spPr>
          <a:xfrm>
            <a:off x="1691640" y="3941064"/>
            <a:ext cx="5669280" cy="365760"/>
          </a:xfrm>
          <a:prstGeom prst="rect">
            <a:avLst/>
          </a:prstGeom>
          <a:noFill/>
          <a:ln/>
        </p:spPr>
        <p:txBody>
          <a:bodyPr wrap="square" lIns="0" tIns="0" rIns="0" bIns="0" rtlCol="0" anchor="ctr"/>
          <a:lstStyle/>
          <a:p>
            <a:pPr indent="0" marL="0">
              <a:buNone/>
            </a:pPr>
            <a:r>
              <a:rPr lang="en-US" sz="1700" b="1" dirty="0">
                <a:solidFill>
                  <a:srgbClr val="1C3F5F"/>
                </a:solidFill>
                <a:latin typeface="Calibri" pitchFamily="34" charset="0"/>
                <a:ea typeface="Calibri" pitchFamily="34" charset="-122"/>
                <a:cs typeface="Calibri" pitchFamily="34" charset="-120"/>
              </a:rPr>
              <a:t>Additional diagrams for the proposal</a:t>
            </a:r>
            <a:endParaRPr lang="en-US" sz="1700" dirty="0"/>
          </a:p>
        </p:txBody>
      </p:sp>
      <p:sp>
        <p:nvSpPr>
          <p:cNvPr id="18" name="Text 16"/>
          <p:cNvSpPr/>
          <p:nvPr/>
        </p:nvSpPr>
        <p:spPr>
          <a:xfrm>
            <a:off x="1691640" y="4306824"/>
            <a:ext cx="8229600" cy="320040"/>
          </a:xfrm>
          <a:prstGeom prst="rect">
            <a:avLst/>
          </a:prstGeom>
          <a:noFill/>
          <a:ln/>
        </p:spPr>
        <p:txBody>
          <a:bodyPr wrap="square" lIns="0" tIns="0" rIns="0" bIns="0" rtlCol="0" anchor="ctr"/>
          <a:lstStyle/>
          <a:p>
            <a:pPr indent="0" marL="0">
              <a:buNone/>
            </a:pPr>
            <a:r>
              <a:rPr lang="en-US" sz="1300" dirty="0">
                <a:solidFill>
                  <a:srgbClr val="6B7885"/>
                </a:solidFill>
                <a:latin typeface="Calibri" pitchFamily="34" charset="0"/>
                <a:ea typeface="Calibri" pitchFamily="34" charset="-122"/>
                <a:cs typeface="Calibri" pitchFamily="34" charset="-120"/>
              </a:rPr>
              <a:t>Three proposed — none exist yet</a:t>
            </a:r>
            <a:endParaRPr lang="en-US" sz="1300" dirty="0"/>
          </a:p>
        </p:txBody>
      </p:sp>
      <p:sp>
        <p:nvSpPr>
          <p:cNvPr id="19" name="Shape 17"/>
          <p:cNvSpPr/>
          <p:nvPr/>
        </p:nvSpPr>
        <p:spPr>
          <a:xfrm>
            <a:off x="548640" y="4928616"/>
            <a:ext cx="11064240" cy="987552"/>
          </a:xfrm>
          <a:prstGeom prst="roundRect">
            <a:avLst>
              <a:gd name="adj" fmla="val 5556"/>
            </a:avLst>
          </a:prstGeom>
          <a:solidFill>
            <a:srgbClr val="F5F7F9"/>
          </a:solidFill>
          <a:ln w="9525">
            <a:solidFill>
              <a:srgbClr val="D8DEE4"/>
            </a:solidFill>
            <a:prstDash val="solid"/>
          </a:ln>
        </p:spPr>
      </p:sp>
      <p:sp>
        <p:nvSpPr>
          <p:cNvPr id="20" name="Shape 18"/>
          <p:cNvSpPr/>
          <p:nvPr/>
        </p:nvSpPr>
        <p:spPr>
          <a:xfrm>
            <a:off x="868680" y="5148072"/>
            <a:ext cx="548640" cy="548640"/>
          </a:xfrm>
          <a:prstGeom prst="ellipse">
            <a:avLst/>
          </a:prstGeom>
          <a:solidFill>
            <a:srgbClr val="C25A2E"/>
          </a:solidFill>
          <a:ln/>
        </p:spPr>
      </p:sp>
      <p:sp>
        <p:nvSpPr>
          <p:cNvPr id="21" name="Text 19"/>
          <p:cNvSpPr/>
          <p:nvPr/>
        </p:nvSpPr>
        <p:spPr>
          <a:xfrm>
            <a:off x="868680" y="5148072"/>
            <a:ext cx="548640" cy="54864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4</a:t>
            </a:r>
            <a:endParaRPr lang="en-US" sz="2200" dirty="0"/>
          </a:p>
        </p:txBody>
      </p:sp>
      <p:sp>
        <p:nvSpPr>
          <p:cNvPr id="22" name="Text 20"/>
          <p:cNvSpPr/>
          <p:nvPr/>
        </p:nvSpPr>
        <p:spPr>
          <a:xfrm>
            <a:off x="1691640" y="5111496"/>
            <a:ext cx="5669280" cy="365760"/>
          </a:xfrm>
          <a:prstGeom prst="rect">
            <a:avLst/>
          </a:prstGeom>
          <a:noFill/>
          <a:ln/>
        </p:spPr>
        <p:txBody>
          <a:bodyPr wrap="square" lIns="0" tIns="0" rIns="0" bIns="0" rtlCol="0" anchor="ctr"/>
          <a:lstStyle/>
          <a:p>
            <a:pPr indent="0" marL="0">
              <a:buNone/>
            </a:pPr>
            <a:r>
              <a:rPr lang="en-US" sz="1700" b="1" dirty="0">
                <a:solidFill>
                  <a:srgbClr val="1C3F5F"/>
                </a:solidFill>
                <a:latin typeface="Calibri" pitchFamily="34" charset="0"/>
                <a:ea typeface="Calibri" pitchFamily="34" charset="-122"/>
                <a:cs typeface="Calibri" pitchFamily="34" charset="-120"/>
              </a:rPr>
              <a:t>Methodology improvements and gaps</a:t>
            </a:r>
            <a:endParaRPr lang="en-US" sz="1700" dirty="0"/>
          </a:p>
        </p:txBody>
      </p:sp>
      <p:sp>
        <p:nvSpPr>
          <p:cNvPr id="23" name="Text 21"/>
          <p:cNvSpPr/>
          <p:nvPr/>
        </p:nvSpPr>
        <p:spPr>
          <a:xfrm>
            <a:off x="1691640" y="5477256"/>
            <a:ext cx="8229600" cy="320040"/>
          </a:xfrm>
          <a:prstGeom prst="rect">
            <a:avLst/>
          </a:prstGeom>
          <a:noFill/>
          <a:ln/>
        </p:spPr>
        <p:txBody>
          <a:bodyPr wrap="square" lIns="0" tIns="0" rIns="0" bIns="0" rtlCol="0" anchor="ctr"/>
          <a:lstStyle/>
          <a:p>
            <a:pPr indent="0" marL="0">
              <a:buNone/>
            </a:pPr>
            <a:r>
              <a:rPr lang="en-US" sz="1300" dirty="0">
                <a:solidFill>
                  <a:srgbClr val="6B7885"/>
                </a:solidFill>
                <a:latin typeface="Calibri" pitchFamily="34" charset="0"/>
                <a:ea typeface="Calibri" pitchFamily="34" charset="-122"/>
                <a:cs typeface="Calibri" pitchFamily="34" charset="-120"/>
              </a:rPr>
              <a:t>One finding that changes the plan</a:t>
            </a:r>
            <a:endParaRPr lang="en-US" sz="1300" dirty="0"/>
          </a:p>
        </p:txBody>
      </p:sp>
      <p:sp>
        <p:nvSpPr>
          <p:cNvPr id="24" name="Text 22"/>
          <p:cNvSpPr/>
          <p:nvPr/>
        </p:nvSpPr>
        <p:spPr>
          <a:xfrm>
            <a:off x="548640" y="6172200"/>
            <a:ext cx="11064240" cy="411480"/>
          </a:xfrm>
          <a:prstGeom prst="rect">
            <a:avLst/>
          </a:prstGeom>
          <a:noFill/>
          <a:ln/>
        </p:spPr>
        <p:txBody>
          <a:bodyPr wrap="square" lIns="0" tIns="0" rIns="0" bIns="0" rtlCol="0" anchor="ctr"/>
          <a:lstStyle/>
          <a:p>
            <a:pPr indent="0" marL="0">
              <a:buNone/>
            </a:pPr>
            <a:r>
              <a:rPr lang="en-US" sz="1350" b="1" dirty="0">
                <a:solidFill>
                  <a:srgbClr val="C25A2E"/>
                </a:solidFill>
                <a:latin typeface="Calibri" pitchFamily="34" charset="0"/>
                <a:ea typeface="Calibri" pitchFamily="34" charset="-122"/>
                <a:cs typeface="Calibri" pitchFamily="34" charset="-120"/>
              </a:rPr>
              <a:t>Headline: the evidence base is solid. The counterfactual claim is not — and I found out why.</a:t>
            </a:r>
            <a:endParaRPr lang="en-US" sz="13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C3F5F"/>
        </a:solidFill>
      </p:bgPr>
    </p:bg>
    <p:spTree>
      <p:nvGrpSpPr>
        <p:cNvPr id="1" name=""/>
        <p:cNvGrpSpPr/>
        <p:nvPr/>
      </p:nvGrpSpPr>
      <p:grpSpPr>
        <a:xfrm>
          <a:off x="0" y="0"/>
          <a:ext cx="0" cy="0"/>
          <a:chOff x="0" y="0"/>
          <a:chExt cx="0" cy="0"/>
        </a:xfrm>
      </p:grpSpPr>
      <p:sp>
        <p:nvSpPr>
          <p:cNvPr id="2" name="Shape 0"/>
          <p:cNvSpPr/>
          <p:nvPr/>
        </p:nvSpPr>
        <p:spPr>
          <a:xfrm>
            <a:off x="822960" y="2331720"/>
            <a:ext cx="1051560" cy="1051560"/>
          </a:xfrm>
          <a:prstGeom prst="ellipse">
            <a:avLst/>
          </a:prstGeom>
          <a:solidFill>
            <a:srgbClr val="C25A2E"/>
          </a:solidFill>
          <a:ln/>
        </p:spPr>
      </p:sp>
      <p:sp>
        <p:nvSpPr>
          <p:cNvPr id="3" name="Text 1"/>
          <p:cNvSpPr/>
          <p:nvPr/>
        </p:nvSpPr>
        <p:spPr>
          <a:xfrm>
            <a:off x="822960" y="2331720"/>
            <a:ext cx="1051560" cy="1051560"/>
          </a:xfrm>
          <a:prstGeom prst="rect">
            <a:avLst/>
          </a:prstGeom>
          <a:noFill/>
          <a:ln/>
        </p:spPr>
        <p:txBody>
          <a:bodyPr wrap="square" lIns="0" tIns="0" rIns="0" bIns="0" rtlCol="0" anchor="ctr"/>
          <a:lstStyle/>
          <a:p>
            <a:pPr algn="ctr" indent="0" marL="0">
              <a:buNone/>
            </a:pPr>
            <a:r>
              <a:rPr lang="en-US" sz="4400" b="1" dirty="0">
                <a:solidFill>
                  <a:srgbClr val="FFFFFF"/>
                </a:solidFill>
                <a:latin typeface="Cambria" pitchFamily="34" charset="0"/>
                <a:ea typeface="Cambria" pitchFamily="34" charset="-122"/>
                <a:cs typeface="Cambria" pitchFamily="34" charset="-120"/>
              </a:rPr>
              <a:t>1</a:t>
            </a:r>
            <a:endParaRPr lang="en-US" sz="4400" dirty="0"/>
          </a:p>
        </p:txBody>
      </p:sp>
      <p:sp>
        <p:nvSpPr>
          <p:cNvPr id="4" name="Text 2"/>
          <p:cNvSpPr/>
          <p:nvPr/>
        </p:nvSpPr>
        <p:spPr>
          <a:xfrm>
            <a:off x="2194560" y="2286000"/>
            <a:ext cx="9144000" cy="82296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Current experimental results</a:t>
            </a:r>
            <a:endParaRPr lang="en-US" sz="3400" dirty="0"/>
          </a:p>
        </p:txBody>
      </p:sp>
      <p:sp>
        <p:nvSpPr>
          <p:cNvPr id="5" name="Text 3"/>
          <p:cNvSpPr/>
          <p:nvPr/>
        </p:nvSpPr>
        <p:spPr>
          <a:xfrm>
            <a:off x="2194560" y="3108960"/>
            <a:ext cx="9144000" cy="640080"/>
          </a:xfrm>
          <a:prstGeom prst="rect">
            <a:avLst/>
          </a:prstGeom>
          <a:noFill/>
          <a:ln/>
        </p:spPr>
        <p:txBody>
          <a:bodyPr wrap="square" lIns="0" tIns="0" rIns="0" bIns="0" rtlCol="0" anchor="ctr"/>
          <a:lstStyle/>
          <a:p>
            <a:pPr indent="0" marL="0">
              <a:buNone/>
            </a:pPr>
            <a:r>
              <a:rPr lang="en-US" sz="1500" dirty="0">
                <a:solidFill>
                  <a:srgbClr val="9DB6CC"/>
                </a:solidFill>
                <a:latin typeface="Calibri" pitchFamily="34" charset="0"/>
                <a:ea typeface="Calibri" pitchFamily="34" charset="-122"/>
                <a:cs typeface="Calibri" pitchFamily="34" charset="-120"/>
              </a:rPr>
              <a:t>Three experiments · 500 paired replicates each · seed 20260728 · all validation checks pass</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11064240" cy="256032"/>
          </a:xfrm>
          <a:prstGeom prst="rect">
            <a:avLst/>
          </a:prstGeom>
          <a:noFill/>
          <a:ln/>
        </p:spPr>
        <p:txBody>
          <a:bodyPr wrap="square" lIns="0" tIns="0" rIns="0" bIns="0" rtlCol="0" anchor="ctr"/>
          <a:lstStyle/>
          <a:p>
            <a:pPr indent="0" marL="0">
              <a:buNone/>
            </a:pPr>
            <a:r>
              <a:rPr lang="en-US" sz="1100" b="1" spc="200" kern="0" dirty="0">
                <a:solidFill>
                  <a:srgbClr val="C25A2E"/>
                </a:solidFill>
                <a:latin typeface="Calibri" pitchFamily="34" charset="0"/>
                <a:ea typeface="Calibri" pitchFamily="34" charset="-122"/>
                <a:cs typeface="Calibri" pitchFamily="34" charset="-120"/>
              </a:rPr>
              <a:t>THE SETUP</a:t>
            </a:r>
            <a:endParaRPr lang="en-US" sz="1100" dirty="0"/>
          </a:p>
        </p:txBody>
      </p:sp>
      <p:sp>
        <p:nvSpPr>
          <p:cNvPr id="3" name="Text 1"/>
          <p:cNvSpPr/>
          <p:nvPr/>
        </p:nvSpPr>
        <p:spPr>
          <a:xfrm>
            <a:off x="548640" y="585216"/>
            <a:ext cx="11064240" cy="566928"/>
          </a:xfrm>
          <a:prstGeom prst="rect">
            <a:avLst/>
          </a:prstGeom>
          <a:noFill/>
          <a:ln/>
        </p:spPr>
        <p:txBody>
          <a:bodyPr wrap="square" lIns="0" tIns="0" rIns="0" bIns="0" rtlCol="0" anchor="ctr"/>
          <a:lstStyle/>
          <a:p>
            <a:pPr indent="0" marL="0">
              <a:buNone/>
            </a:pPr>
            <a:r>
              <a:rPr lang="en-US" sz="2900" b="1" dirty="0">
                <a:solidFill>
                  <a:srgbClr val="1C3F5F"/>
                </a:solidFill>
                <a:latin typeface="Cambria" pitchFamily="34" charset="0"/>
                <a:ea typeface="Cambria" pitchFamily="34" charset="-122"/>
                <a:cs typeface="Cambria" pitchFamily="34" charset="-120"/>
              </a:rPr>
              <a:t>What the experiments actually test</a:t>
            </a:r>
            <a:endParaRPr lang="en-US" sz="2900" dirty="0"/>
          </a:p>
        </p:txBody>
      </p:sp>
      <p:sp>
        <p:nvSpPr>
          <p:cNvPr id="4" name="Text 2"/>
          <p:cNvSpPr/>
          <p:nvPr/>
        </p:nvSpPr>
        <p:spPr>
          <a:xfrm>
            <a:off x="548640" y="1207008"/>
            <a:ext cx="11064240" cy="457200"/>
          </a:xfrm>
          <a:prstGeom prst="rect">
            <a:avLst/>
          </a:prstGeom>
          <a:noFill/>
          <a:ln/>
        </p:spPr>
        <p:txBody>
          <a:bodyPr wrap="square" lIns="0" tIns="0" rIns="0" bIns="0" rtlCol="0" anchor="ctr"/>
          <a:lstStyle/>
          <a:p>
            <a:pPr indent="0" marL="0">
              <a:buNone/>
            </a:pPr>
            <a:r>
              <a:rPr lang="en-US" sz="1450" dirty="0">
                <a:solidFill>
                  <a:srgbClr val="22282E"/>
                </a:solidFill>
                <a:latin typeface="Calibri" pitchFamily="34" charset="0"/>
                <a:ea typeface="Calibri" pitchFamily="34" charset="-122"/>
                <a:cs typeface="Calibri" pitchFamily="34" charset="-120"/>
              </a:rPr>
              <a:t>Every simulated patient has one true mechanism. The model never sees it. We ask: can it recover the mechanism when a biomarker has more than one cause?</a:t>
            </a:r>
            <a:endParaRPr lang="en-US" sz="1450" dirty="0"/>
          </a:p>
        </p:txBody>
      </p:sp>
      <p:sp>
        <p:nvSpPr>
          <p:cNvPr id="5" name="Shape 3"/>
          <p:cNvSpPr/>
          <p:nvPr/>
        </p:nvSpPr>
        <p:spPr>
          <a:xfrm>
            <a:off x="548640" y="1874520"/>
            <a:ext cx="3538728" cy="1691640"/>
          </a:xfrm>
          <a:prstGeom prst="roundRect">
            <a:avLst>
              <a:gd name="adj" fmla="val 3243"/>
            </a:avLst>
          </a:prstGeom>
          <a:solidFill>
            <a:srgbClr val="F5F7F9"/>
          </a:solidFill>
          <a:ln w="9525">
            <a:solidFill>
              <a:srgbClr val="D8DEE4"/>
            </a:solidFill>
            <a:prstDash val="solid"/>
          </a:ln>
        </p:spPr>
      </p:sp>
      <p:sp>
        <p:nvSpPr>
          <p:cNvPr id="6" name="Shape 4"/>
          <p:cNvSpPr/>
          <p:nvPr/>
        </p:nvSpPr>
        <p:spPr>
          <a:xfrm>
            <a:off x="804672" y="2103120"/>
            <a:ext cx="384048" cy="384048"/>
          </a:xfrm>
          <a:prstGeom prst="ellipse">
            <a:avLst/>
          </a:prstGeom>
          <a:solidFill>
            <a:srgbClr val="1C3F5F"/>
          </a:solidFill>
          <a:ln/>
        </p:spPr>
      </p:sp>
      <p:sp>
        <p:nvSpPr>
          <p:cNvPr id="7" name="Text 5"/>
          <p:cNvSpPr/>
          <p:nvPr/>
        </p:nvSpPr>
        <p:spPr>
          <a:xfrm>
            <a:off x="1325880" y="2084832"/>
            <a:ext cx="2651760" cy="411480"/>
          </a:xfrm>
          <a:prstGeom prst="rect">
            <a:avLst/>
          </a:prstGeom>
          <a:noFill/>
          <a:ln/>
        </p:spPr>
        <p:txBody>
          <a:bodyPr wrap="square" lIns="0" tIns="0" rIns="0" bIns="0" rtlCol="0" anchor="ctr"/>
          <a:lstStyle/>
          <a:p>
            <a:pPr indent="0" marL="0">
              <a:buNone/>
            </a:pPr>
            <a:r>
              <a:rPr lang="en-US" sz="1400" b="1" dirty="0">
                <a:solidFill>
                  <a:srgbClr val="1C3F5F"/>
                </a:solidFill>
                <a:latin typeface="Calibri" pitchFamily="34" charset="0"/>
                <a:ea typeface="Calibri" pitchFamily="34" charset="-122"/>
                <a:cs typeface="Calibri" pitchFamily="34" charset="-120"/>
              </a:rPr>
              <a:t>Atrial mechanism</a:t>
            </a:r>
            <a:endParaRPr lang="en-US" sz="1400" dirty="0"/>
          </a:p>
        </p:txBody>
      </p:sp>
      <p:sp>
        <p:nvSpPr>
          <p:cNvPr id="8" name="Text 6"/>
          <p:cNvSpPr/>
          <p:nvPr/>
        </p:nvSpPr>
        <p:spPr>
          <a:xfrm>
            <a:off x="804672" y="2633472"/>
            <a:ext cx="3017520" cy="822960"/>
          </a:xfrm>
          <a:prstGeom prst="rect">
            <a:avLst/>
          </a:prstGeom>
          <a:noFill/>
          <a:ln/>
        </p:spPr>
        <p:txBody>
          <a:bodyPr wrap="square" lIns="0" tIns="0" rIns="0" bIns="0" rtlCol="0" anchor="ctr"/>
          <a:lstStyle/>
          <a:p>
            <a:pPr indent="0" marL="0">
              <a:lnSpc>
                <a:spcPts val="1500"/>
              </a:lnSpc>
              <a:buNone/>
            </a:pPr>
            <a:r>
              <a:rPr lang="en-US" sz="1200" dirty="0">
                <a:solidFill>
                  <a:srgbClr val="22282E"/>
                </a:solidFill>
                <a:latin typeface="Calibri" pitchFamily="34" charset="0"/>
                <a:ea typeface="Calibri" pitchFamily="34" charset="-122"/>
                <a:cs typeface="Calibri" pitchFamily="34" charset="-120"/>
              </a:rPr>
              <a:t>Drives the NT-proBNP-like marker and the atrial electrical marker</a:t>
            </a:r>
            <a:endParaRPr lang="en-US" sz="1200" dirty="0"/>
          </a:p>
        </p:txBody>
      </p:sp>
      <p:sp>
        <p:nvSpPr>
          <p:cNvPr id="9" name="Shape 7"/>
          <p:cNvSpPr/>
          <p:nvPr/>
        </p:nvSpPr>
        <p:spPr>
          <a:xfrm>
            <a:off x="4270248" y="1874520"/>
            <a:ext cx="3538728" cy="1691640"/>
          </a:xfrm>
          <a:prstGeom prst="roundRect">
            <a:avLst>
              <a:gd name="adj" fmla="val 3243"/>
            </a:avLst>
          </a:prstGeom>
          <a:solidFill>
            <a:srgbClr val="F5F7F9"/>
          </a:solidFill>
          <a:ln w="9525">
            <a:solidFill>
              <a:srgbClr val="D8DEE4"/>
            </a:solidFill>
            <a:prstDash val="solid"/>
          </a:ln>
        </p:spPr>
      </p:sp>
      <p:sp>
        <p:nvSpPr>
          <p:cNvPr id="10" name="Shape 8"/>
          <p:cNvSpPr/>
          <p:nvPr/>
        </p:nvSpPr>
        <p:spPr>
          <a:xfrm>
            <a:off x="4526280" y="2103120"/>
            <a:ext cx="384048" cy="384048"/>
          </a:xfrm>
          <a:prstGeom prst="ellipse">
            <a:avLst/>
          </a:prstGeom>
          <a:solidFill>
            <a:srgbClr val="2A7F7F"/>
          </a:solidFill>
          <a:ln/>
        </p:spPr>
      </p:sp>
      <p:sp>
        <p:nvSpPr>
          <p:cNvPr id="11" name="Text 9"/>
          <p:cNvSpPr/>
          <p:nvPr/>
        </p:nvSpPr>
        <p:spPr>
          <a:xfrm>
            <a:off x="5047488" y="2084832"/>
            <a:ext cx="2651760" cy="411480"/>
          </a:xfrm>
          <a:prstGeom prst="rect">
            <a:avLst/>
          </a:prstGeom>
          <a:noFill/>
          <a:ln/>
        </p:spPr>
        <p:txBody>
          <a:bodyPr wrap="square" lIns="0" tIns="0" rIns="0" bIns="0" rtlCol="0" anchor="ctr"/>
          <a:lstStyle/>
          <a:p>
            <a:pPr indent="0" marL="0">
              <a:buNone/>
            </a:pPr>
            <a:r>
              <a:rPr lang="en-US" sz="1400" b="1" dirty="0">
                <a:solidFill>
                  <a:srgbClr val="2A7F7F"/>
                </a:solidFill>
                <a:latin typeface="Calibri" pitchFamily="34" charset="0"/>
                <a:ea typeface="Calibri" pitchFamily="34" charset="-122"/>
                <a:cs typeface="Calibri" pitchFamily="34" charset="-120"/>
              </a:rPr>
              <a:t>Competing mechanism</a:t>
            </a:r>
            <a:endParaRPr lang="en-US" sz="1400" dirty="0"/>
          </a:p>
        </p:txBody>
      </p:sp>
      <p:sp>
        <p:nvSpPr>
          <p:cNvPr id="12" name="Text 10"/>
          <p:cNvSpPr/>
          <p:nvPr/>
        </p:nvSpPr>
        <p:spPr>
          <a:xfrm>
            <a:off x="4526280" y="2633472"/>
            <a:ext cx="3017520" cy="822960"/>
          </a:xfrm>
          <a:prstGeom prst="rect">
            <a:avLst/>
          </a:prstGeom>
          <a:noFill/>
          <a:ln/>
        </p:spPr>
        <p:txBody>
          <a:bodyPr wrap="square" lIns="0" tIns="0" rIns="0" bIns="0" rtlCol="0" anchor="ctr"/>
          <a:lstStyle/>
          <a:p>
            <a:pPr indent="0" marL="0">
              <a:lnSpc>
                <a:spcPts val="1500"/>
              </a:lnSpc>
              <a:buNone/>
            </a:pPr>
            <a:r>
              <a:rPr lang="en-US" sz="1200" dirty="0">
                <a:solidFill>
                  <a:srgbClr val="22282E"/>
                </a:solidFill>
                <a:latin typeface="Calibri" pitchFamily="34" charset="0"/>
                <a:ea typeface="Calibri" pitchFamily="34" charset="-122"/>
                <a:cs typeface="Calibri" pitchFamily="34" charset="-120"/>
              </a:rPr>
              <a:t>Drives only the competing-specific marker</a:t>
            </a:r>
            <a:endParaRPr lang="en-US" sz="1200" dirty="0"/>
          </a:p>
        </p:txBody>
      </p:sp>
      <p:sp>
        <p:nvSpPr>
          <p:cNvPr id="13" name="Shape 11"/>
          <p:cNvSpPr/>
          <p:nvPr/>
        </p:nvSpPr>
        <p:spPr>
          <a:xfrm>
            <a:off x="7991856" y="1874520"/>
            <a:ext cx="3538728" cy="1691640"/>
          </a:xfrm>
          <a:prstGeom prst="roundRect">
            <a:avLst>
              <a:gd name="adj" fmla="val 3243"/>
            </a:avLst>
          </a:prstGeom>
          <a:solidFill>
            <a:srgbClr val="F5F7F9"/>
          </a:solidFill>
          <a:ln w="9525">
            <a:solidFill>
              <a:srgbClr val="D8DEE4"/>
            </a:solidFill>
            <a:prstDash val="solid"/>
          </a:ln>
        </p:spPr>
      </p:sp>
      <p:sp>
        <p:nvSpPr>
          <p:cNvPr id="14" name="Shape 12"/>
          <p:cNvSpPr/>
          <p:nvPr/>
        </p:nvSpPr>
        <p:spPr>
          <a:xfrm>
            <a:off x="8247888" y="2103120"/>
            <a:ext cx="384048" cy="384048"/>
          </a:xfrm>
          <a:prstGeom prst="ellipse">
            <a:avLst/>
          </a:prstGeom>
          <a:solidFill>
            <a:srgbClr val="C25A2E"/>
          </a:solidFill>
          <a:ln/>
        </p:spPr>
      </p:sp>
      <p:sp>
        <p:nvSpPr>
          <p:cNvPr id="15" name="Text 13"/>
          <p:cNvSpPr/>
          <p:nvPr/>
        </p:nvSpPr>
        <p:spPr>
          <a:xfrm>
            <a:off x="8769096" y="2084832"/>
            <a:ext cx="2651760" cy="411480"/>
          </a:xfrm>
          <a:prstGeom prst="rect">
            <a:avLst/>
          </a:prstGeom>
          <a:noFill/>
          <a:ln/>
        </p:spPr>
        <p:txBody>
          <a:bodyPr wrap="square" lIns="0" tIns="0" rIns="0" bIns="0" rtlCol="0" anchor="ctr"/>
          <a:lstStyle/>
          <a:p>
            <a:pPr indent="0" marL="0">
              <a:buNone/>
            </a:pPr>
            <a:r>
              <a:rPr lang="en-US" sz="1400" b="1" dirty="0">
                <a:solidFill>
                  <a:srgbClr val="C25A2E"/>
                </a:solidFill>
                <a:latin typeface="Calibri" pitchFamily="34" charset="0"/>
                <a:ea typeface="Calibri" pitchFamily="34" charset="-122"/>
                <a:cs typeface="Calibri" pitchFamily="34" charset="-120"/>
              </a:rPr>
              <a:t>Renal dysfunction</a:t>
            </a:r>
            <a:endParaRPr lang="en-US" sz="1400" dirty="0"/>
          </a:p>
        </p:txBody>
      </p:sp>
      <p:sp>
        <p:nvSpPr>
          <p:cNvPr id="16" name="Text 14"/>
          <p:cNvSpPr/>
          <p:nvPr/>
        </p:nvSpPr>
        <p:spPr>
          <a:xfrm>
            <a:off x="8247888" y="2633472"/>
            <a:ext cx="3017520" cy="822960"/>
          </a:xfrm>
          <a:prstGeom prst="rect">
            <a:avLst/>
          </a:prstGeom>
          <a:noFill/>
          <a:ln/>
        </p:spPr>
        <p:txBody>
          <a:bodyPr wrap="square" lIns="0" tIns="0" rIns="0" bIns="0" rtlCol="0" anchor="ctr"/>
          <a:lstStyle/>
          <a:p>
            <a:pPr indent="0" marL="0">
              <a:lnSpc>
                <a:spcPts val="1500"/>
              </a:lnSpc>
              <a:buNone/>
            </a:pPr>
            <a:r>
              <a:rPr lang="en-US" sz="1200" dirty="0">
                <a:solidFill>
                  <a:srgbClr val="22282E"/>
                </a:solidFill>
                <a:latin typeface="Calibri" pitchFamily="34" charset="0"/>
                <a:ea typeface="Calibri" pitchFamily="34" charset="-122"/>
                <a:cs typeface="Calibri" pitchFamily="34" charset="-120"/>
              </a:rPr>
              <a:t>Raises the NT-proBNP-like marker — but does NOT change the mechanism</a:t>
            </a:r>
            <a:endParaRPr lang="en-US" sz="1200" dirty="0"/>
          </a:p>
        </p:txBody>
      </p:sp>
      <p:sp>
        <p:nvSpPr>
          <p:cNvPr id="17" name="Shape 15"/>
          <p:cNvSpPr/>
          <p:nvPr/>
        </p:nvSpPr>
        <p:spPr>
          <a:xfrm>
            <a:off x="548640" y="3794760"/>
            <a:ext cx="11064240" cy="1417320"/>
          </a:xfrm>
          <a:prstGeom prst="roundRect">
            <a:avLst>
              <a:gd name="adj" fmla="val 3871"/>
            </a:avLst>
          </a:prstGeom>
          <a:solidFill>
            <a:srgbClr val="F0F5F3"/>
          </a:solidFill>
          <a:ln w="12700">
            <a:solidFill>
              <a:srgbClr val="2A7F7F"/>
            </a:solidFill>
            <a:prstDash val="solid"/>
          </a:ln>
        </p:spPr>
      </p:sp>
      <p:sp>
        <p:nvSpPr>
          <p:cNvPr id="18" name="Text 16"/>
          <p:cNvSpPr/>
          <p:nvPr/>
        </p:nvSpPr>
        <p:spPr>
          <a:xfrm>
            <a:off x="868680" y="3950208"/>
            <a:ext cx="10424160" cy="320040"/>
          </a:xfrm>
          <a:prstGeom prst="rect">
            <a:avLst/>
          </a:prstGeom>
          <a:noFill/>
          <a:ln/>
        </p:spPr>
        <p:txBody>
          <a:bodyPr wrap="square" lIns="0" tIns="0" rIns="0" bIns="0" rtlCol="0" anchor="ctr"/>
          <a:lstStyle/>
          <a:p>
            <a:pPr indent="0" marL="0">
              <a:buNone/>
            </a:pPr>
            <a:r>
              <a:rPr lang="en-US" sz="1300" b="1" dirty="0">
                <a:solidFill>
                  <a:srgbClr val="2A7F7F"/>
                </a:solidFill>
                <a:latin typeface="Calibri" pitchFamily="34" charset="0"/>
                <a:ea typeface="Calibri" pitchFamily="34" charset="-122"/>
                <a:cs typeface="Calibri" pitchFamily="34" charset="-120"/>
              </a:rPr>
              <a:t>The clinical problem in one line</a:t>
            </a:r>
            <a:endParaRPr lang="en-US" sz="1300" dirty="0"/>
          </a:p>
        </p:txBody>
      </p:sp>
      <p:sp>
        <p:nvSpPr>
          <p:cNvPr id="19" name="Text 17"/>
          <p:cNvSpPr/>
          <p:nvPr/>
        </p:nvSpPr>
        <p:spPr>
          <a:xfrm>
            <a:off x="868680" y="4279392"/>
            <a:ext cx="10424160" cy="822960"/>
          </a:xfrm>
          <a:prstGeom prst="rect">
            <a:avLst/>
          </a:prstGeom>
          <a:noFill/>
          <a:ln/>
        </p:spPr>
        <p:txBody>
          <a:bodyPr wrap="square" lIns="0" tIns="0" rIns="0" bIns="0" rtlCol="0" anchor="ctr"/>
          <a:lstStyle/>
          <a:p>
            <a:pPr indent="0" marL="0">
              <a:lnSpc>
                <a:spcPts val="1900"/>
              </a:lnSpc>
              <a:buNone/>
            </a:pPr>
            <a:r>
              <a:rPr lang="en-US" sz="1400" dirty="0">
                <a:solidFill>
                  <a:srgbClr val="22282E"/>
                </a:solidFill>
                <a:latin typeface="Calibri" pitchFamily="34" charset="0"/>
                <a:ea typeface="Calibri" pitchFamily="34" charset="-122"/>
                <a:cs typeface="Calibri" pitchFamily="34" charset="-120"/>
              </a:rPr>
              <a:t>A competing-mechanism patient with kidney disease can look exactly like an atrial patient — high NT-proBNP, wrong reason. A model that only asks “what does this resemble” will call it atrial.</a:t>
            </a:r>
            <a:endParaRPr lang="en-US" sz="1400" dirty="0"/>
          </a:p>
        </p:txBody>
      </p:sp>
      <p:sp>
        <p:nvSpPr>
          <p:cNvPr id="20" name="Text 18"/>
          <p:cNvSpPr/>
          <p:nvPr/>
        </p:nvSpPr>
        <p:spPr>
          <a:xfrm>
            <a:off x="548640" y="5440680"/>
            <a:ext cx="11064240" cy="457200"/>
          </a:xfrm>
          <a:prstGeom prst="rect">
            <a:avLst/>
          </a:prstGeom>
          <a:noFill/>
          <a:ln/>
        </p:spPr>
        <p:txBody>
          <a:bodyPr wrap="square" lIns="0" tIns="0" rIns="0" bIns="0" rtlCol="0" anchor="ctr"/>
          <a:lstStyle/>
          <a:p>
            <a:pPr indent="0" marL="0">
              <a:buNone/>
            </a:pPr>
            <a:r>
              <a:rPr lang="en-US" sz="1300" i="1" dirty="0">
                <a:solidFill>
                  <a:srgbClr val="6B7885"/>
                </a:solidFill>
                <a:latin typeface="Calibri" pitchFamily="34" charset="0"/>
                <a:ea typeface="Calibri" pitchFamily="34" charset="-122"/>
                <a:cs typeface="Calibri" pitchFamily="34" charset="-120"/>
              </a:rPr>
              <a:t>Nuisance strength is dialled up in four steps — None → Weak → Moderate → Strong (0 to 1.5 SD direct renal effect on the NT-proBNP-like marker).</a:t>
            </a:r>
            <a:endParaRPr lang="en-US" sz="1300" dirty="0"/>
          </a:p>
        </p:txBody>
      </p:sp>
      <p:sp>
        <p:nvSpPr>
          <p:cNvPr id="21" name="Text 19"/>
          <p:cNvSpPr/>
          <p:nvPr/>
        </p:nvSpPr>
        <p:spPr>
          <a:xfrm>
            <a:off x="548640" y="6236208"/>
            <a:ext cx="11064240" cy="365760"/>
          </a:xfrm>
          <a:prstGeom prst="rect">
            <a:avLst/>
          </a:prstGeom>
          <a:noFill/>
          <a:ln/>
        </p:spPr>
        <p:txBody>
          <a:bodyPr wrap="square" lIns="0" tIns="0" rIns="0" bIns="0" rtlCol="0" anchor="ctr"/>
          <a:lstStyle/>
          <a:p>
            <a:pPr indent="0" marL="0">
              <a:buNone/>
            </a:pPr>
            <a:r>
              <a:rPr lang="en-US" sz="1050" i="1" dirty="0">
                <a:solidFill>
                  <a:srgbClr val="6B7885"/>
                </a:solidFill>
                <a:latin typeface="Calibri" pitchFamily="34" charset="0"/>
                <a:ea typeface="Calibri" pitchFamily="34" charset="-122"/>
                <a:cs typeface="Calibri" pitchFamily="34" charset="-120"/>
              </a:rPr>
              <a:t>800 training / 1,000 test patients · renal prevalence 30% · 500 paired repeats per level</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11064240" cy="256032"/>
          </a:xfrm>
          <a:prstGeom prst="rect">
            <a:avLst/>
          </a:prstGeom>
          <a:noFill/>
          <a:ln/>
        </p:spPr>
        <p:txBody>
          <a:bodyPr wrap="square" lIns="0" tIns="0" rIns="0" bIns="0" rtlCol="0" anchor="ctr"/>
          <a:lstStyle/>
          <a:p>
            <a:pPr indent="0" marL="0">
              <a:buNone/>
            </a:pPr>
            <a:r>
              <a:rPr lang="en-US" sz="1100" b="1" spc="200" kern="0" dirty="0">
                <a:solidFill>
                  <a:srgbClr val="C25A2E"/>
                </a:solidFill>
                <a:latin typeface="Calibri" pitchFamily="34" charset="0"/>
                <a:ea typeface="Calibri" pitchFamily="34" charset="-122"/>
                <a:cs typeface="Calibri" pitchFamily="34" charset="-120"/>
              </a:rPr>
              <a:t>EXPERIMENT 1  ·  RENAL BIOMARKER DISTORTION</a:t>
            </a:r>
            <a:endParaRPr lang="en-US" sz="1100" dirty="0"/>
          </a:p>
        </p:txBody>
      </p:sp>
      <p:sp>
        <p:nvSpPr>
          <p:cNvPr id="3" name="Text 1"/>
          <p:cNvSpPr/>
          <p:nvPr/>
        </p:nvSpPr>
        <p:spPr>
          <a:xfrm>
            <a:off x="548640" y="585216"/>
            <a:ext cx="11064240" cy="566928"/>
          </a:xfrm>
          <a:prstGeom prst="rect">
            <a:avLst/>
          </a:prstGeom>
          <a:noFill/>
          <a:ln/>
        </p:spPr>
        <p:txBody>
          <a:bodyPr wrap="square" lIns="0" tIns="0" rIns="0" bIns="0" rtlCol="0" anchor="ctr"/>
          <a:lstStyle/>
          <a:p>
            <a:pPr indent="0" marL="0">
              <a:buNone/>
            </a:pPr>
            <a:r>
              <a:rPr lang="en-US" sz="2900" b="1" dirty="0">
                <a:solidFill>
                  <a:srgbClr val="1C3F5F"/>
                </a:solidFill>
                <a:latin typeface="Cambria" pitchFamily="34" charset="0"/>
                <a:ea typeface="Cambria" pitchFamily="34" charset="-122"/>
                <a:cs typeface="Cambria" pitchFamily="34" charset="-120"/>
              </a:rPr>
              <a:t>Result 1 — Explicit nuisance modelling prevents false atrial calls</a:t>
            </a:r>
            <a:endParaRPr lang="en-US" sz="2900" dirty="0"/>
          </a:p>
        </p:txBody>
      </p:sp>
      <p:pic>
        <p:nvPicPr>
          <p:cNvPr id="4" name="Image 0" descr="/sessions/sharp-charming-bohr/mnt/ESUS Endotyping with Causal Models/outputs_latent_endotyping/figure_P1_latent_recovery.png">    </p:cNvPr>
          <p:cNvPicPr>
            <a:picLocks noChangeAspect="1"/>
          </p:cNvPicPr>
          <p:nvPr/>
        </p:nvPicPr>
        <p:blipFill>
          <a:blip r:embed="rId1"/>
          <a:stretch>
            <a:fillRect/>
          </a:stretch>
        </p:blipFill>
        <p:spPr>
          <a:xfrm>
            <a:off x="548640" y="1170432"/>
            <a:ext cx="5943600" cy="2889504"/>
          </a:xfrm>
          <a:prstGeom prst="rect">
            <a:avLst/>
          </a:prstGeom>
        </p:spPr>
      </p:pic>
      <p:sp>
        <p:nvSpPr>
          <p:cNvPr id="5" name="Text 2"/>
          <p:cNvSpPr/>
          <p:nvPr/>
        </p:nvSpPr>
        <p:spPr>
          <a:xfrm>
            <a:off x="548640" y="4078224"/>
            <a:ext cx="5943600" cy="256032"/>
          </a:xfrm>
          <a:prstGeom prst="rect">
            <a:avLst/>
          </a:prstGeom>
          <a:noFill/>
          <a:ln/>
        </p:spPr>
        <p:txBody>
          <a:bodyPr wrap="square" lIns="0" tIns="0" rIns="0" bIns="0" rtlCol="0" anchor="ctr"/>
          <a:lstStyle/>
          <a:p>
            <a:pPr indent="0" marL="0">
              <a:buNone/>
            </a:pPr>
            <a:r>
              <a:rPr lang="en-US" sz="950" i="1" dirty="0">
                <a:solidFill>
                  <a:srgbClr val="6B7885"/>
                </a:solidFill>
                <a:latin typeface="Calibri" pitchFamily="34" charset="0"/>
                <a:ea typeface="Calibri" pitchFamily="34" charset="-122"/>
                <a:cs typeface="Calibri" pitchFamily="34" charset="-120"/>
              </a:rPr>
              <a:t>outputs_latent_endotyping/figure_P1_latent_recovery</a:t>
            </a:r>
            <a:endParaRPr lang="en-US" sz="95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6720840" y="1170432"/>
          <a:ext cx="4892040" cy="914400"/>
        </p:xfrm>
        <a:graphic>
          <a:graphicData uri="http://schemas.openxmlformats.org/drawingml/2006/table">
            <a:tbl>
              <a:tblPr/>
              <a:tblGrid>
                <a:gridCol w="2423160"/>
                <a:gridCol w="1234440"/>
                <a:gridCol w="1234440"/>
              </a:tblGrid>
              <a:tr h="310896">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Model at strong distortion</a:t>
                      </a:r>
                      <a:endParaRPr lang="en-US" sz="1150" dirty="0">
                        <a:latin typeface="Calibri" charset="0"/>
                        <a:ea typeface="Calibri" charset="0"/>
                        <a:cs typeface="Calibri" charset="0"/>
                      </a:endParaRPr>
                    </a:p>
                  </a:txBody>
                  <a:tcPr marL="91440" marR="91440" marT="45720" marB="45720"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solidFill>
                      <a:srgbClr val="1C3F5F"/>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Accuracy</a:t>
                      </a:r>
                      <a:endParaRPr lang="en-US" sz="1150" dirty="0">
                        <a:latin typeface="Calibri" charset="0"/>
                        <a:ea typeface="Calibri" charset="0"/>
                        <a:cs typeface="Calibri" charset="0"/>
                      </a:endParaRPr>
                    </a:p>
                  </a:txBody>
                  <a:tcPr marL="91440" marR="91440" marT="45720" marB="45720"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solidFill>
                      <a:srgbClr val="1C3F5F"/>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False atrial</a:t>
                      </a:r>
                      <a:endParaRPr lang="en-US" sz="1150" dirty="0">
                        <a:latin typeface="Calibri" charset="0"/>
                        <a:ea typeface="Calibri" charset="0"/>
                        <a:cs typeface="Calibri" charset="0"/>
                      </a:endParaRPr>
                    </a:p>
                  </a:txBody>
                  <a:tcPr marL="91440" marR="91440" marT="45720" marB="45720"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solidFill>
                      <a:srgbClr val="1C3F5F"/>
                    </a:solidFill>
                  </a:tcPr>
                </a:tc>
              </a:tr>
              <a:tr h="310896">
                <a:tc>
                  <a:txBody>
                    <a:bodyPr/>
                    <a:lstStyle/>
                    <a:p>
                      <a:pPr indent="0" marL="0">
                        <a:buNone/>
                      </a:pPr>
                      <a:r>
                        <a:rPr lang="en-US" sz="1250" dirty="0">
                          <a:solidFill>
                            <a:srgbClr val="22282E"/>
                          </a:solidFill>
                          <a:latin typeface="Calibri" pitchFamily="34" charset="0"/>
                          <a:ea typeface="Calibri" pitchFamily="34" charset="-122"/>
                          <a:cs typeface="Calibri" pitchFamily="34" charset="-120"/>
                        </a:rPr>
                        <a:t>Pooled associative</a:t>
                      </a:r>
                      <a:endParaRPr lang="en-US" sz="1250" dirty="0">
                        <a:latin typeface="Calibri" charset="0"/>
                        <a:ea typeface="Calibri" charset="0"/>
                        <a:cs typeface="Calibri" charset="0"/>
                      </a:endParaRPr>
                    </a:p>
                  </a:txBody>
                  <a:tcPr marL="91440" marR="91440" marT="45720" marB="45720"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c>
                  <a:txBody>
                    <a:bodyPr/>
                    <a:lstStyle/>
                    <a:p>
                      <a:pPr indent="0" marL="0">
                        <a:buNone/>
                      </a:pPr>
                      <a:r>
                        <a:rPr lang="en-US" sz="1250" b="1" dirty="0">
                          <a:solidFill>
                            <a:srgbClr val="C25A2E"/>
                          </a:solidFill>
                          <a:latin typeface="Calibri" pitchFamily="34" charset="0"/>
                          <a:ea typeface="Calibri" pitchFamily="34" charset="-122"/>
                          <a:cs typeface="Calibri" pitchFamily="34" charset="-120"/>
                        </a:rPr>
                        <a:t>57.9%</a:t>
                      </a:r>
                      <a:endParaRPr lang="en-US" sz="1250" dirty="0">
                        <a:latin typeface="Calibri" charset="0"/>
                        <a:ea typeface="Calibri" charset="0"/>
                        <a:cs typeface="Calibri" charset="0"/>
                      </a:endParaRPr>
                    </a:p>
                  </a:txBody>
                  <a:tcPr marL="91440" marR="91440" marT="45720" marB="45720"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c>
                  <a:txBody>
                    <a:bodyPr/>
                    <a:lstStyle/>
                    <a:p>
                      <a:pPr indent="0" marL="0">
                        <a:buNone/>
                      </a:pPr>
                      <a:r>
                        <a:rPr lang="en-US" sz="1250" b="1" dirty="0">
                          <a:solidFill>
                            <a:srgbClr val="C25A2E"/>
                          </a:solidFill>
                          <a:latin typeface="Calibri" pitchFamily="34" charset="0"/>
                          <a:ea typeface="Calibri" pitchFamily="34" charset="-122"/>
                          <a:cs typeface="Calibri" pitchFamily="34" charset="-120"/>
                        </a:rPr>
                        <a:t>76.0%</a:t>
                      </a:r>
                      <a:endParaRPr lang="en-US" sz="1250" dirty="0">
                        <a:latin typeface="Calibri" charset="0"/>
                        <a:ea typeface="Calibri" charset="0"/>
                        <a:cs typeface="Calibri" charset="0"/>
                      </a:endParaRPr>
                    </a:p>
                  </a:txBody>
                  <a:tcPr marL="91440" marR="91440" marT="45720" marB="45720"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r>
              <a:tr h="310896">
                <a:tc>
                  <a:txBody>
                    <a:bodyPr/>
                    <a:lstStyle/>
                    <a:p>
                      <a:pPr indent="0" marL="0">
                        <a:buNone/>
                      </a:pPr>
                      <a:r>
                        <a:rPr lang="en-US" sz="1250" dirty="0">
                          <a:solidFill>
                            <a:srgbClr val="22282E"/>
                          </a:solidFill>
                          <a:latin typeface="Calibri" pitchFamily="34" charset="0"/>
                          <a:ea typeface="Calibri" pitchFamily="34" charset="-122"/>
                          <a:cs typeface="Calibri" pitchFamily="34" charset="-120"/>
                        </a:rPr>
                        <a:t>Renal-adjusted associative</a:t>
                      </a:r>
                      <a:endParaRPr lang="en-US" sz="1250" dirty="0">
                        <a:latin typeface="Calibri" charset="0"/>
                        <a:ea typeface="Calibri" charset="0"/>
                        <a:cs typeface="Calibri" charset="0"/>
                      </a:endParaRPr>
                    </a:p>
                  </a:txBody>
                  <a:tcPr marL="91440" marR="91440" marT="45720" marB="45720"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c>
                  <a:txBody>
                    <a:bodyPr/>
                    <a:lstStyle/>
                    <a:p>
                      <a:pPr indent="0" marL="0">
                        <a:buNone/>
                      </a:pPr>
                      <a:r>
                        <a:rPr lang="en-US" sz="1250" dirty="0">
                          <a:solidFill>
                            <a:srgbClr val="22282E"/>
                          </a:solidFill>
                          <a:latin typeface="Calibri" pitchFamily="34" charset="0"/>
                          <a:ea typeface="Calibri" pitchFamily="34" charset="-122"/>
                          <a:cs typeface="Calibri" pitchFamily="34" charset="-120"/>
                        </a:rPr>
                        <a:t>81.6%</a:t>
                      </a:r>
                      <a:endParaRPr lang="en-US" sz="1250" dirty="0">
                        <a:latin typeface="Calibri" charset="0"/>
                        <a:ea typeface="Calibri" charset="0"/>
                        <a:cs typeface="Calibri" charset="0"/>
                      </a:endParaRPr>
                    </a:p>
                  </a:txBody>
                  <a:tcPr marL="91440" marR="91440" marT="45720" marB="45720"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c>
                  <a:txBody>
                    <a:bodyPr/>
                    <a:lstStyle/>
                    <a:p>
                      <a:pPr indent="0" marL="0">
                        <a:buNone/>
                      </a:pPr>
                      <a:r>
                        <a:rPr lang="en-US" sz="1250" dirty="0">
                          <a:solidFill>
                            <a:srgbClr val="22282E"/>
                          </a:solidFill>
                          <a:latin typeface="Calibri" pitchFamily="34" charset="0"/>
                          <a:ea typeface="Calibri" pitchFamily="34" charset="-122"/>
                          <a:cs typeface="Calibri" pitchFamily="34" charset="-120"/>
                        </a:rPr>
                        <a:t>19.7%</a:t>
                      </a:r>
                      <a:endParaRPr lang="en-US" sz="1250" dirty="0">
                        <a:latin typeface="Calibri" charset="0"/>
                        <a:ea typeface="Calibri" charset="0"/>
                        <a:cs typeface="Calibri" charset="0"/>
                      </a:endParaRPr>
                    </a:p>
                  </a:txBody>
                  <a:tcPr marL="91440" marR="91440" marT="45720" marB="45720"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r>
              <a:tr h="310896">
                <a:tc>
                  <a:txBody>
                    <a:bodyPr/>
                    <a:lstStyle/>
                    <a:p>
                      <a:pPr indent="0" marL="0">
                        <a:buNone/>
                      </a:pPr>
                      <a:r>
                        <a:rPr lang="en-US" sz="1250" b="1" dirty="0">
                          <a:solidFill>
                            <a:srgbClr val="22282E"/>
                          </a:solidFill>
                          <a:latin typeface="Calibri" pitchFamily="34" charset="0"/>
                          <a:ea typeface="Calibri" pitchFamily="34" charset="-122"/>
                          <a:cs typeface="Calibri" pitchFamily="34" charset="-120"/>
                        </a:rPr>
                        <a:t>Biology-constrained SCM</a:t>
                      </a:r>
                      <a:endParaRPr lang="en-US" sz="1250" dirty="0">
                        <a:latin typeface="Calibri" charset="0"/>
                        <a:ea typeface="Calibri" charset="0"/>
                        <a:cs typeface="Calibri" charset="0"/>
                      </a:endParaRPr>
                    </a:p>
                  </a:txBody>
                  <a:tcPr marL="91440" marR="91440" marT="45720" marB="45720"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c>
                  <a:txBody>
                    <a:bodyPr/>
                    <a:lstStyle/>
                    <a:p>
                      <a:pPr indent="0" marL="0">
                        <a:buNone/>
                      </a:pPr>
                      <a:r>
                        <a:rPr lang="en-US" sz="1250" b="1" dirty="0">
                          <a:solidFill>
                            <a:srgbClr val="1C3F5F"/>
                          </a:solidFill>
                          <a:latin typeface="Calibri" pitchFamily="34" charset="0"/>
                          <a:ea typeface="Calibri" pitchFamily="34" charset="-122"/>
                          <a:cs typeface="Calibri" pitchFamily="34" charset="-120"/>
                        </a:rPr>
                        <a:t>81.9%</a:t>
                      </a:r>
                      <a:endParaRPr lang="en-US" sz="1250" dirty="0">
                        <a:latin typeface="Calibri" charset="0"/>
                        <a:ea typeface="Calibri" charset="0"/>
                        <a:cs typeface="Calibri" charset="0"/>
                      </a:endParaRPr>
                    </a:p>
                  </a:txBody>
                  <a:tcPr marL="91440" marR="91440" marT="45720" marB="45720"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c>
                  <a:txBody>
                    <a:bodyPr/>
                    <a:lstStyle/>
                    <a:p>
                      <a:pPr indent="0" marL="0">
                        <a:buNone/>
                      </a:pPr>
                      <a:r>
                        <a:rPr lang="en-US" sz="1250" b="1" dirty="0">
                          <a:solidFill>
                            <a:srgbClr val="1C3F5F"/>
                          </a:solidFill>
                          <a:latin typeface="Calibri" pitchFamily="34" charset="0"/>
                          <a:ea typeface="Calibri" pitchFamily="34" charset="-122"/>
                          <a:cs typeface="Calibri" pitchFamily="34" charset="-120"/>
                        </a:rPr>
                        <a:t>18.5%</a:t>
                      </a:r>
                      <a:endParaRPr lang="en-US" sz="1250" dirty="0">
                        <a:latin typeface="Calibri" charset="0"/>
                        <a:ea typeface="Calibri" charset="0"/>
                        <a:cs typeface="Calibri" charset="0"/>
                      </a:endParaRPr>
                    </a:p>
                  </a:txBody>
                  <a:tcPr marL="91440" marR="91440" marT="45720" marB="45720"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r>
              <a:tr h="310896">
                <a:tc>
                  <a:txBody>
                    <a:bodyPr/>
                    <a:lstStyle/>
                    <a:p>
                      <a:pPr indent="0" marL="0">
                        <a:buNone/>
                      </a:pPr>
                      <a:r>
                        <a:rPr lang="en-US" sz="1250" dirty="0">
                          <a:solidFill>
                            <a:srgbClr val="6B7885"/>
                          </a:solidFill>
                          <a:latin typeface="Calibri" pitchFamily="34" charset="0"/>
                          <a:ea typeface="Calibri" pitchFamily="34" charset="-122"/>
                          <a:cs typeface="Calibri" pitchFamily="34" charset="-120"/>
                        </a:rPr>
                        <a:t>Oracle (ceiling)</a:t>
                      </a:r>
                      <a:endParaRPr lang="en-US" sz="1250" dirty="0">
                        <a:latin typeface="Calibri" charset="0"/>
                        <a:ea typeface="Calibri" charset="0"/>
                        <a:cs typeface="Calibri" charset="0"/>
                      </a:endParaRPr>
                    </a:p>
                  </a:txBody>
                  <a:tcPr marL="91440" marR="91440" marT="45720" marB="45720"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c>
                  <a:txBody>
                    <a:bodyPr/>
                    <a:lstStyle/>
                    <a:p>
                      <a:pPr indent="0" marL="0">
                        <a:buNone/>
                      </a:pPr>
                      <a:r>
                        <a:rPr lang="en-US" sz="1250" dirty="0">
                          <a:solidFill>
                            <a:srgbClr val="6B7885"/>
                          </a:solidFill>
                          <a:latin typeface="Calibri" pitchFamily="34" charset="0"/>
                          <a:ea typeface="Calibri" pitchFamily="34" charset="-122"/>
                          <a:cs typeface="Calibri" pitchFamily="34" charset="-120"/>
                        </a:rPr>
                        <a:t>82.7%</a:t>
                      </a:r>
                      <a:endParaRPr lang="en-US" sz="1250" dirty="0">
                        <a:latin typeface="Calibri" charset="0"/>
                        <a:ea typeface="Calibri" charset="0"/>
                        <a:cs typeface="Calibri" charset="0"/>
                      </a:endParaRPr>
                    </a:p>
                  </a:txBody>
                  <a:tcPr marL="91440" marR="91440" marT="45720" marB="45720"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c>
                  <a:txBody>
                    <a:bodyPr/>
                    <a:lstStyle/>
                    <a:p>
                      <a:pPr indent="0" marL="0">
                        <a:buNone/>
                      </a:pPr>
                      <a:r>
                        <a:rPr lang="en-US" sz="1250" dirty="0">
                          <a:solidFill>
                            <a:srgbClr val="6B7885"/>
                          </a:solidFill>
                          <a:latin typeface="Calibri" pitchFamily="34" charset="0"/>
                          <a:ea typeface="Calibri" pitchFamily="34" charset="-122"/>
                          <a:cs typeface="Calibri" pitchFamily="34" charset="-120"/>
                        </a:rPr>
                        <a:t>17.3%</a:t>
                      </a:r>
                      <a:endParaRPr lang="en-US" sz="1250" dirty="0">
                        <a:latin typeface="Calibri" charset="0"/>
                        <a:ea typeface="Calibri" charset="0"/>
                        <a:cs typeface="Calibri" charset="0"/>
                      </a:endParaRPr>
                    </a:p>
                  </a:txBody>
                  <a:tcPr marL="91440" marR="91440" marT="45720" marB="45720"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r>
            </a:tbl>
          </a:graphicData>
        </a:graphic>
      </p:graphicFrame>
      <p:sp>
        <p:nvSpPr>
          <p:cNvPr id="7" name="Shape 3"/>
          <p:cNvSpPr/>
          <p:nvPr/>
        </p:nvSpPr>
        <p:spPr>
          <a:xfrm>
            <a:off x="6720840" y="3063240"/>
            <a:ext cx="4892040" cy="1005840"/>
          </a:xfrm>
          <a:prstGeom prst="roundRect">
            <a:avLst>
              <a:gd name="adj" fmla="val 5455"/>
            </a:avLst>
          </a:prstGeom>
          <a:solidFill>
            <a:srgbClr val="FDF6F2"/>
          </a:solidFill>
          <a:ln w="12700">
            <a:solidFill>
              <a:srgbClr val="C25A2E"/>
            </a:solidFill>
            <a:prstDash val="solid"/>
          </a:ln>
        </p:spPr>
      </p:sp>
      <p:sp>
        <p:nvSpPr>
          <p:cNvPr id="8" name="Text 4"/>
          <p:cNvSpPr/>
          <p:nvPr/>
        </p:nvSpPr>
        <p:spPr>
          <a:xfrm>
            <a:off x="6949440" y="3182112"/>
            <a:ext cx="4480560" cy="292608"/>
          </a:xfrm>
          <a:prstGeom prst="rect">
            <a:avLst/>
          </a:prstGeom>
          <a:noFill/>
          <a:ln/>
        </p:spPr>
        <p:txBody>
          <a:bodyPr wrap="square" lIns="0" tIns="0" rIns="0" bIns="0" rtlCol="0" anchor="ctr"/>
          <a:lstStyle/>
          <a:p>
            <a:pPr indent="0" marL="0">
              <a:buNone/>
            </a:pPr>
            <a:r>
              <a:rPr lang="en-US" sz="1250" b="1" dirty="0">
                <a:solidFill>
                  <a:srgbClr val="1C3F5F"/>
                </a:solidFill>
                <a:latin typeface="Calibri" pitchFamily="34" charset="0"/>
                <a:ea typeface="Calibri" pitchFamily="34" charset="-122"/>
                <a:cs typeface="Calibri" pitchFamily="34" charset="-120"/>
              </a:rPr>
              <a:t>Causal − pooled = +24.08 pp   [23.55, 24.62]</a:t>
            </a:r>
            <a:endParaRPr lang="en-US" sz="1250" dirty="0"/>
          </a:p>
        </p:txBody>
      </p:sp>
      <p:sp>
        <p:nvSpPr>
          <p:cNvPr id="9" name="Text 5"/>
          <p:cNvSpPr/>
          <p:nvPr/>
        </p:nvSpPr>
        <p:spPr>
          <a:xfrm>
            <a:off x="6949440" y="3493008"/>
            <a:ext cx="4480560" cy="292608"/>
          </a:xfrm>
          <a:prstGeom prst="rect">
            <a:avLst/>
          </a:prstGeom>
          <a:noFill/>
          <a:ln/>
        </p:spPr>
        <p:txBody>
          <a:bodyPr wrap="square" lIns="0" tIns="0" rIns="0" bIns="0" rtlCol="0" anchor="ctr"/>
          <a:lstStyle/>
          <a:p>
            <a:pPr indent="0" marL="0">
              <a:buNone/>
            </a:pPr>
            <a:r>
              <a:rPr lang="en-US" sz="1250" b="1" dirty="0">
                <a:solidFill>
                  <a:srgbClr val="C25A2E"/>
                </a:solidFill>
                <a:latin typeface="Calibri" pitchFamily="34" charset="0"/>
                <a:ea typeface="Calibri" pitchFamily="34" charset="-122"/>
                <a:cs typeface="Calibri" pitchFamily="34" charset="-120"/>
              </a:rPr>
              <a:t>Causal − renal-adjusted = +0.30 pp   [0.22, 0.37]</a:t>
            </a:r>
            <a:endParaRPr lang="en-US" sz="1250" dirty="0"/>
          </a:p>
        </p:txBody>
      </p:sp>
      <p:sp>
        <p:nvSpPr>
          <p:cNvPr id="10" name="Text 6"/>
          <p:cNvSpPr/>
          <p:nvPr/>
        </p:nvSpPr>
        <p:spPr>
          <a:xfrm>
            <a:off x="6720840" y="4133088"/>
            <a:ext cx="4892040" cy="457200"/>
          </a:xfrm>
          <a:prstGeom prst="rect">
            <a:avLst/>
          </a:prstGeom>
          <a:noFill/>
          <a:ln/>
        </p:spPr>
        <p:txBody>
          <a:bodyPr wrap="square" lIns="0" tIns="0" rIns="0" bIns="0" rtlCol="0" anchor="ctr"/>
          <a:lstStyle/>
          <a:p>
            <a:pPr indent="0" marL="0">
              <a:lnSpc>
                <a:spcPts val="1400"/>
              </a:lnSpc>
              <a:buNone/>
            </a:pPr>
            <a:r>
              <a:rPr lang="en-US" sz="1100" i="1" dirty="0">
                <a:solidFill>
                  <a:srgbClr val="6B7885"/>
                </a:solidFill>
                <a:latin typeface="Calibri" pitchFamily="34" charset="0"/>
                <a:ea typeface="Calibri" pitchFamily="34" charset="-122"/>
                <a:cs typeface="Calibri" pitchFamily="34" charset="-120"/>
              </a:rPr>
              <a:t>“False atrial” = renal-impaired patients whose true mechanism is</a:t>
            </a:r>
            <a:endParaRPr lang="en-US" sz="1100" dirty="0"/>
          </a:p>
          <a:p>
            <a:pPr indent="0" marL="0">
              <a:lnSpc>
                <a:spcPts val="1400"/>
              </a:lnSpc>
              <a:buNone/>
            </a:pPr>
            <a:r>
              <a:rPr lang="en-US" sz="1100" i="1" dirty="0">
                <a:solidFill>
                  <a:srgbClr val="6B7885"/>
                </a:solidFill>
                <a:latin typeface="Calibri" pitchFamily="34" charset="0"/>
                <a:ea typeface="Calibri" pitchFamily="34" charset="-122"/>
                <a:cs typeface="Calibri" pitchFamily="34" charset="-120"/>
              </a:rPr>
              <a:t>competing, called atrial by the model.</a:t>
            </a:r>
            <a:endParaRPr lang="en-US" sz="1100" dirty="0"/>
          </a:p>
        </p:txBody>
      </p:sp>
      <p:sp>
        <p:nvSpPr>
          <p:cNvPr id="11" name="Shape 7"/>
          <p:cNvSpPr/>
          <p:nvPr/>
        </p:nvSpPr>
        <p:spPr>
          <a:xfrm>
            <a:off x="548640" y="4681728"/>
            <a:ext cx="11064240" cy="1371600"/>
          </a:xfrm>
          <a:prstGeom prst="roundRect">
            <a:avLst>
              <a:gd name="adj" fmla="val 4000"/>
            </a:avLst>
          </a:prstGeom>
          <a:solidFill>
            <a:srgbClr val="F5F7F9"/>
          </a:solidFill>
          <a:ln w="12700">
            <a:solidFill>
              <a:srgbClr val="1C3F5F"/>
            </a:solidFill>
            <a:prstDash val="solid"/>
          </a:ln>
        </p:spPr>
      </p:sp>
      <p:sp>
        <p:nvSpPr>
          <p:cNvPr id="12" name="Text 8"/>
          <p:cNvSpPr/>
          <p:nvPr/>
        </p:nvSpPr>
        <p:spPr>
          <a:xfrm>
            <a:off x="868680" y="4809744"/>
            <a:ext cx="10424160" cy="320040"/>
          </a:xfrm>
          <a:prstGeom prst="rect">
            <a:avLst/>
          </a:prstGeom>
          <a:noFill/>
          <a:ln/>
        </p:spPr>
        <p:txBody>
          <a:bodyPr wrap="square" lIns="0" tIns="0" rIns="0" bIns="0" rtlCol="0" anchor="ctr"/>
          <a:lstStyle/>
          <a:p>
            <a:pPr indent="0" marL="0">
              <a:buNone/>
            </a:pPr>
            <a:r>
              <a:rPr lang="en-US" sz="1300" b="1" dirty="0">
                <a:solidFill>
                  <a:srgbClr val="1C3F5F"/>
                </a:solidFill>
                <a:latin typeface="Calibri" pitchFamily="34" charset="0"/>
                <a:ea typeface="Calibri" pitchFamily="34" charset="-122"/>
                <a:cs typeface="Calibri" pitchFamily="34" charset="-120"/>
              </a:rPr>
              <a:t>The honest reading — say this before anyone asks</a:t>
            </a:r>
            <a:endParaRPr lang="en-US" sz="1300" dirty="0"/>
          </a:p>
        </p:txBody>
      </p:sp>
      <p:sp>
        <p:nvSpPr>
          <p:cNvPr id="13" name="Text 9"/>
          <p:cNvSpPr/>
          <p:nvPr/>
        </p:nvSpPr>
        <p:spPr>
          <a:xfrm>
            <a:off x="868680" y="5120640"/>
            <a:ext cx="10424160" cy="777240"/>
          </a:xfrm>
          <a:prstGeom prst="rect">
            <a:avLst/>
          </a:prstGeom>
          <a:noFill/>
          <a:ln/>
        </p:spPr>
        <p:txBody>
          <a:bodyPr wrap="square" lIns="0" tIns="0" rIns="0" bIns="0" rtlCol="0" anchor="ctr"/>
          <a:lstStyle/>
          <a:p>
            <a:pPr indent="0" marL="0">
              <a:lnSpc>
                <a:spcPts val="1900"/>
              </a:lnSpc>
              <a:buNone/>
            </a:pPr>
            <a:r>
              <a:rPr lang="en-US" sz="1400" dirty="0">
                <a:solidFill>
                  <a:srgbClr val="22282E"/>
                </a:solidFill>
                <a:latin typeface="Calibri" pitchFamily="34" charset="0"/>
                <a:ea typeface="Calibri" pitchFamily="34" charset="-122"/>
                <a:cs typeface="Calibri" pitchFamily="34" charset="-120"/>
              </a:rPr>
              <a:t>Against the pooled model we gain 24 points. Against a correctly renal-adjusted model we gain 0.30. This experiment supports explicit nuisance-path modelling — it does not establish counterfactual superiority.</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11064240" cy="256032"/>
          </a:xfrm>
          <a:prstGeom prst="rect">
            <a:avLst/>
          </a:prstGeom>
          <a:noFill/>
          <a:ln/>
        </p:spPr>
        <p:txBody>
          <a:bodyPr wrap="square" lIns="0" tIns="0" rIns="0" bIns="0" rtlCol="0" anchor="ctr"/>
          <a:lstStyle/>
          <a:p>
            <a:pPr indent="0" marL="0">
              <a:buNone/>
            </a:pPr>
            <a:r>
              <a:rPr lang="en-US" sz="1100" b="1" spc="200" kern="0" dirty="0">
                <a:solidFill>
                  <a:srgbClr val="C25A2E"/>
                </a:solidFill>
                <a:latin typeface="Calibri" pitchFamily="34" charset="0"/>
                <a:ea typeface="Calibri" pitchFamily="34" charset="-122"/>
                <a:cs typeface="Calibri" pitchFamily="34" charset="-120"/>
              </a:rPr>
              <a:t>EXPERIMENT 1b  ·  K = 1 NULL TEST   ←  STRONGEST RESULT IN THE PACKAGE</a:t>
            </a:r>
            <a:endParaRPr lang="en-US" sz="1100" dirty="0"/>
          </a:p>
        </p:txBody>
      </p:sp>
      <p:sp>
        <p:nvSpPr>
          <p:cNvPr id="3" name="Text 1"/>
          <p:cNvSpPr/>
          <p:nvPr/>
        </p:nvSpPr>
        <p:spPr>
          <a:xfrm>
            <a:off x="548640" y="585216"/>
            <a:ext cx="11064240" cy="566928"/>
          </a:xfrm>
          <a:prstGeom prst="rect">
            <a:avLst/>
          </a:prstGeom>
          <a:noFill/>
          <a:ln/>
        </p:spPr>
        <p:txBody>
          <a:bodyPr wrap="square" lIns="0" tIns="0" rIns="0" bIns="0" rtlCol="0" anchor="ctr"/>
          <a:lstStyle/>
          <a:p>
            <a:pPr indent="0" marL="0">
              <a:buNone/>
            </a:pPr>
            <a:r>
              <a:rPr lang="en-US" sz="2900" b="1" dirty="0">
                <a:solidFill>
                  <a:srgbClr val="1C3F5F"/>
                </a:solidFill>
                <a:latin typeface="Cambria" pitchFamily="34" charset="0"/>
                <a:ea typeface="Cambria" pitchFamily="34" charset="-122"/>
                <a:cs typeface="Cambria" pitchFamily="34" charset="-120"/>
              </a:rPr>
              <a:t>Result 2 — The standard method invents endotypes</a:t>
            </a:r>
            <a:endParaRPr lang="en-US" sz="2900" dirty="0"/>
          </a:p>
        </p:txBody>
      </p:sp>
      <p:sp>
        <p:nvSpPr>
          <p:cNvPr id="4" name="Text 2"/>
          <p:cNvSpPr/>
          <p:nvPr/>
        </p:nvSpPr>
        <p:spPr>
          <a:xfrm>
            <a:off x="548640" y="1225296"/>
            <a:ext cx="11064240" cy="365760"/>
          </a:xfrm>
          <a:prstGeom prst="rect">
            <a:avLst/>
          </a:prstGeom>
          <a:noFill/>
          <a:ln/>
        </p:spPr>
        <p:txBody>
          <a:bodyPr wrap="square" lIns="0" tIns="0" rIns="0" bIns="0" rtlCol="0" anchor="ctr"/>
          <a:lstStyle/>
          <a:p>
            <a:pPr indent="0" marL="0">
              <a:buNone/>
            </a:pPr>
            <a:r>
              <a:rPr lang="en-US" sz="1450" dirty="0">
                <a:solidFill>
                  <a:srgbClr val="22282E"/>
                </a:solidFill>
                <a:latin typeface="Calibri" pitchFamily="34" charset="0"/>
                <a:ea typeface="Calibri" pitchFamily="34" charset="-122"/>
                <a:cs typeface="Calibri" pitchFamily="34" charset="-120"/>
              </a:rPr>
              <a:t>We hand every model a cohort with NO subtypes — one homogeneous group. Does it invent some anyway?</a:t>
            </a:r>
            <a:endParaRPr lang="en-US" sz="1450" dirty="0"/>
          </a:p>
        </p:txBody>
      </p:sp>
      <p:sp>
        <p:nvSpPr>
          <p:cNvPr id="5" name="Text 3"/>
          <p:cNvSpPr/>
          <p:nvPr/>
        </p:nvSpPr>
        <p:spPr>
          <a:xfrm>
            <a:off x="548640" y="1737360"/>
            <a:ext cx="3538728" cy="713232"/>
          </a:xfrm>
          <a:prstGeom prst="rect">
            <a:avLst/>
          </a:prstGeom>
          <a:noFill/>
          <a:ln/>
        </p:spPr>
        <p:txBody>
          <a:bodyPr wrap="square" lIns="0" tIns="0" rIns="0" bIns="0" rtlCol="0" anchor="ctr"/>
          <a:lstStyle/>
          <a:p>
            <a:pPr algn="ctr" indent="0" marL="0">
              <a:buNone/>
            </a:pPr>
            <a:r>
              <a:rPr lang="en-US" sz="4000" b="1" dirty="0">
                <a:solidFill>
                  <a:srgbClr val="C25A2E"/>
                </a:solidFill>
                <a:latin typeface="Cambria" pitchFamily="34" charset="0"/>
                <a:ea typeface="Cambria" pitchFamily="34" charset="-122"/>
                <a:cs typeface="Cambria" pitchFamily="34" charset="-120"/>
              </a:rPr>
              <a:t>500 / 500</a:t>
            </a:r>
            <a:endParaRPr lang="en-US" sz="4000" dirty="0"/>
          </a:p>
        </p:txBody>
      </p:sp>
      <p:sp>
        <p:nvSpPr>
          <p:cNvPr id="6" name="Text 4"/>
          <p:cNvSpPr/>
          <p:nvPr/>
        </p:nvSpPr>
        <p:spPr>
          <a:xfrm>
            <a:off x="548640" y="2450592"/>
            <a:ext cx="3538728" cy="566928"/>
          </a:xfrm>
          <a:prstGeom prst="rect">
            <a:avLst/>
          </a:prstGeom>
          <a:noFill/>
          <a:ln/>
        </p:spPr>
        <p:txBody>
          <a:bodyPr wrap="square" lIns="0" tIns="0" rIns="0" bIns="0" rtlCol="0" anchor="ctr"/>
          <a:lstStyle/>
          <a:p>
            <a:pPr algn="ctr" indent="0" marL="0">
              <a:lnSpc>
                <a:spcPts val="1400"/>
              </a:lnSpc>
              <a:buNone/>
            </a:pPr>
            <a:r>
              <a:rPr lang="en-US" sz="1150" dirty="0">
                <a:solidFill>
                  <a:srgbClr val="6B7885"/>
                </a:solidFill>
                <a:latin typeface="Calibri" pitchFamily="34" charset="0"/>
                <a:ea typeface="Calibri" pitchFamily="34" charset="-122"/>
                <a:cs typeface="Calibri" pitchFamily="34" charset="-120"/>
              </a:rPr>
              <a:t>Pooled associative model</a:t>
            </a:r>
            <a:endParaRPr lang="en-US" sz="1150" dirty="0"/>
          </a:p>
          <a:p>
            <a:pPr algn="ctr" indent="0" marL="0">
              <a:lnSpc>
                <a:spcPts val="1400"/>
              </a:lnSpc>
              <a:buNone/>
            </a:pPr>
            <a:r>
              <a:rPr lang="en-US" sz="1150" dirty="0">
                <a:solidFill>
                  <a:srgbClr val="6B7885"/>
                </a:solidFill>
                <a:latin typeface="Calibri" pitchFamily="34" charset="0"/>
                <a:ea typeface="Calibri" pitchFamily="34" charset="-122"/>
                <a:cs typeface="Calibri" pitchFamily="34" charset="-120"/>
              </a:rPr>
              <a:t>falsely selected K = 2</a:t>
            </a:r>
            <a:endParaRPr lang="en-US" sz="1150" dirty="0"/>
          </a:p>
        </p:txBody>
      </p:sp>
      <p:sp>
        <p:nvSpPr>
          <p:cNvPr id="7" name="Text 5"/>
          <p:cNvSpPr/>
          <p:nvPr/>
        </p:nvSpPr>
        <p:spPr>
          <a:xfrm>
            <a:off x="4315968" y="1737360"/>
            <a:ext cx="3538728" cy="713232"/>
          </a:xfrm>
          <a:prstGeom prst="rect">
            <a:avLst/>
          </a:prstGeom>
          <a:noFill/>
          <a:ln/>
        </p:spPr>
        <p:txBody>
          <a:bodyPr wrap="square" lIns="0" tIns="0" rIns="0" bIns="0" rtlCol="0" anchor="ctr"/>
          <a:lstStyle/>
          <a:p>
            <a:pPr algn="ctr" indent="0" marL="0">
              <a:buNone/>
            </a:pPr>
            <a:r>
              <a:rPr lang="en-US" sz="4000" b="1" dirty="0">
                <a:solidFill>
                  <a:srgbClr val="1C3F5F"/>
                </a:solidFill>
                <a:latin typeface="Cambria" pitchFamily="34" charset="0"/>
                <a:ea typeface="Cambria" pitchFamily="34" charset="-122"/>
                <a:cs typeface="Cambria" pitchFamily="34" charset="-120"/>
              </a:rPr>
              <a:t>0 / 500</a:t>
            </a:r>
            <a:endParaRPr lang="en-US" sz="4000" dirty="0"/>
          </a:p>
        </p:txBody>
      </p:sp>
      <p:sp>
        <p:nvSpPr>
          <p:cNvPr id="8" name="Text 6"/>
          <p:cNvSpPr/>
          <p:nvPr/>
        </p:nvSpPr>
        <p:spPr>
          <a:xfrm>
            <a:off x="4315968" y="2450592"/>
            <a:ext cx="3538728" cy="566928"/>
          </a:xfrm>
          <a:prstGeom prst="rect">
            <a:avLst/>
          </a:prstGeom>
          <a:noFill/>
          <a:ln/>
        </p:spPr>
        <p:txBody>
          <a:bodyPr wrap="square" lIns="0" tIns="0" rIns="0" bIns="0" rtlCol="0" anchor="ctr"/>
          <a:lstStyle/>
          <a:p>
            <a:pPr algn="ctr" indent="0" marL="0">
              <a:lnSpc>
                <a:spcPts val="1400"/>
              </a:lnSpc>
              <a:buNone/>
            </a:pPr>
            <a:r>
              <a:rPr lang="en-US" sz="1150" dirty="0">
                <a:solidFill>
                  <a:srgbClr val="6B7885"/>
                </a:solidFill>
                <a:latin typeface="Calibri" pitchFamily="34" charset="0"/>
                <a:ea typeface="Calibri" pitchFamily="34" charset="-122"/>
                <a:cs typeface="Calibri" pitchFamily="34" charset="-120"/>
              </a:rPr>
              <a:t>Renal-adjusted associative</a:t>
            </a:r>
            <a:endParaRPr lang="en-US" sz="1150" dirty="0"/>
          </a:p>
        </p:txBody>
      </p:sp>
      <p:sp>
        <p:nvSpPr>
          <p:cNvPr id="9" name="Text 7"/>
          <p:cNvSpPr/>
          <p:nvPr/>
        </p:nvSpPr>
        <p:spPr>
          <a:xfrm>
            <a:off x="8074152" y="1737360"/>
            <a:ext cx="3538728" cy="713232"/>
          </a:xfrm>
          <a:prstGeom prst="rect">
            <a:avLst/>
          </a:prstGeom>
          <a:noFill/>
          <a:ln/>
        </p:spPr>
        <p:txBody>
          <a:bodyPr wrap="square" lIns="0" tIns="0" rIns="0" bIns="0" rtlCol="0" anchor="ctr"/>
          <a:lstStyle/>
          <a:p>
            <a:pPr algn="ctr" indent="0" marL="0">
              <a:buNone/>
            </a:pPr>
            <a:r>
              <a:rPr lang="en-US" sz="4000" b="1" dirty="0">
                <a:solidFill>
                  <a:srgbClr val="1C3F5F"/>
                </a:solidFill>
                <a:latin typeface="Cambria" pitchFamily="34" charset="0"/>
                <a:ea typeface="Cambria" pitchFamily="34" charset="-122"/>
                <a:cs typeface="Cambria" pitchFamily="34" charset="-120"/>
              </a:rPr>
              <a:t>0 / 500</a:t>
            </a:r>
            <a:endParaRPr lang="en-US" sz="4000" dirty="0"/>
          </a:p>
        </p:txBody>
      </p:sp>
      <p:sp>
        <p:nvSpPr>
          <p:cNvPr id="10" name="Text 8"/>
          <p:cNvSpPr/>
          <p:nvPr/>
        </p:nvSpPr>
        <p:spPr>
          <a:xfrm>
            <a:off x="8074152" y="2450592"/>
            <a:ext cx="3538728" cy="566928"/>
          </a:xfrm>
          <a:prstGeom prst="rect">
            <a:avLst/>
          </a:prstGeom>
          <a:noFill/>
          <a:ln/>
        </p:spPr>
        <p:txBody>
          <a:bodyPr wrap="square" lIns="0" tIns="0" rIns="0" bIns="0" rtlCol="0" anchor="ctr"/>
          <a:lstStyle/>
          <a:p>
            <a:pPr algn="ctr" indent="0" marL="0">
              <a:lnSpc>
                <a:spcPts val="1400"/>
              </a:lnSpc>
              <a:buNone/>
            </a:pPr>
            <a:r>
              <a:rPr lang="en-US" sz="1150" dirty="0">
                <a:solidFill>
                  <a:srgbClr val="6B7885"/>
                </a:solidFill>
                <a:latin typeface="Calibri" pitchFamily="34" charset="0"/>
                <a:ea typeface="Calibri" pitchFamily="34" charset="-122"/>
                <a:cs typeface="Calibri" pitchFamily="34" charset="-120"/>
              </a:rPr>
              <a:t>Biology-constrained SCM</a:t>
            </a:r>
            <a:endParaRPr lang="en-US" sz="1150" dirty="0"/>
          </a:p>
        </p:txBody>
      </p:sp>
      <p:pic>
        <p:nvPicPr>
          <p:cNvPr id="11" name="Image 0" descr="/sessions/sharp-charming-bohr/mnt/ESUS Endotyping with Causal Models/outputs_latent_endotyping/figure_S1_controls.png">    </p:cNvPr>
          <p:cNvPicPr>
            <a:picLocks noChangeAspect="1"/>
          </p:cNvPicPr>
          <p:nvPr/>
        </p:nvPicPr>
        <p:blipFill>
          <a:blip r:embed="rId1"/>
          <a:stretch>
            <a:fillRect/>
          </a:stretch>
        </p:blipFill>
        <p:spPr>
          <a:xfrm>
            <a:off x="548640" y="3200400"/>
            <a:ext cx="6766560" cy="2916936"/>
          </a:xfrm>
          <a:prstGeom prst="rect">
            <a:avLst/>
          </a:prstGeom>
        </p:spPr>
      </p:pic>
      <p:sp>
        <p:nvSpPr>
          <p:cNvPr id="12" name="Text 9"/>
          <p:cNvSpPr/>
          <p:nvPr/>
        </p:nvSpPr>
        <p:spPr>
          <a:xfrm>
            <a:off x="548640" y="6144768"/>
            <a:ext cx="6766560" cy="256032"/>
          </a:xfrm>
          <a:prstGeom prst="rect">
            <a:avLst/>
          </a:prstGeom>
          <a:noFill/>
          <a:ln/>
        </p:spPr>
        <p:txBody>
          <a:bodyPr wrap="square" lIns="0" tIns="0" rIns="0" bIns="0" rtlCol="0" anchor="ctr"/>
          <a:lstStyle/>
          <a:p>
            <a:pPr indent="0" marL="0">
              <a:buNone/>
            </a:pPr>
            <a:r>
              <a:rPr lang="en-US" sz="950" i="1" dirty="0">
                <a:solidFill>
                  <a:srgbClr val="6B7885"/>
                </a:solidFill>
                <a:latin typeface="Calibri" pitchFamily="34" charset="0"/>
                <a:ea typeface="Calibri" pitchFamily="34" charset="-122"/>
                <a:cs typeface="Calibri" pitchFamily="34" charset="-120"/>
              </a:rPr>
              <a:t>outputs_latent_endotyping/figure_S1_controls</a:t>
            </a:r>
            <a:endParaRPr lang="en-US" sz="950" dirty="0"/>
          </a:p>
        </p:txBody>
      </p:sp>
      <p:sp>
        <p:nvSpPr>
          <p:cNvPr id="13" name="Shape 10"/>
          <p:cNvSpPr/>
          <p:nvPr/>
        </p:nvSpPr>
        <p:spPr>
          <a:xfrm>
            <a:off x="7543800" y="3200400"/>
            <a:ext cx="4069080" cy="2916936"/>
          </a:xfrm>
          <a:prstGeom prst="roundRect">
            <a:avLst>
              <a:gd name="adj" fmla="val 1881"/>
            </a:avLst>
          </a:prstGeom>
          <a:solidFill>
            <a:srgbClr val="F5F7F9"/>
          </a:solidFill>
          <a:ln w="12700">
            <a:solidFill>
              <a:srgbClr val="C25A2E"/>
            </a:solidFill>
            <a:prstDash val="solid"/>
          </a:ln>
        </p:spPr>
      </p:sp>
      <p:sp>
        <p:nvSpPr>
          <p:cNvPr id="14" name="Text 11"/>
          <p:cNvSpPr/>
          <p:nvPr/>
        </p:nvSpPr>
        <p:spPr>
          <a:xfrm>
            <a:off x="7818120" y="3364992"/>
            <a:ext cx="3520440" cy="320040"/>
          </a:xfrm>
          <a:prstGeom prst="rect">
            <a:avLst/>
          </a:prstGeom>
          <a:noFill/>
          <a:ln/>
        </p:spPr>
        <p:txBody>
          <a:bodyPr wrap="square" lIns="0" tIns="0" rIns="0" bIns="0" rtlCol="0" anchor="ctr"/>
          <a:lstStyle/>
          <a:p>
            <a:pPr indent="0" marL="0">
              <a:buNone/>
            </a:pPr>
            <a:r>
              <a:rPr lang="en-US" sz="1300" b="1" dirty="0">
                <a:solidFill>
                  <a:srgbClr val="C25A2E"/>
                </a:solidFill>
                <a:latin typeface="Calibri" pitchFamily="34" charset="0"/>
                <a:ea typeface="Calibri" pitchFamily="34" charset="-122"/>
                <a:cs typeface="Calibri" pitchFamily="34" charset="-120"/>
              </a:rPr>
              <a:t>Why this is the strongest result</a:t>
            </a:r>
            <a:endParaRPr lang="en-US" sz="1300" dirty="0"/>
          </a:p>
        </p:txBody>
      </p:sp>
      <p:sp>
        <p:nvSpPr>
          <p:cNvPr id="15" name="Text 12"/>
          <p:cNvSpPr/>
          <p:nvPr/>
        </p:nvSpPr>
        <p:spPr>
          <a:xfrm>
            <a:off x="7818120" y="3730752"/>
            <a:ext cx="3520440" cy="2240280"/>
          </a:xfrm>
          <a:prstGeom prst="rect">
            <a:avLst/>
          </a:prstGeom>
          <a:noFill/>
          <a:ln/>
        </p:spPr>
        <p:txBody>
          <a:bodyPr wrap="square" lIns="0" tIns="0" rIns="0" bIns="0" rtlCol="0" anchor="ctr"/>
          <a:lstStyle/>
          <a:p>
            <a:pPr marL="342900" indent="-342900">
              <a:lnSpc>
                <a:spcPts val="1600"/>
              </a:lnSpc>
              <a:spcAft>
                <a:spcPts val="800"/>
              </a:spcAft>
              <a:buSzPct val="100000"/>
              <a:buChar char="•"/>
            </a:pPr>
            <a:r>
              <a:rPr lang="en-US" sz="1200" dirty="0">
                <a:solidFill>
                  <a:srgbClr val="22282E"/>
                </a:solidFill>
                <a:latin typeface="Calibri" pitchFamily="34" charset="0"/>
                <a:ea typeface="Calibri" pitchFamily="34" charset="-122"/>
                <a:cs typeface="Calibri" pitchFamily="34" charset="-120"/>
              </a:rPr>
              <a:t>It is a false-discovery argument, not an accuracy argument — much harder to argue with.</a:t>
            </a:r>
            <a:endParaRPr lang="en-US" sz="1200" dirty="0"/>
          </a:p>
          <a:p>
            <a:pPr marL="342900" indent="-342900">
              <a:lnSpc>
                <a:spcPts val="1600"/>
              </a:lnSpc>
              <a:spcAft>
                <a:spcPts val="800"/>
              </a:spcAft>
              <a:buSzPct val="100000"/>
              <a:buChar char="•"/>
            </a:pPr>
            <a:r>
              <a:rPr lang="en-US" sz="1200" dirty="0">
                <a:solidFill>
                  <a:srgbClr val="22282E"/>
                </a:solidFill>
                <a:latin typeface="Calibri" pitchFamily="34" charset="0"/>
                <a:ea typeface="Calibri" pitchFamily="34" charset="-122"/>
                <a:cs typeface="Calibri" pitchFamily="34" charset="-120"/>
              </a:rPr>
              <a:t>Median ΔBIC (K2−K1) = −277.8 for the associative model. Not marginal — confident.</a:t>
            </a:r>
            <a:endParaRPr lang="en-US" sz="1200" dirty="0"/>
          </a:p>
          <a:p>
            <a:pPr marL="342900" indent="-342900">
              <a:lnSpc>
                <a:spcPts val="1600"/>
              </a:lnSpc>
              <a:spcAft>
                <a:spcPts val="800"/>
              </a:spcAft>
              <a:buSzPct val="100000"/>
              <a:buChar char="•"/>
            </a:pPr>
            <a:r>
              <a:rPr lang="en-US" sz="1200" dirty="0">
                <a:solidFill>
                  <a:srgbClr val="22282E"/>
                </a:solidFill>
                <a:latin typeface="Calibri" pitchFamily="34" charset="0"/>
                <a:ea typeface="Calibri" pitchFamily="34" charset="-122"/>
                <a:cs typeface="Calibri" pitchFamily="34" charset="-120"/>
              </a:rPr>
              <a:t>Causal SCM ΔBIC = +27.3, i.e. it correctly prefers one regime.</a:t>
            </a:r>
            <a:endParaRPr lang="en-US" sz="1200" dirty="0"/>
          </a:p>
          <a:p>
            <a:pPr marL="342900" indent="-342900">
              <a:lnSpc>
                <a:spcPts val="1600"/>
              </a:lnSpc>
              <a:buSzPct val="100000"/>
              <a:buChar char="•"/>
            </a:pPr>
            <a:r>
              <a:rPr lang="en-US" sz="1200" dirty="0">
                <a:solidFill>
                  <a:srgbClr val="22282E"/>
                </a:solidFill>
                <a:latin typeface="Calibri" pitchFamily="34" charset="0"/>
                <a:ea typeface="Calibri" pitchFamily="34" charset="-122"/>
                <a:cs typeface="Calibri" pitchFamily="34" charset="-120"/>
              </a:rPr>
              <a:t>Aim 1 sets a K = 1 false-discovery target of ≤ 5%. We are at 0%.</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11064240" cy="256032"/>
          </a:xfrm>
          <a:prstGeom prst="rect">
            <a:avLst/>
          </a:prstGeom>
          <a:noFill/>
          <a:ln/>
        </p:spPr>
        <p:txBody>
          <a:bodyPr wrap="square" lIns="0" tIns="0" rIns="0" bIns="0" rtlCol="0" anchor="ctr"/>
          <a:lstStyle/>
          <a:p>
            <a:pPr indent="0" marL="0">
              <a:buNone/>
            </a:pPr>
            <a:r>
              <a:rPr lang="en-US" sz="1100" b="1" spc="200" kern="0" dirty="0">
                <a:solidFill>
                  <a:srgbClr val="C25A2E"/>
                </a:solidFill>
                <a:latin typeface="Calibri" pitchFamily="34" charset="0"/>
                <a:ea typeface="Calibri" pitchFamily="34" charset="-122"/>
                <a:cs typeface="Calibri" pitchFamily="34" charset="-120"/>
              </a:rPr>
              <a:t>EXPERIMENT 2  ·  CROSS-HOSPITAL SHIFT</a:t>
            </a:r>
            <a:endParaRPr lang="en-US" sz="1100" dirty="0"/>
          </a:p>
        </p:txBody>
      </p:sp>
      <p:sp>
        <p:nvSpPr>
          <p:cNvPr id="3" name="Text 1"/>
          <p:cNvSpPr/>
          <p:nvPr/>
        </p:nvSpPr>
        <p:spPr>
          <a:xfrm>
            <a:off x="548640" y="585216"/>
            <a:ext cx="11064240" cy="566928"/>
          </a:xfrm>
          <a:prstGeom prst="rect">
            <a:avLst/>
          </a:prstGeom>
          <a:noFill/>
          <a:ln/>
        </p:spPr>
        <p:txBody>
          <a:bodyPr wrap="square" lIns="0" tIns="0" rIns="0" bIns="0" rtlCol="0" anchor="ctr"/>
          <a:lstStyle/>
          <a:p>
            <a:pPr indent="0" marL="0">
              <a:buNone/>
            </a:pPr>
            <a:r>
              <a:rPr lang="en-US" sz="2900" b="1" dirty="0">
                <a:solidFill>
                  <a:srgbClr val="1C3F5F"/>
                </a:solidFill>
                <a:latin typeface="Cambria" pitchFamily="34" charset="0"/>
                <a:ea typeface="Cambria" pitchFamily="34" charset="-122"/>
                <a:cs typeface="Cambria" pitchFamily="34" charset="-120"/>
              </a:rPr>
              <a:t>Result 3 — Causal structure alone does not transport</a:t>
            </a:r>
            <a:endParaRPr lang="en-US" sz="2900" dirty="0"/>
          </a:p>
        </p:txBody>
      </p:sp>
      <p:pic>
        <p:nvPicPr>
          <p:cNvPr id="4" name="Image 0" descr="/sessions/sharp-charming-bohr/mnt/ESUS Endotyping with Causal Models/outputs_transportability/figure_T1_transportability.png">    </p:cNvPr>
          <p:cNvPicPr>
            <a:picLocks noChangeAspect="1"/>
          </p:cNvPicPr>
          <p:nvPr/>
        </p:nvPicPr>
        <p:blipFill>
          <a:blip r:embed="rId1"/>
          <a:stretch>
            <a:fillRect/>
          </a:stretch>
        </p:blipFill>
        <p:spPr>
          <a:xfrm>
            <a:off x="548640" y="1170432"/>
            <a:ext cx="5943600" cy="2889504"/>
          </a:xfrm>
          <a:prstGeom prst="rect">
            <a:avLst/>
          </a:prstGeom>
        </p:spPr>
      </p:pic>
      <p:sp>
        <p:nvSpPr>
          <p:cNvPr id="5" name="Text 2"/>
          <p:cNvSpPr/>
          <p:nvPr/>
        </p:nvSpPr>
        <p:spPr>
          <a:xfrm>
            <a:off x="548640" y="4078224"/>
            <a:ext cx="5943600" cy="256032"/>
          </a:xfrm>
          <a:prstGeom prst="rect">
            <a:avLst/>
          </a:prstGeom>
          <a:noFill/>
          <a:ln/>
        </p:spPr>
        <p:txBody>
          <a:bodyPr wrap="square" lIns="0" tIns="0" rIns="0" bIns="0" rtlCol="0" anchor="ctr"/>
          <a:lstStyle/>
          <a:p>
            <a:pPr indent="0" marL="0">
              <a:buNone/>
            </a:pPr>
            <a:r>
              <a:rPr lang="en-US" sz="950" i="1" dirty="0">
                <a:solidFill>
                  <a:srgbClr val="6B7885"/>
                </a:solidFill>
                <a:latin typeface="Calibri" pitchFamily="34" charset="0"/>
                <a:ea typeface="Calibri" pitchFamily="34" charset="-122"/>
                <a:cs typeface="Calibri" pitchFamily="34" charset="-120"/>
              </a:rPr>
              <a:t>outputs_transportability/figure_T1_transportability</a:t>
            </a:r>
            <a:endParaRPr lang="en-US" sz="95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6720840" y="1170432"/>
          <a:ext cx="4892040" cy="914400"/>
        </p:xfrm>
        <a:graphic>
          <a:graphicData uri="http://schemas.openxmlformats.org/drawingml/2006/table">
            <a:tbl>
              <a:tblPr/>
              <a:tblGrid>
                <a:gridCol w="2103120"/>
                <a:gridCol w="960120"/>
                <a:gridCol w="1005840"/>
                <a:gridCol w="822960"/>
              </a:tblGrid>
              <a:tr h="310896">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Model under strong shift</a:t>
                      </a:r>
                      <a:endParaRPr lang="en-US" sz="1150" dirty="0">
                        <a:latin typeface="Calibri" charset="0"/>
                        <a:ea typeface="Calibri" charset="0"/>
                        <a:cs typeface="Calibri" charset="0"/>
                      </a:endParaRPr>
                    </a:p>
                  </a:txBody>
                  <a:tcPr marL="91440" marR="91440" marT="45720" marB="45720"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solidFill>
                      <a:srgbClr val="1C3F5F"/>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Accuracy</a:t>
                      </a:r>
                      <a:endParaRPr lang="en-US" sz="1150" dirty="0">
                        <a:latin typeface="Calibri" charset="0"/>
                        <a:ea typeface="Calibri" charset="0"/>
                        <a:cs typeface="Calibri" charset="0"/>
                      </a:endParaRPr>
                    </a:p>
                  </a:txBody>
                  <a:tcPr marL="91440" marR="91440" marT="45720" marB="45720"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solidFill>
                      <a:srgbClr val="1C3F5F"/>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False atrial</a:t>
                      </a:r>
                      <a:endParaRPr lang="en-US" sz="1150" dirty="0">
                        <a:latin typeface="Calibri" charset="0"/>
                        <a:ea typeface="Calibri" charset="0"/>
                        <a:cs typeface="Calibri" charset="0"/>
                      </a:endParaRPr>
                    </a:p>
                  </a:txBody>
                  <a:tcPr marL="91440" marR="91440" marT="45720" marB="45720"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solidFill>
                      <a:srgbClr val="1C3F5F"/>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ECE</a:t>
                      </a:r>
                      <a:endParaRPr lang="en-US" sz="1150" dirty="0">
                        <a:latin typeface="Calibri" charset="0"/>
                        <a:ea typeface="Calibri" charset="0"/>
                        <a:cs typeface="Calibri" charset="0"/>
                      </a:endParaRPr>
                    </a:p>
                  </a:txBody>
                  <a:tcPr marL="91440" marR="91440" marT="45720" marB="45720"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solidFill>
                      <a:srgbClr val="1C3F5F"/>
                    </a:solidFill>
                  </a:tcPr>
                </a:tc>
              </a:tr>
              <a:tr h="310896">
                <a:tc>
                  <a:txBody>
                    <a:bodyPr/>
                    <a:lstStyle/>
                    <a:p>
                      <a:pPr indent="0" marL="0">
                        <a:buNone/>
                      </a:pPr>
                      <a:r>
                        <a:rPr lang="en-US" sz="1150" dirty="0">
                          <a:solidFill>
                            <a:srgbClr val="22282E"/>
                          </a:solidFill>
                          <a:latin typeface="Calibri" pitchFamily="34" charset="0"/>
                          <a:ea typeface="Calibri" pitchFamily="34" charset="-122"/>
                          <a:cs typeface="Calibri" pitchFamily="34" charset="-120"/>
                        </a:rPr>
                        <a:t>Pooled associative</a:t>
                      </a:r>
                      <a:endParaRPr lang="en-US" sz="1150" dirty="0">
                        <a:latin typeface="Calibri" charset="0"/>
                        <a:ea typeface="Calibri" charset="0"/>
                        <a:cs typeface="Calibri" charset="0"/>
                      </a:endParaRPr>
                    </a:p>
                  </a:txBody>
                  <a:tcPr marL="91440" marR="91440" marT="45720" marB="45720"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c>
                  <a:txBody>
                    <a:bodyPr/>
                    <a:lstStyle/>
                    <a:p>
                      <a:pPr indent="0" marL="0">
                        <a:buNone/>
                      </a:pPr>
                      <a:r>
                        <a:rPr lang="en-US" sz="1150" dirty="0">
                          <a:solidFill>
                            <a:srgbClr val="C25A2E"/>
                          </a:solidFill>
                          <a:latin typeface="Calibri" pitchFamily="34" charset="0"/>
                          <a:ea typeface="Calibri" pitchFamily="34" charset="-122"/>
                          <a:cs typeface="Calibri" pitchFamily="34" charset="-120"/>
                        </a:rPr>
                        <a:t>73.4%</a:t>
                      </a:r>
                      <a:endParaRPr lang="en-US" sz="1150" dirty="0">
                        <a:latin typeface="Calibri" charset="0"/>
                        <a:ea typeface="Calibri" charset="0"/>
                        <a:cs typeface="Calibri" charset="0"/>
                      </a:endParaRPr>
                    </a:p>
                  </a:txBody>
                  <a:tcPr marL="91440" marR="91440" marT="45720" marB="45720"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c>
                  <a:txBody>
                    <a:bodyPr/>
                    <a:lstStyle/>
                    <a:p>
                      <a:pPr indent="0" marL="0">
                        <a:buNone/>
                      </a:pPr>
                      <a:r>
                        <a:rPr lang="en-US" sz="1150" b="1" dirty="0">
                          <a:solidFill>
                            <a:srgbClr val="C25A2E"/>
                          </a:solidFill>
                          <a:latin typeface="Calibri" pitchFamily="34" charset="0"/>
                          <a:ea typeface="Calibri" pitchFamily="34" charset="-122"/>
                          <a:cs typeface="Calibri" pitchFamily="34" charset="-120"/>
                        </a:rPr>
                        <a:t>44.7%</a:t>
                      </a:r>
                      <a:endParaRPr lang="en-US" sz="1150" dirty="0">
                        <a:latin typeface="Calibri" charset="0"/>
                        <a:ea typeface="Calibri" charset="0"/>
                        <a:cs typeface="Calibri" charset="0"/>
                      </a:endParaRPr>
                    </a:p>
                  </a:txBody>
                  <a:tcPr marL="91440" marR="91440" marT="45720" marB="45720"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c>
                  <a:txBody>
                    <a:bodyPr/>
                    <a:lstStyle/>
                    <a:p>
                      <a:pPr indent="0" marL="0">
                        <a:buNone/>
                      </a:pPr>
                      <a:r>
                        <a:rPr lang="en-US" sz="1150" dirty="0">
                          <a:solidFill>
                            <a:srgbClr val="22282E"/>
                          </a:solidFill>
                          <a:latin typeface="Calibri" pitchFamily="34" charset="0"/>
                          <a:ea typeface="Calibri" pitchFamily="34" charset="-122"/>
                          <a:cs typeface="Calibri" pitchFamily="34" charset="-120"/>
                        </a:rPr>
                        <a:t>0.071</a:t>
                      </a:r>
                      <a:endParaRPr lang="en-US" sz="1150" dirty="0">
                        <a:latin typeface="Calibri" charset="0"/>
                        <a:ea typeface="Calibri" charset="0"/>
                        <a:cs typeface="Calibri" charset="0"/>
                      </a:endParaRPr>
                    </a:p>
                  </a:txBody>
                  <a:tcPr marL="91440" marR="91440" marT="45720" marB="45720"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r>
              <a:tr h="310896">
                <a:tc>
                  <a:txBody>
                    <a:bodyPr/>
                    <a:lstStyle/>
                    <a:p>
                      <a:pPr indent="0" marL="0">
                        <a:buNone/>
                      </a:pPr>
                      <a:r>
                        <a:rPr lang="en-US" sz="1150" dirty="0">
                          <a:solidFill>
                            <a:srgbClr val="22282E"/>
                          </a:solidFill>
                          <a:latin typeface="Calibri" pitchFamily="34" charset="0"/>
                          <a:ea typeface="Calibri" pitchFamily="34" charset="-122"/>
                          <a:cs typeface="Calibri" pitchFamily="34" charset="-120"/>
                        </a:rPr>
                        <a:t>Frozen causal SCM</a:t>
                      </a:r>
                      <a:endParaRPr lang="en-US" sz="1150" dirty="0">
                        <a:latin typeface="Calibri" charset="0"/>
                        <a:ea typeface="Calibri" charset="0"/>
                        <a:cs typeface="Calibri" charset="0"/>
                      </a:endParaRPr>
                    </a:p>
                  </a:txBody>
                  <a:tcPr marL="91440" marR="91440" marT="45720" marB="45720"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c>
                  <a:txBody>
                    <a:bodyPr/>
                    <a:lstStyle/>
                    <a:p>
                      <a:pPr indent="0" marL="0">
                        <a:buNone/>
                      </a:pPr>
                      <a:r>
                        <a:rPr lang="en-US" sz="1150" dirty="0">
                          <a:solidFill>
                            <a:srgbClr val="22282E"/>
                          </a:solidFill>
                          <a:latin typeface="Calibri" pitchFamily="34" charset="0"/>
                          <a:ea typeface="Calibri" pitchFamily="34" charset="-122"/>
                          <a:cs typeface="Calibri" pitchFamily="34" charset="-120"/>
                        </a:rPr>
                        <a:t>76.2%</a:t>
                      </a:r>
                      <a:endParaRPr lang="en-US" sz="1150" dirty="0">
                        <a:latin typeface="Calibri" charset="0"/>
                        <a:ea typeface="Calibri" charset="0"/>
                        <a:cs typeface="Calibri" charset="0"/>
                      </a:endParaRPr>
                    </a:p>
                  </a:txBody>
                  <a:tcPr marL="91440" marR="91440" marT="45720" marB="45720"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c>
                  <a:txBody>
                    <a:bodyPr/>
                    <a:lstStyle/>
                    <a:p>
                      <a:pPr indent="0" marL="0">
                        <a:buNone/>
                      </a:pPr>
                      <a:r>
                        <a:rPr lang="en-US" sz="1150" b="1" dirty="0">
                          <a:solidFill>
                            <a:srgbClr val="C25A2E"/>
                          </a:solidFill>
                          <a:latin typeface="Calibri" pitchFamily="34" charset="0"/>
                          <a:ea typeface="Calibri" pitchFamily="34" charset="-122"/>
                          <a:cs typeface="Calibri" pitchFamily="34" charset="-120"/>
                        </a:rPr>
                        <a:t>36.6%</a:t>
                      </a:r>
                      <a:endParaRPr lang="en-US" sz="1150" dirty="0">
                        <a:latin typeface="Calibri" charset="0"/>
                        <a:ea typeface="Calibri" charset="0"/>
                        <a:cs typeface="Calibri" charset="0"/>
                      </a:endParaRPr>
                    </a:p>
                  </a:txBody>
                  <a:tcPr marL="91440" marR="91440" marT="45720" marB="45720"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c>
                  <a:txBody>
                    <a:bodyPr/>
                    <a:lstStyle/>
                    <a:p>
                      <a:pPr indent="0" marL="0">
                        <a:buNone/>
                      </a:pPr>
                      <a:r>
                        <a:rPr lang="en-US" sz="1150" dirty="0">
                          <a:solidFill>
                            <a:srgbClr val="22282E"/>
                          </a:solidFill>
                          <a:latin typeface="Calibri" pitchFamily="34" charset="0"/>
                          <a:ea typeface="Calibri" pitchFamily="34" charset="-122"/>
                          <a:cs typeface="Calibri" pitchFamily="34" charset="-120"/>
                        </a:rPr>
                        <a:t>0.066</a:t>
                      </a:r>
                      <a:endParaRPr lang="en-US" sz="1150" dirty="0">
                        <a:latin typeface="Calibri" charset="0"/>
                        <a:ea typeface="Calibri" charset="0"/>
                        <a:cs typeface="Calibri" charset="0"/>
                      </a:endParaRPr>
                    </a:p>
                  </a:txBody>
                  <a:tcPr marL="91440" marR="91440" marT="45720" marB="45720"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r>
              <a:tr h="310896">
                <a:tc>
                  <a:txBody>
                    <a:bodyPr/>
                    <a:lstStyle/>
                    <a:p>
                      <a:pPr indent="0" marL="0">
                        <a:buNone/>
                      </a:pPr>
                      <a:r>
                        <a:rPr lang="en-US" sz="1150" dirty="0">
                          <a:solidFill>
                            <a:srgbClr val="22282E"/>
                          </a:solidFill>
                          <a:latin typeface="Calibri" pitchFamily="34" charset="0"/>
                          <a:ea typeface="Calibri" pitchFamily="34" charset="-122"/>
                          <a:cs typeface="Calibri" pitchFamily="34" charset="-120"/>
                        </a:rPr>
                        <a:t>Target-calibrated associative</a:t>
                      </a:r>
                      <a:endParaRPr lang="en-US" sz="1150" dirty="0">
                        <a:latin typeface="Calibri" charset="0"/>
                        <a:ea typeface="Calibri" charset="0"/>
                        <a:cs typeface="Calibri" charset="0"/>
                      </a:endParaRPr>
                    </a:p>
                  </a:txBody>
                  <a:tcPr marL="91440" marR="91440" marT="45720" marB="45720"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c>
                  <a:txBody>
                    <a:bodyPr/>
                    <a:lstStyle/>
                    <a:p>
                      <a:pPr indent="0" marL="0">
                        <a:buNone/>
                      </a:pPr>
                      <a:r>
                        <a:rPr lang="en-US" sz="1150" dirty="0">
                          <a:solidFill>
                            <a:srgbClr val="22282E"/>
                          </a:solidFill>
                          <a:latin typeface="Calibri" pitchFamily="34" charset="0"/>
                          <a:ea typeface="Calibri" pitchFamily="34" charset="-122"/>
                          <a:cs typeface="Calibri" pitchFamily="34" charset="-120"/>
                        </a:rPr>
                        <a:t>77.1%</a:t>
                      </a:r>
                      <a:endParaRPr lang="en-US" sz="1150" dirty="0">
                        <a:latin typeface="Calibri" charset="0"/>
                        <a:ea typeface="Calibri" charset="0"/>
                        <a:cs typeface="Calibri" charset="0"/>
                      </a:endParaRPr>
                    </a:p>
                  </a:txBody>
                  <a:tcPr marL="91440" marR="91440" marT="45720" marB="45720"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c>
                  <a:txBody>
                    <a:bodyPr/>
                    <a:lstStyle/>
                    <a:p>
                      <a:pPr indent="0" marL="0">
                        <a:buNone/>
                      </a:pPr>
                      <a:r>
                        <a:rPr lang="en-US" sz="1150" dirty="0">
                          <a:solidFill>
                            <a:srgbClr val="22282E"/>
                          </a:solidFill>
                          <a:latin typeface="Calibri" pitchFamily="34" charset="0"/>
                          <a:ea typeface="Calibri" pitchFamily="34" charset="-122"/>
                          <a:cs typeface="Calibri" pitchFamily="34" charset="-120"/>
                        </a:rPr>
                        <a:t>23.4%</a:t>
                      </a:r>
                      <a:endParaRPr lang="en-US" sz="1150" dirty="0">
                        <a:latin typeface="Calibri" charset="0"/>
                        <a:ea typeface="Calibri" charset="0"/>
                        <a:cs typeface="Calibri" charset="0"/>
                      </a:endParaRPr>
                    </a:p>
                  </a:txBody>
                  <a:tcPr marL="91440" marR="91440" marT="45720" marB="45720"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c>
                  <a:txBody>
                    <a:bodyPr/>
                    <a:lstStyle/>
                    <a:p>
                      <a:pPr indent="0" marL="0">
                        <a:buNone/>
                      </a:pPr>
                      <a:r>
                        <a:rPr lang="en-US" sz="1150" dirty="0">
                          <a:solidFill>
                            <a:srgbClr val="22282E"/>
                          </a:solidFill>
                          <a:latin typeface="Calibri" pitchFamily="34" charset="0"/>
                          <a:ea typeface="Calibri" pitchFamily="34" charset="-122"/>
                          <a:cs typeface="Calibri" pitchFamily="34" charset="-120"/>
                        </a:rPr>
                        <a:t>0.049</a:t>
                      </a:r>
                      <a:endParaRPr lang="en-US" sz="1150" dirty="0">
                        <a:latin typeface="Calibri" charset="0"/>
                        <a:ea typeface="Calibri" charset="0"/>
                        <a:cs typeface="Calibri" charset="0"/>
                      </a:endParaRPr>
                    </a:p>
                  </a:txBody>
                  <a:tcPr marL="91440" marR="91440" marT="45720" marB="45720"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r>
              <a:tr h="310896">
                <a:tc>
                  <a:txBody>
                    <a:bodyPr/>
                    <a:lstStyle/>
                    <a:p>
                      <a:pPr indent="0" marL="0">
                        <a:buNone/>
                      </a:pPr>
                      <a:r>
                        <a:rPr lang="en-US" sz="1150" b="1" dirty="0">
                          <a:solidFill>
                            <a:srgbClr val="22282E"/>
                          </a:solidFill>
                          <a:latin typeface="Calibri" pitchFamily="34" charset="0"/>
                          <a:ea typeface="Calibri" pitchFamily="34" charset="-122"/>
                          <a:cs typeface="Calibri" pitchFamily="34" charset="-120"/>
                        </a:rPr>
                        <a:t>Modular causal SCM</a:t>
                      </a:r>
                      <a:endParaRPr lang="en-US" sz="1150" dirty="0">
                        <a:latin typeface="Calibri" charset="0"/>
                        <a:ea typeface="Calibri" charset="0"/>
                        <a:cs typeface="Calibri" charset="0"/>
                      </a:endParaRPr>
                    </a:p>
                  </a:txBody>
                  <a:tcPr marL="91440" marR="91440" marT="45720" marB="45720"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c>
                  <a:txBody>
                    <a:bodyPr/>
                    <a:lstStyle/>
                    <a:p>
                      <a:pPr indent="0" marL="0">
                        <a:buNone/>
                      </a:pPr>
                      <a:r>
                        <a:rPr lang="en-US" sz="1150" b="1" dirty="0">
                          <a:solidFill>
                            <a:srgbClr val="1C3F5F"/>
                          </a:solidFill>
                          <a:latin typeface="Calibri" pitchFamily="34" charset="0"/>
                          <a:ea typeface="Calibri" pitchFamily="34" charset="-122"/>
                          <a:cs typeface="Calibri" pitchFamily="34" charset="-120"/>
                        </a:rPr>
                        <a:t>77.6%</a:t>
                      </a:r>
                      <a:endParaRPr lang="en-US" sz="1150" dirty="0">
                        <a:latin typeface="Calibri" charset="0"/>
                        <a:ea typeface="Calibri" charset="0"/>
                        <a:cs typeface="Calibri" charset="0"/>
                      </a:endParaRPr>
                    </a:p>
                  </a:txBody>
                  <a:tcPr marL="91440" marR="91440" marT="45720" marB="45720"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c>
                  <a:txBody>
                    <a:bodyPr/>
                    <a:lstStyle/>
                    <a:p>
                      <a:pPr indent="0" marL="0">
                        <a:buNone/>
                      </a:pPr>
                      <a:r>
                        <a:rPr lang="en-US" sz="1150" b="1" dirty="0">
                          <a:solidFill>
                            <a:srgbClr val="1C3F5F"/>
                          </a:solidFill>
                          <a:latin typeface="Calibri" pitchFamily="34" charset="0"/>
                          <a:ea typeface="Calibri" pitchFamily="34" charset="-122"/>
                          <a:cs typeface="Calibri" pitchFamily="34" charset="-120"/>
                        </a:rPr>
                        <a:t>22.5%</a:t>
                      </a:r>
                      <a:endParaRPr lang="en-US" sz="1150" dirty="0">
                        <a:latin typeface="Calibri" charset="0"/>
                        <a:ea typeface="Calibri" charset="0"/>
                        <a:cs typeface="Calibri" charset="0"/>
                      </a:endParaRPr>
                    </a:p>
                  </a:txBody>
                  <a:tcPr marL="91440" marR="91440" marT="45720" marB="45720"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c>
                  <a:txBody>
                    <a:bodyPr/>
                    <a:lstStyle/>
                    <a:p>
                      <a:pPr indent="0" marL="0">
                        <a:buNone/>
                      </a:pPr>
                      <a:r>
                        <a:rPr lang="en-US" sz="1150" b="1" dirty="0">
                          <a:solidFill>
                            <a:srgbClr val="1C3F5F"/>
                          </a:solidFill>
                          <a:latin typeface="Calibri" pitchFamily="34" charset="0"/>
                          <a:ea typeface="Calibri" pitchFamily="34" charset="-122"/>
                          <a:cs typeface="Calibri" pitchFamily="34" charset="-120"/>
                        </a:rPr>
                        <a:t>0.042</a:t>
                      </a:r>
                      <a:endParaRPr lang="en-US" sz="1150" dirty="0">
                        <a:latin typeface="Calibri" charset="0"/>
                        <a:ea typeface="Calibri" charset="0"/>
                        <a:cs typeface="Calibri" charset="0"/>
                      </a:endParaRPr>
                    </a:p>
                  </a:txBody>
                  <a:tcPr marL="91440" marR="91440" marT="45720" marB="45720"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r>
              <a:tr h="310896">
                <a:tc>
                  <a:txBody>
                    <a:bodyPr/>
                    <a:lstStyle/>
                    <a:p>
                      <a:pPr indent="0" marL="0">
                        <a:buNone/>
                      </a:pPr>
                      <a:r>
                        <a:rPr lang="en-US" sz="1150" dirty="0">
                          <a:solidFill>
                            <a:srgbClr val="6B7885"/>
                          </a:solidFill>
                          <a:latin typeface="Calibri" pitchFamily="34" charset="0"/>
                          <a:ea typeface="Calibri" pitchFamily="34" charset="-122"/>
                          <a:cs typeface="Calibri" pitchFamily="34" charset="-120"/>
                        </a:rPr>
                        <a:t>Target oracle (ceiling)</a:t>
                      </a:r>
                      <a:endParaRPr lang="en-US" sz="1150" dirty="0">
                        <a:latin typeface="Calibri" charset="0"/>
                        <a:ea typeface="Calibri" charset="0"/>
                        <a:cs typeface="Calibri" charset="0"/>
                      </a:endParaRPr>
                    </a:p>
                  </a:txBody>
                  <a:tcPr marL="91440" marR="91440" marT="45720" marB="45720"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c>
                  <a:txBody>
                    <a:bodyPr/>
                    <a:lstStyle/>
                    <a:p>
                      <a:pPr indent="0" marL="0">
                        <a:buNone/>
                      </a:pPr>
                      <a:r>
                        <a:rPr lang="en-US" sz="1150" dirty="0">
                          <a:solidFill>
                            <a:srgbClr val="6B7885"/>
                          </a:solidFill>
                          <a:latin typeface="Calibri" pitchFamily="34" charset="0"/>
                          <a:ea typeface="Calibri" pitchFamily="34" charset="-122"/>
                          <a:cs typeface="Calibri" pitchFamily="34" charset="-120"/>
                        </a:rPr>
                        <a:t>78.1%</a:t>
                      </a:r>
                      <a:endParaRPr lang="en-US" sz="1150" dirty="0">
                        <a:latin typeface="Calibri" charset="0"/>
                        <a:ea typeface="Calibri" charset="0"/>
                        <a:cs typeface="Calibri" charset="0"/>
                      </a:endParaRPr>
                    </a:p>
                  </a:txBody>
                  <a:tcPr marL="91440" marR="91440" marT="45720" marB="45720"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c>
                  <a:txBody>
                    <a:bodyPr/>
                    <a:lstStyle/>
                    <a:p>
                      <a:pPr indent="0" marL="0">
                        <a:buNone/>
                      </a:pPr>
                      <a:r>
                        <a:rPr lang="en-US" sz="1150" dirty="0">
                          <a:solidFill>
                            <a:srgbClr val="6B7885"/>
                          </a:solidFill>
                          <a:latin typeface="Calibri" pitchFamily="34" charset="0"/>
                          <a:ea typeface="Calibri" pitchFamily="34" charset="-122"/>
                          <a:cs typeface="Calibri" pitchFamily="34" charset="-120"/>
                        </a:rPr>
                        <a:t>22.2%</a:t>
                      </a:r>
                      <a:endParaRPr lang="en-US" sz="1150" dirty="0">
                        <a:latin typeface="Calibri" charset="0"/>
                        <a:ea typeface="Calibri" charset="0"/>
                        <a:cs typeface="Calibri" charset="0"/>
                      </a:endParaRPr>
                    </a:p>
                  </a:txBody>
                  <a:tcPr marL="91440" marR="91440" marT="45720" marB="45720"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c>
                  <a:txBody>
                    <a:bodyPr/>
                    <a:lstStyle/>
                    <a:p>
                      <a:pPr indent="0" marL="0">
                        <a:buNone/>
                      </a:pPr>
                      <a:r>
                        <a:rPr lang="en-US" sz="1150" dirty="0">
                          <a:solidFill>
                            <a:srgbClr val="6B7885"/>
                          </a:solidFill>
                          <a:latin typeface="Calibri" pitchFamily="34" charset="0"/>
                          <a:ea typeface="Calibri" pitchFamily="34" charset="-122"/>
                          <a:cs typeface="Calibri" pitchFamily="34" charset="-120"/>
                        </a:rPr>
                        <a:t>0.029</a:t>
                      </a:r>
                      <a:endParaRPr lang="en-US" sz="1150" dirty="0">
                        <a:latin typeface="Calibri" charset="0"/>
                        <a:ea typeface="Calibri" charset="0"/>
                        <a:cs typeface="Calibri" charset="0"/>
                      </a:endParaRPr>
                    </a:p>
                  </a:txBody>
                  <a:tcPr marL="91440" marR="91440" marT="45720" marB="45720"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r>
            </a:tbl>
          </a:graphicData>
        </a:graphic>
      </p:graphicFrame>
      <p:sp>
        <p:nvSpPr>
          <p:cNvPr id="7" name="Shape 3"/>
          <p:cNvSpPr/>
          <p:nvPr/>
        </p:nvSpPr>
        <p:spPr>
          <a:xfrm>
            <a:off x="6720840" y="3401568"/>
            <a:ext cx="4892040" cy="1371600"/>
          </a:xfrm>
          <a:prstGeom prst="roundRect">
            <a:avLst>
              <a:gd name="adj" fmla="val 4000"/>
            </a:avLst>
          </a:prstGeom>
          <a:solidFill>
            <a:srgbClr val="FDF6F2"/>
          </a:solidFill>
          <a:ln w="12700">
            <a:solidFill>
              <a:srgbClr val="C25A2E"/>
            </a:solidFill>
            <a:prstDash val="solid"/>
          </a:ln>
        </p:spPr>
      </p:sp>
      <p:sp>
        <p:nvSpPr>
          <p:cNvPr id="8" name="Text 4"/>
          <p:cNvSpPr/>
          <p:nvPr/>
        </p:nvSpPr>
        <p:spPr>
          <a:xfrm>
            <a:off x="6949440" y="3520440"/>
            <a:ext cx="4480560" cy="274320"/>
          </a:xfrm>
          <a:prstGeom prst="rect">
            <a:avLst/>
          </a:prstGeom>
          <a:noFill/>
          <a:ln/>
        </p:spPr>
        <p:txBody>
          <a:bodyPr wrap="square" lIns="0" tIns="0" rIns="0" bIns="0" rtlCol="0" anchor="ctr"/>
          <a:lstStyle/>
          <a:p>
            <a:pPr indent="0" marL="0">
              <a:buNone/>
            </a:pPr>
            <a:r>
              <a:rPr lang="en-US" sz="1250" b="1" dirty="0">
                <a:solidFill>
                  <a:srgbClr val="C25A2E"/>
                </a:solidFill>
                <a:latin typeface="Calibri" pitchFamily="34" charset="0"/>
                <a:ea typeface="Calibri" pitchFamily="34" charset="-122"/>
                <a:cs typeface="Calibri" pitchFamily="34" charset="-120"/>
              </a:rPr>
              <a:t>The finding</a:t>
            </a:r>
            <a:endParaRPr lang="en-US" sz="1250" dirty="0"/>
          </a:p>
        </p:txBody>
      </p:sp>
      <p:sp>
        <p:nvSpPr>
          <p:cNvPr id="9" name="Text 5"/>
          <p:cNvSpPr/>
          <p:nvPr/>
        </p:nvSpPr>
        <p:spPr>
          <a:xfrm>
            <a:off x="6949440" y="3822192"/>
            <a:ext cx="4480560" cy="868680"/>
          </a:xfrm>
          <a:prstGeom prst="rect">
            <a:avLst/>
          </a:prstGeom>
          <a:noFill/>
          <a:ln/>
        </p:spPr>
        <p:txBody>
          <a:bodyPr wrap="square" lIns="0" tIns="0" rIns="0" bIns="0" rtlCol="0" anchor="ctr"/>
          <a:lstStyle/>
          <a:p>
            <a:pPr indent="0" marL="0">
              <a:lnSpc>
                <a:spcPts val="1500"/>
              </a:lnSpc>
              <a:buNone/>
            </a:pPr>
            <a:r>
              <a:rPr lang="en-US" sz="1150" dirty="0">
                <a:solidFill>
                  <a:srgbClr val="22282E"/>
                </a:solidFill>
                <a:latin typeface="Calibri" pitchFamily="34" charset="0"/>
                <a:ea typeface="Calibri" pitchFamily="34" charset="-122"/>
                <a:cs typeface="Calibri" pitchFamily="34" charset="-120"/>
              </a:rPr>
              <a:t>A frozen causal model still made 36.6% false atrial calls. Only when the nuisance and measurement modules recalibrate on 150 unlabeled target patients does it reach 22.5% — against an oracle floor of 22.2%.</a:t>
            </a:r>
            <a:endParaRPr lang="en-US" sz="1150" dirty="0"/>
          </a:p>
        </p:txBody>
      </p:sp>
      <p:sp>
        <p:nvSpPr>
          <p:cNvPr id="10" name="Text 6"/>
          <p:cNvSpPr/>
          <p:nvPr/>
        </p:nvSpPr>
        <p:spPr>
          <a:xfrm>
            <a:off x="548640" y="4590288"/>
            <a:ext cx="5943600" cy="274320"/>
          </a:xfrm>
          <a:prstGeom prst="rect">
            <a:avLst/>
          </a:prstGeom>
          <a:noFill/>
          <a:ln/>
        </p:spPr>
        <p:txBody>
          <a:bodyPr wrap="square" lIns="0" tIns="0" rIns="0" bIns="0" rtlCol="0" anchor="ctr"/>
          <a:lstStyle/>
          <a:p>
            <a:pPr indent="0" marL="0">
              <a:buNone/>
            </a:pPr>
            <a:r>
              <a:rPr lang="en-US" sz="1250" b="1" dirty="0">
                <a:solidFill>
                  <a:srgbClr val="1C3F5F"/>
                </a:solidFill>
                <a:latin typeface="Calibri" pitchFamily="34" charset="0"/>
                <a:ea typeface="Calibri" pitchFamily="34" charset="-122"/>
                <a:cs typeface="Calibri" pitchFamily="34" charset="-120"/>
              </a:rPr>
              <a:t>Accuracy lost, no-shift → strong shift</a:t>
            </a:r>
            <a:endParaRPr lang="en-US" sz="1250" dirty="0"/>
          </a:p>
        </p:txBody>
      </p:sp>
      <p:sp>
        <p:nvSpPr>
          <p:cNvPr id="11" name="Shape 7"/>
          <p:cNvSpPr/>
          <p:nvPr/>
        </p:nvSpPr>
        <p:spPr>
          <a:xfrm>
            <a:off x="548640" y="4919472"/>
            <a:ext cx="1115568" cy="1005840"/>
          </a:xfrm>
          <a:prstGeom prst="roundRect">
            <a:avLst>
              <a:gd name="adj" fmla="val 5455"/>
            </a:avLst>
          </a:prstGeom>
          <a:solidFill>
            <a:srgbClr val="F5F7F9"/>
          </a:solidFill>
          <a:ln w="9525">
            <a:solidFill>
              <a:srgbClr val="D8DEE4"/>
            </a:solidFill>
            <a:prstDash val="solid"/>
          </a:ln>
        </p:spPr>
      </p:sp>
      <p:sp>
        <p:nvSpPr>
          <p:cNvPr id="12" name="Text 8"/>
          <p:cNvSpPr/>
          <p:nvPr/>
        </p:nvSpPr>
        <p:spPr>
          <a:xfrm>
            <a:off x="548640" y="5029200"/>
            <a:ext cx="1115568" cy="384048"/>
          </a:xfrm>
          <a:prstGeom prst="rect">
            <a:avLst/>
          </a:prstGeom>
          <a:noFill/>
          <a:ln/>
        </p:spPr>
        <p:txBody>
          <a:bodyPr wrap="square" lIns="0" tIns="0" rIns="0" bIns="0" rtlCol="0" anchor="ctr"/>
          <a:lstStyle/>
          <a:p>
            <a:pPr algn="ctr" indent="0" marL="0">
              <a:buNone/>
            </a:pPr>
            <a:r>
              <a:rPr lang="en-US" sz="1500" b="1" dirty="0">
                <a:solidFill>
                  <a:srgbClr val="C25A2E"/>
                </a:solidFill>
                <a:latin typeface="Cambria" pitchFamily="34" charset="0"/>
                <a:ea typeface="Cambria" pitchFamily="34" charset="-122"/>
                <a:cs typeface="Cambria" pitchFamily="34" charset="-120"/>
              </a:rPr>
              <a:t>−6.86 pp</a:t>
            </a:r>
            <a:endParaRPr lang="en-US" sz="1500" dirty="0"/>
          </a:p>
        </p:txBody>
      </p:sp>
      <p:sp>
        <p:nvSpPr>
          <p:cNvPr id="13" name="Text 9"/>
          <p:cNvSpPr/>
          <p:nvPr/>
        </p:nvSpPr>
        <p:spPr>
          <a:xfrm>
            <a:off x="548640" y="5431536"/>
            <a:ext cx="1115568" cy="411480"/>
          </a:xfrm>
          <a:prstGeom prst="rect">
            <a:avLst/>
          </a:prstGeom>
          <a:noFill/>
          <a:ln/>
        </p:spPr>
        <p:txBody>
          <a:bodyPr wrap="square" lIns="0" tIns="0" rIns="0" bIns="0" rtlCol="0" anchor="ctr"/>
          <a:lstStyle/>
          <a:p>
            <a:pPr algn="ctr" indent="0" marL="0">
              <a:lnSpc>
                <a:spcPts val="1200"/>
              </a:lnSpc>
              <a:buNone/>
            </a:pPr>
            <a:r>
              <a:rPr lang="en-US" sz="950" dirty="0">
                <a:solidFill>
                  <a:srgbClr val="6B7885"/>
                </a:solidFill>
                <a:latin typeface="Calibri" pitchFamily="34" charset="0"/>
                <a:ea typeface="Calibri" pitchFamily="34" charset="-122"/>
                <a:cs typeface="Calibri" pitchFamily="34" charset="-120"/>
              </a:rPr>
              <a:t>Pooled</a:t>
            </a:r>
            <a:endParaRPr lang="en-US" sz="950" dirty="0"/>
          </a:p>
        </p:txBody>
      </p:sp>
      <p:sp>
        <p:nvSpPr>
          <p:cNvPr id="14" name="Shape 10"/>
          <p:cNvSpPr/>
          <p:nvPr/>
        </p:nvSpPr>
        <p:spPr>
          <a:xfrm>
            <a:off x="1746504" y="4919472"/>
            <a:ext cx="1115568" cy="1005840"/>
          </a:xfrm>
          <a:prstGeom prst="roundRect">
            <a:avLst>
              <a:gd name="adj" fmla="val 5455"/>
            </a:avLst>
          </a:prstGeom>
          <a:solidFill>
            <a:srgbClr val="F5F7F9"/>
          </a:solidFill>
          <a:ln w="9525">
            <a:solidFill>
              <a:srgbClr val="D8DEE4"/>
            </a:solidFill>
            <a:prstDash val="solid"/>
          </a:ln>
        </p:spPr>
      </p:sp>
      <p:sp>
        <p:nvSpPr>
          <p:cNvPr id="15" name="Text 11"/>
          <p:cNvSpPr/>
          <p:nvPr/>
        </p:nvSpPr>
        <p:spPr>
          <a:xfrm>
            <a:off x="1746504" y="5029200"/>
            <a:ext cx="1115568" cy="384048"/>
          </a:xfrm>
          <a:prstGeom prst="rect">
            <a:avLst/>
          </a:prstGeom>
          <a:noFill/>
          <a:ln/>
        </p:spPr>
        <p:txBody>
          <a:bodyPr wrap="square" lIns="0" tIns="0" rIns="0" bIns="0" rtlCol="0" anchor="ctr"/>
          <a:lstStyle/>
          <a:p>
            <a:pPr algn="ctr" indent="0" marL="0">
              <a:buNone/>
            </a:pPr>
            <a:r>
              <a:rPr lang="en-US" sz="1500" b="1" dirty="0">
                <a:solidFill>
                  <a:srgbClr val="C25A2E"/>
                </a:solidFill>
                <a:latin typeface="Cambria" pitchFamily="34" charset="0"/>
                <a:ea typeface="Cambria" pitchFamily="34" charset="-122"/>
                <a:cs typeface="Cambria" pitchFamily="34" charset="-120"/>
              </a:rPr>
              <a:t>−5.42 pp</a:t>
            </a:r>
            <a:endParaRPr lang="en-US" sz="1500" dirty="0"/>
          </a:p>
        </p:txBody>
      </p:sp>
      <p:sp>
        <p:nvSpPr>
          <p:cNvPr id="16" name="Text 12"/>
          <p:cNvSpPr/>
          <p:nvPr/>
        </p:nvSpPr>
        <p:spPr>
          <a:xfrm>
            <a:off x="1746504" y="5431536"/>
            <a:ext cx="1115568" cy="411480"/>
          </a:xfrm>
          <a:prstGeom prst="rect">
            <a:avLst/>
          </a:prstGeom>
          <a:noFill/>
          <a:ln/>
        </p:spPr>
        <p:txBody>
          <a:bodyPr wrap="square" lIns="0" tIns="0" rIns="0" bIns="0" rtlCol="0" anchor="ctr"/>
          <a:lstStyle/>
          <a:p>
            <a:pPr algn="ctr" indent="0" marL="0">
              <a:lnSpc>
                <a:spcPts val="1200"/>
              </a:lnSpc>
              <a:buNone/>
            </a:pPr>
            <a:r>
              <a:rPr lang="en-US" sz="950" dirty="0">
                <a:solidFill>
                  <a:srgbClr val="6B7885"/>
                </a:solidFill>
                <a:latin typeface="Calibri" pitchFamily="34" charset="0"/>
                <a:ea typeface="Calibri" pitchFamily="34" charset="-122"/>
                <a:cs typeface="Calibri" pitchFamily="34" charset="-120"/>
              </a:rPr>
              <a:t>Frozen causal</a:t>
            </a:r>
            <a:endParaRPr lang="en-US" sz="950" dirty="0"/>
          </a:p>
        </p:txBody>
      </p:sp>
      <p:sp>
        <p:nvSpPr>
          <p:cNvPr id="17" name="Shape 13"/>
          <p:cNvSpPr/>
          <p:nvPr/>
        </p:nvSpPr>
        <p:spPr>
          <a:xfrm>
            <a:off x="2944368" y="4919472"/>
            <a:ext cx="1115568" cy="1005840"/>
          </a:xfrm>
          <a:prstGeom prst="roundRect">
            <a:avLst>
              <a:gd name="adj" fmla="val 5455"/>
            </a:avLst>
          </a:prstGeom>
          <a:solidFill>
            <a:srgbClr val="F5F7F9"/>
          </a:solidFill>
          <a:ln w="9525">
            <a:solidFill>
              <a:srgbClr val="D8DEE4"/>
            </a:solidFill>
            <a:prstDash val="solid"/>
          </a:ln>
        </p:spPr>
      </p:sp>
      <p:sp>
        <p:nvSpPr>
          <p:cNvPr id="18" name="Text 14"/>
          <p:cNvSpPr/>
          <p:nvPr/>
        </p:nvSpPr>
        <p:spPr>
          <a:xfrm>
            <a:off x="2944368" y="5029200"/>
            <a:ext cx="1115568" cy="384048"/>
          </a:xfrm>
          <a:prstGeom prst="rect">
            <a:avLst/>
          </a:prstGeom>
          <a:noFill/>
          <a:ln/>
        </p:spPr>
        <p:txBody>
          <a:bodyPr wrap="square" lIns="0" tIns="0" rIns="0" bIns="0" rtlCol="0" anchor="ctr"/>
          <a:lstStyle/>
          <a:p>
            <a:pPr algn="ctr" indent="0" marL="0">
              <a:buNone/>
            </a:pPr>
            <a:r>
              <a:rPr lang="en-US" sz="1500" b="1" dirty="0">
                <a:solidFill>
                  <a:srgbClr val="22282E"/>
                </a:solidFill>
                <a:latin typeface="Cambria" pitchFamily="34" charset="0"/>
                <a:ea typeface="Cambria" pitchFamily="34" charset="-122"/>
                <a:cs typeface="Cambria" pitchFamily="34" charset="-120"/>
              </a:rPr>
              <a:t>−4.08 pp</a:t>
            </a:r>
            <a:endParaRPr lang="en-US" sz="1500" dirty="0"/>
          </a:p>
        </p:txBody>
      </p:sp>
      <p:sp>
        <p:nvSpPr>
          <p:cNvPr id="19" name="Text 15"/>
          <p:cNvSpPr/>
          <p:nvPr/>
        </p:nvSpPr>
        <p:spPr>
          <a:xfrm>
            <a:off x="2944368" y="5431536"/>
            <a:ext cx="1115568" cy="411480"/>
          </a:xfrm>
          <a:prstGeom prst="rect">
            <a:avLst/>
          </a:prstGeom>
          <a:noFill/>
          <a:ln/>
        </p:spPr>
        <p:txBody>
          <a:bodyPr wrap="square" lIns="0" tIns="0" rIns="0" bIns="0" rtlCol="0" anchor="ctr"/>
          <a:lstStyle/>
          <a:p>
            <a:pPr algn="ctr" indent="0" marL="0">
              <a:lnSpc>
                <a:spcPts val="1200"/>
              </a:lnSpc>
              <a:buNone/>
            </a:pPr>
            <a:r>
              <a:rPr lang="en-US" sz="950" dirty="0">
                <a:solidFill>
                  <a:srgbClr val="6B7885"/>
                </a:solidFill>
                <a:latin typeface="Calibri" pitchFamily="34" charset="0"/>
                <a:ea typeface="Calibri" pitchFamily="34" charset="-122"/>
                <a:cs typeface="Calibri" pitchFamily="34" charset="-120"/>
              </a:rPr>
              <a:t>Target-calib.</a:t>
            </a:r>
            <a:endParaRPr lang="en-US" sz="950" dirty="0"/>
          </a:p>
        </p:txBody>
      </p:sp>
      <p:sp>
        <p:nvSpPr>
          <p:cNvPr id="20" name="Shape 16"/>
          <p:cNvSpPr/>
          <p:nvPr/>
        </p:nvSpPr>
        <p:spPr>
          <a:xfrm>
            <a:off x="4142232" y="4919472"/>
            <a:ext cx="1115568" cy="1005840"/>
          </a:xfrm>
          <a:prstGeom prst="roundRect">
            <a:avLst>
              <a:gd name="adj" fmla="val 5455"/>
            </a:avLst>
          </a:prstGeom>
          <a:solidFill>
            <a:srgbClr val="F5F7F9"/>
          </a:solidFill>
          <a:ln w="9525">
            <a:solidFill>
              <a:srgbClr val="D8DEE4"/>
            </a:solidFill>
            <a:prstDash val="solid"/>
          </a:ln>
        </p:spPr>
      </p:sp>
      <p:sp>
        <p:nvSpPr>
          <p:cNvPr id="21" name="Text 17"/>
          <p:cNvSpPr/>
          <p:nvPr/>
        </p:nvSpPr>
        <p:spPr>
          <a:xfrm>
            <a:off x="4142232" y="5029200"/>
            <a:ext cx="1115568" cy="384048"/>
          </a:xfrm>
          <a:prstGeom prst="rect">
            <a:avLst/>
          </a:prstGeom>
          <a:noFill/>
          <a:ln/>
        </p:spPr>
        <p:txBody>
          <a:bodyPr wrap="square" lIns="0" tIns="0" rIns="0" bIns="0" rtlCol="0" anchor="ctr"/>
          <a:lstStyle/>
          <a:p>
            <a:pPr algn="ctr" indent="0" marL="0">
              <a:buNone/>
            </a:pPr>
            <a:r>
              <a:rPr lang="en-US" sz="1500" b="1" dirty="0">
                <a:solidFill>
                  <a:srgbClr val="1C3F5F"/>
                </a:solidFill>
                <a:latin typeface="Cambria" pitchFamily="34" charset="0"/>
                <a:ea typeface="Cambria" pitchFamily="34" charset="-122"/>
                <a:cs typeface="Cambria" pitchFamily="34" charset="-120"/>
              </a:rPr>
              <a:t>−3.92 pp</a:t>
            </a:r>
            <a:endParaRPr lang="en-US" sz="1500" dirty="0"/>
          </a:p>
        </p:txBody>
      </p:sp>
      <p:sp>
        <p:nvSpPr>
          <p:cNvPr id="22" name="Text 18"/>
          <p:cNvSpPr/>
          <p:nvPr/>
        </p:nvSpPr>
        <p:spPr>
          <a:xfrm>
            <a:off x="4142232" y="5431536"/>
            <a:ext cx="1115568" cy="411480"/>
          </a:xfrm>
          <a:prstGeom prst="rect">
            <a:avLst/>
          </a:prstGeom>
          <a:noFill/>
          <a:ln/>
        </p:spPr>
        <p:txBody>
          <a:bodyPr wrap="square" lIns="0" tIns="0" rIns="0" bIns="0" rtlCol="0" anchor="ctr"/>
          <a:lstStyle/>
          <a:p>
            <a:pPr algn="ctr" indent="0" marL="0">
              <a:lnSpc>
                <a:spcPts val="1200"/>
              </a:lnSpc>
              <a:buNone/>
            </a:pPr>
            <a:r>
              <a:rPr lang="en-US" sz="950" dirty="0">
                <a:solidFill>
                  <a:srgbClr val="6B7885"/>
                </a:solidFill>
                <a:latin typeface="Calibri" pitchFamily="34" charset="0"/>
                <a:ea typeface="Calibri" pitchFamily="34" charset="-122"/>
                <a:cs typeface="Calibri" pitchFamily="34" charset="-120"/>
              </a:rPr>
              <a:t>Modular causal</a:t>
            </a:r>
            <a:endParaRPr lang="en-US" sz="950" dirty="0"/>
          </a:p>
        </p:txBody>
      </p:sp>
      <p:sp>
        <p:nvSpPr>
          <p:cNvPr id="23" name="Shape 19"/>
          <p:cNvSpPr/>
          <p:nvPr/>
        </p:nvSpPr>
        <p:spPr>
          <a:xfrm>
            <a:off x="5340096" y="4919472"/>
            <a:ext cx="1115568" cy="1005840"/>
          </a:xfrm>
          <a:prstGeom prst="roundRect">
            <a:avLst>
              <a:gd name="adj" fmla="val 5455"/>
            </a:avLst>
          </a:prstGeom>
          <a:solidFill>
            <a:srgbClr val="F5F7F9"/>
          </a:solidFill>
          <a:ln w="9525">
            <a:solidFill>
              <a:srgbClr val="D8DEE4"/>
            </a:solidFill>
            <a:prstDash val="solid"/>
          </a:ln>
        </p:spPr>
      </p:sp>
      <p:sp>
        <p:nvSpPr>
          <p:cNvPr id="24" name="Text 20"/>
          <p:cNvSpPr/>
          <p:nvPr/>
        </p:nvSpPr>
        <p:spPr>
          <a:xfrm>
            <a:off x="5340096" y="5029200"/>
            <a:ext cx="1115568" cy="384048"/>
          </a:xfrm>
          <a:prstGeom prst="rect">
            <a:avLst/>
          </a:prstGeom>
          <a:noFill/>
          <a:ln/>
        </p:spPr>
        <p:txBody>
          <a:bodyPr wrap="square" lIns="0" tIns="0" rIns="0" bIns="0" rtlCol="0" anchor="ctr"/>
          <a:lstStyle/>
          <a:p>
            <a:pPr algn="ctr" indent="0" marL="0">
              <a:buNone/>
            </a:pPr>
            <a:r>
              <a:rPr lang="en-US" sz="1500" b="1" dirty="0">
                <a:solidFill>
                  <a:srgbClr val="6B7885"/>
                </a:solidFill>
                <a:latin typeface="Cambria" pitchFamily="34" charset="0"/>
                <a:ea typeface="Cambria" pitchFamily="34" charset="-122"/>
                <a:cs typeface="Cambria" pitchFamily="34" charset="-120"/>
              </a:rPr>
              <a:t>−3.83 pp</a:t>
            </a:r>
            <a:endParaRPr lang="en-US" sz="1500" dirty="0"/>
          </a:p>
        </p:txBody>
      </p:sp>
      <p:sp>
        <p:nvSpPr>
          <p:cNvPr id="25" name="Text 21"/>
          <p:cNvSpPr/>
          <p:nvPr/>
        </p:nvSpPr>
        <p:spPr>
          <a:xfrm>
            <a:off x="5340096" y="5431536"/>
            <a:ext cx="1115568" cy="411480"/>
          </a:xfrm>
          <a:prstGeom prst="rect">
            <a:avLst/>
          </a:prstGeom>
          <a:noFill/>
          <a:ln/>
        </p:spPr>
        <p:txBody>
          <a:bodyPr wrap="square" lIns="0" tIns="0" rIns="0" bIns="0" rtlCol="0" anchor="ctr"/>
          <a:lstStyle/>
          <a:p>
            <a:pPr algn="ctr" indent="0" marL="0">
              <a:lnSpc>
                <a:spcPts val="1200"/>
              </a:lnSpc>
              <a:buNone/>
            </a:pPr>
            <a:r>
              <a:rPr lang="en-US" sz="950" dirty="0">
                <a:solidFill>
                  <a:srgbClr val="6B7885"/>
                </a:solidFill>
                <a:latin typeface="Calibri" pitchFamily="34" charset="0"/>
                <a:ea typeface="Calibri" pitchFamily="34" charset="-122"/>
                <a:cs typeface="Calibri" pitchFamily="34" charset="-120"/>
              </a:rPr>
              <a:t>Oracle</a:t>
            </a:r>
            <a:endParaRPr lang="en-US" sz="950" dirty="0"/>
          </a:p>
        </p:txBody>
      </p:sp>
      <p:sp>
        <p:nvSpPr>
          <p:cNvPr id="26" name="Shape 22"/>
          <p:cNvSpPr/>
          <p:nvPr/>
        </p:nvSpPr>
        <p:spPr>
          <a:xfrm>
            <a:off x="6720840" y="4919472"/>
            <a:ext cx="4892040" cy="1005840"/>
          </a:xfrm>
          <a:prstGeom prst="roundRect">
            <a:avLst>
              <a:gd name="adj" fmla="val 5455"/>
            </a:avLst>
          </a:prstGeom>
          <a:solidFill>
            <a:srgbClr val="F0F5F3"/>
          </a:solidFill>
          <a:ln w="12700">
            <a:solidFill>
              <a:srgbClr val="2A7F7F"/>
            </a:solidFill>
            <a:prstDash val="solid"/>
          </a:ln>
        </p:spPr>
      </p:sp>
      <p:sp>
        <p:nvSpPr>
          <p:cNvPr id="27" name="Text 23"/>
          <p:cNvSpPr/>
          <p:nvPr/>
        </p:nvSpPr>
        <p:spPr>
          <a:xfrm>
            <a:off x="6949440" y="5029200"/>
            <a:ext cx="4434840" cy="822960"/>
          </a:xfrm>
          <a:prstGeom prst="rect">
            <a:avLst/>
          </a:prstGeom>
          <a:noFill/>
          <a:ln/>
        </p:spPr>
        <p:txBody>
          <a:bodyPr wrap="square" lIns="0" tIns="0" rIns="0" bIns="0" rtlCol="0" anchor="ctr"/>
          <a:lstStyle/>
          <a:p>
            <a:pPr indent="0" marL="0">
              <a:lnSpc>
                <a:spcPts val="1400"/>
              </a:lnSpc>
              <a:buNone/>
            </a:pPr>
            <a:r>
              <a:rPr lang="en-US" sz="1100" dirty="0">
                <a:solidFill>
                  <a:srgbClr val="22282E"/>
                </a:solidFill>
                <a:latin typeface="Calibri" pitchFamily="34" charset="0"/>
                <a:ea typeface="Calibri" pitchFamily="34" charset="-122"/>
                <a:cs typeface="Calibri" pitchFamily="34" charset="-120"/>
              </a:rPr>
              <a:t>Modular causal lands on the oracle's degradation floor. Negative control passes: with no shift it is statistically equivalent to target-calibrated association (+0.30 pp, inside the ±1 pp margin).</a:t>
            </a:r>
            <a:endParaRPr lang="en-US" sz="1100" dirty="0"/>
          </a:p>
        </p:txBody>
      </p:sp>
      <p:sp>
        <p:nvSpPr>
          <p:cNvPr id="28" name="Text 24"/>
          <p:cNvSpPr/>
          <p:nvPr/>
        </p:nvSpPr>
        <p:spPr>
          <a:xfrm>
            <a:off x="548640" y="6236208"/>
            <a:ext cx="11064240" cy="365760"/>
          </a:xfrm>
          <a:prstGeom prst="rect">
            <a:avLst/>
          </a:prstGeom>
          <a:noFill/>
          <a:ln/>
        </p:spPr>
        <p:txBody>
          <a:bodyPr wrap="square" lIns="0" tIns="0" rIns="0" bIns="0" rtlCol="0" anchor="ctr"/>
          <a:lstStyle/>
          <a:p>
            <a:pPr indent="0" marL="0">
              <a:buNone/>
            </a:pPr>
            <a:r>
              <a:rPr lang="en-US" sz="1050" i="1" dirty="0">
                <a:solidFill>
                  <a:srgbClr val="6B7885"/>
                </a:solidFill>
                <a:latin typeface="Calibri" pitchFamily="34" charset="0"/>
                <a:ea typeface="Calibri" pitchFamily="34" charset="-122"/>
                <a:cs typeface="Calibri" pitchFamily="34" charset="-120"/>
              </a:rPr>
              <a:t>3 source hospitals × 600 patients · 150 unlabeled target calibration · 1,000 target test · 500 repeats</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11064240" cy="256032"/>
          </a:xfrm>
          <a:prstGeom prst="rect">
            <a:avLst/>
          </a:prstGeom>
          <a:noFill/>
          <a:ln/>
        </p:spPr>
        <p:txBody>
          <a:bodyPr wrap="square" lIns="0" tIns="0" rIns="0" bIns="0" rtlCol="0" anchor="ctr"/>
          <a:lstStyle/>
          <a:p>
            <a:pPr indent="0" marL="0">
              <a:buNone/>
            </a:pPr>
            <a:r>
              <a:rPr lang="en-US" sz="1100" b="1" spc="200" kern="0" dirty="0">
                <a:solidFill>
                  <a:srgbClr val="C25A2E"/>
                </a:solidFill>
                <a:latin typeface="Calibri" pitchFamily="34" charset="0"/>
                <a:ea typeface="Calibri" pitchFamily="34" charset="-122"/>
                <a:cs typeface="Calibri" pitchFamily="34" charset="-120"/>
              </a:rPr>
              <a:t>EXPERIMENT 2b  ·  SHIFT-COMPONENT ABLATION</a:t>
            </a:r>
            <a:endParaRPr lang="en-US" sz="1100" dirty="0"/>
          </a:p>
        </p:txBody>
      </p:sp>
      <p:sp>
        <p:nvSpPr>
          <p:cNvPr id="3" name="Text 1"/>
          <p:cNvSpPr/>
          <p:nvPr/>
        </p:nvSpPr>
        <p:spPr>
          <a:xfrm>
            <a:off x="548640" y="585216"/>
            <a:ext cx="11064240" cy="566928"/>
          </a:xfrm>
          <a:prstGeom prst="rect">
            <a:avLst/>
          </a:prstGeom>
          <a:noFill/>
          <a:ln/>
        </p:spPr>
        <p:txBody>
          <a:bodyPr wrap="square" lIns="0" tIns="0" rIns="0" bIns="0" rtlCol="0" anchor="ctr"/>
          <a:lstStyle/>
          <a:p>
            <a:pPr indent="0" marL="0">
              <a:buNone/>
            </a:pPr>
            <a:r>
              <a:rPr lang="en-US" sz="2900" b="1" dirty="0">
                <a:solidFill>
                  <a:srgbClr val="1C3F5F"/>
                </a:solidFill>
                <a:latin typeface="Cambria" pitchFamily="34" charset="0"/>
                <a:ea typeface="Cambria" pitchFamily="34" charset="-122"/>
                <a:cs typeface="Cambria" pitchFamily="34" charset="-120"/>
              </a:rPr>
              <a:t>Result 3b — Which part of the shift does modularization actually fix?</a:t>
            </a:r>
            <a:endParaRPr lang="en-US" sz="2900" dirty="0"/>
          </a:p>
        </p:txBody>
      </p:sp>
      <p:pic>
        <p:nvPicPr>
          <p:cNvPr id="4" name="Image 0" descr="/sessions/sharp-charming-bohr/mnt/ESUS Endotyping with Causal Models/outputs_transportability/ablations/figure_T3_shift_ablations.png">    </p:cNvPr>
          <p:cNvPicPr>
            <a:picLocks noChangeAspect="1"/>
          </p:cNvPicPr>
          <p:nvPr/>
        </p:nvPicPr>
        <p:blipFill>
          <a:blip r:embed="rId1"/>
          <a:stretch>
            <a:fillRect/>
          </a:stretch>
        </p:blipFill>
        <p:spPr>
          <a:xfrm>
            <a:off x="548640" y="1188720"/>
            <a:ext cx="6035040" cy="3154680"/>
          </a:xfrm>
          <a:prstGeom prst="rect">
            <a:avLst/>
          </a:prstGeom>
        </p:spPr>
      </p:pic>
      <p:sp>
        <p:nvSpPr>
          <p:cNvPr id="5" name="Text 2"/>
          <p:cNvSpPr/>
          <p:nvPr/>
        </p:nvSpPr>
        <p:spPr>
          <a:xfrm>
            <a:off x="548640" y="4370832"/>
            <a:ext cx="6035040" cy="256032"/>
          </a:xfrm>
          <a:prstGeom prst="rect">
            <a:avLst/>
          </a:prstGeom>
          <a:noFill/>
          <a:ln/>
        </p:spPr>
        <p:txBody>
          <a:bodyPr wrap="square" lIns="0" tIns="0" rIns="0" bIns="0" rtlCol="0" anchor="ctr"/>
          <a:lstStyle/>
          <a:p>
            <a:pPr indent="0" marL="0">
              <a:buNone/>
            </a:pPr>
            <a:r>
              <a:rPr lang="en-US" sz="950" i="1" dirty="0">
                <a:solidFill>
                  <a:srgbClr val="6B7885"/>
                </a:solidFill>
                <a:latin typeface="Calibri" pitchFamily="34" charset="0"/>
                <a:ea typeface="Calibri" pitchFamily="34" charset="-122"/>
                <a:cs typeface="Calibri" pitchFamily="34" charset="-120"/>
              </a:rPr>
              <a:t>outputs_transportability/ablations/figure_T3_shift_ablations</a:t>
            </a:r>
            <a:endParaRPr lang="en-US" sz="95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6812280" y="1188720"/>
          <a:ext cx="4800600" cy="914400"/>
        </p:xfrm>
        <a:graphic>
          <a:graphicData uri="http://schemas.openxmlformats.org/drawingml/2006/table">
            <a:tbl>
              <a:tblPr/>
              <a:tblGrid>
                <a:gridCol w="2148840"/>
                <a:gridCol w="1325880"/>
                <a:gridCol w="1325880"/>
              </a:tblGrid>
              <a:tr h="310896">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Shift component</a:t>
                      </a:r>
                      <a:endParaRPr lang="en-US" sz="1150" dirty="0">
                        <a:latin typeface="Calibri" charset="0"/>
                        <a:ea typeface="Calibri" charset="0"/>
                        <a:cs typeface="Calibri" charset="0"/>
                      </a:endParaRPr>
                    </a:p>
                  </a:txBody>
                  <a:tcPr marL="91440" marR="91440" marT="45720" marB="45720"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solidFill>
                      <a:srgbClr val="1C3F5F"/>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Pooled</a:t>
                      </a:r>
                      <a:endParaRPr lang="en-US" sz="1150" dirty="0">
                        <a:latin typeface="Calibri" charset="0"/>
                        <a:ea typeface="Calibri" charset="0"/>
                        <a:cs typeface="Calibri" charset="0"/>
                      </a:endParaRPr>
                    </a:p>
                  </a:txBody>
                  <a:tcPr marL="91440" marR="91440" marT="45720" marB="45720"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solidFill>
                      <a:srgbClr val="1C3F5F"/>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Modular causal</a:t>
                      </a:r>
                      <a:endParaRPr lang="en-US" sz="1150" dirty="0">
                        <a:latin typeface="Calibri" charset="0"/>
                        <a:ea typeface="Calibri" charset="0"/>
                        <a:cs typeface="Calibri" charset="0"/>
                      </a:endParaRPr>
                    </a:p>
                  </a:txBody>
                  <a:tcPr marL="91440" marR="91440" marT="45720" marB="45720"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solidFill>
                      <a:srgbClr val="1C3F5F"/>
                    </a:solidFill>
                  </a:tcPr>
                </a:tc>
              </a:tr>
              <a:tr h="310896">
                <a:tc>
                  <a:txBody>
                    <a:bodyPr/>
                    <a:lstStyle/>
                    <a:p>
                      <a:pPr indent="0" marL="0">
                        <a:buNone/>
                      </a:pPr>
                      <a:r>
                        <a:rPr lang="en-US" sz="1150" b="1" dirty="0">
                          <a:solidFill>
                            <a:srgbClr val="22282E"/>
                          </a:solidFill>
                          <a:latin typeface="Calibri" pitchFamily="34" charset="0"/>
                          <a:ea typeface="Calibri" pitchFamily="34" charset="-122"/>
                          <a:cs typeface="Calibri" pitchFamily="34" charset="-120"/>
                        </a:rPr>
                        <a:t>Kidney only</a:t>
                      </a:r>
                      <a:endParaRPr lang="en-US" sz="1150" dirty="0">
                        <a:latin typeface="Calibri" charset="0"/>
                        <a:ea typeface="Calibri" charset="0"/>
                        <a:cs typeface="Calibri" charset="0"/>
                      </a:endParaRPr>
                    </a:p>
                  </a:txBody>
                  <a:tcPr marL="91440" marR="91440" marT="45720" marB="45720"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c>
                  <a:txBody>
                    <a:bodyPr/>
                    <a:lstStyle/>
                    <a:p>
                      <a:pPr indent="0" marL="0">
                        <a:buNone/>
                      </a:pPr>
                      <a:r>
                        <a:rPr lang="en-US" sz="1150" b="1" dirty="0">
                          <a:solidFill>
                            <a:srgbClr val="C25A2E"/>
                          </a:solidFill>
                          <a:latin typeface="Calibri" pitchFamily="34" charset="0"/>
                          <a:ea typeface="Calibri" pitchFamily="34" charset="-122"/>
                          <a:cs typeface="Calibri" pitchFamily="34" charset="-120"/>
                        </a:rPr>
                        <a:t>−3.90 pp</a:t>
                      </a:r>
                      <a:endParaRPr lang="en-US" sz="1150" dirty="0">
                        <a:latin typeface="Calibri" charset="0"/>
                        <a:ea typeface="Calibri" charset="0"/>
                        <a:cs typeface="Calibri" charset="0"/>
                      </a:endParaRPr>
                    </a:p>
                  </a:txBody>
                  <a:tcPr marL="91440" marR="91440" marT="45720" marB="45720"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c>
                  <a:txBody>
                    <a:bodyPr/>
                    <a:lstStyle/>
                    <a:p>
                      <a:pPr indent="0" marL="0">
                        <a:buNone/>
                      </a:pPr>
                      <a:r>
                        <a:rPr lang="en-US" sz="1150" b="1" dirty="0">
                          <a:solidFill>
                            <a:srgbClr val="1C3F5F"/>
                          </a:solidFill>
                          <a:latin typeface="Calibri" pitchFamily="34" charset="0"/>
                          <a:ea typeface="Calibri" pitchFamily="34" charset="-122"/>
                          <a:cs typeface="Calibri" pitchFamily="34" charset="-120"/>
                        </a:rPr>
                        <a:t>−0.03 pp</a:t>
                      </a:r>
                      <a:endParaRPr lang="en-US" sz="1150" dirty="0">
                        <a:latin typeface="Calibri" charset="0"/>
                        <a:ea typeface="Calibri" charset="0"/>
                        <a:cs typeface="Calibri" charset="0"/>
                      </a:endParaRPr>
                    </a:p>
                  </a:txBody>
                  <a:tcPr marL="91440" marR="91440" marT="45720" marB="45720"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r>
              <a:tr h="310896">
                <a:tc>
                  <a:txBody>
                    <a:bodyPr/>
                    <a:lstStyle/>
                    <a:p>
                      <a:pPr indent="0" marL="0">
                        <a:buNone/>
                      </a:pPr>
                      <a:r>
                        <a:rPr lang="en-US" sz="1150" dirty="0">
                          <a:solidFill>
                            <a:srgbClr val="22282E"/>
                          </a:solidFill>
                          <a:latin typeface="Calibri" pitchFamily="34" charset="0"/>
                          <a:ea typeface="Calibri" pitchFamily="34" charset="-122"/>
                          <a:cs typeface="Calibri" pitchFamily="34" charset="-120"/>
                        </a:rPr>
                        <a:t>Inflammation only</a:t>
                      </a:r>
                      <a:endParaRPr lang="en-US" sz="1150" dirty="0">
                        <a:latin typeface="Calibri" charset="0"/>
                        <a:ea typeface="Calibri" charset="0"/>
                        <a:cs typeface="Calibri" charset="0"/>
                      </a:endParaRPr>
                    </a:p>
                  </a:txBody>
                  <a:tcPr marL="91440" marR="91440" marT="45720" marB="45720"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c>
                  <a:txBody>
                    <a:bodyPr/>
                    <a:lstStyle/>
                    <a:p>
                      <a:pPr indent="0" marL="0">
                        <a:buNone/>
                      </a:pPr>
                      <a:r>
                        <a:rPr lang="en-US" sz="1150" dirty="0">
                          <a:solidFill>
                            <a:srgbClr val="22282E"/>
                          </a:solidFill>
                          <a:latin typeface="Calibri" pitchFamily="34" charset="0"/>
                          <a:ea typeface="Calibri" pitchFamily="34" charset="-122"/>
                          <a:cs typeface="Calibri" pitchFamily="34" charset="-120"/>
                        </a:rPr>
                        <a:t>−0.35 pp</a:t>
                      </a:r>
                      <a:endParaRPr lang="en-US" sz="1150" dirty="0">
                        <a:latin typeface="Calibri" charset="0"/>
                        <a:ea typeface="Calibri" charset="0"/>
                        <a:cs typeface="Calibri" charset="0"/>
                      </a:endParaRPr>
                    </a:p>
                  </a:txBody>
                  <a:tcPr marL="91440" marR="91440" marT="45720" marB="45720"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c>
                  <a:txBody>
                    <a:bodyPr/>
                    <a:lstStyle/>
                    <a:p>
                      <a:pPr indent="0" marL="0">
                        <a:buNone/>
                      </a:pPr>
                      <a:r>
                        <a:rPr lang="en-US" sz="1150" dirty="0">
                          <a:solidFill>
                            <a:srgbClr val="22282E"/>
                          </a:solidFill>
                          <a:latin typeface="Calibri" pitchFamily="34" charset="0"/>
                          <a:ea typeface="Calibri" pitchFamily="34" charset="-122"/>
                          <a:cs typeface="Calibri" pitchFamily="34" charset="-120"/>
                        </a:rPr>
                        <a:t>+0.01 pp</a:t>
                      </a:r>
                      <a:endParaRPr lang="en-US" sz="1150" dirty="0">
                        <a:latin typeface="Calibri" charset="0"/>
                        <a:ea typeface="Calibri" charset="0"/>
                        <a:cs typeface="Calibri" charset="0"/>
                      </a:endParaRPr>
                    </a:p>
                  </a:txBody>
                  <a:tcPr marL="91440" marR="91440" marT="45720" marB="45720"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r>
              <a:tr h="310896">
                <a:tc>
                  <a:txBody>
                    <a:bodyPr/>
                    <a:lstStyle/>
                    <a:p>
                      <a:pPr indent="0" marL="0">
                        <a:buNone/>
                      </a:pPr>
                      <a:r>
                        <a:rPr lang="en-US" sz="1150" dirty="0">
                          <a:solidFill>
                            <a:srgbClr val="22282E"/>
                          </a:solidFill>
                          <a:latin typeface="Calibri" pitchFamily="34" charset="0"/>
                          <a:ea typeface="Calibri" pitchFamily="34" charset="-122"/>
                          <a:cs typeface="Calibri" pitchFamily="34" charset="-120"/>
                        </a:rPr>
                        <a:t>Assay only</a:t>
                      </a:r>
                      <a:endParaRPr lang="en-US" sz="1150" dirty="0">
                        <a:latin typeface="Calibri" charset="0"/>
                        <a:ea typeface="Calibri" charset="0"/>
                        <a:cs typeface="Calibri" charset="0"/>
                      </a:endParaRPr>
                    </a:p>
                  </a:txBody>
                  <a:tcPr marL="91440" marR="91440" marT="45720" marB="45720"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c>
                  <a:txBody>
                    <a:bodyPr/>
                    <a:lstStyle/>
                    <a:p>
                      <a:pPr indent="0" marL="0">
                        <a:buNone/>
                      </a:pPr>
                      <a:r>
                        <a:rPr lang="en-US" sz="1150" dirty="0">
                          <a:solidFill>
                            <a:srgbClr val="22282E"/>
                          </a:solidFill>
                          <a:latin typeface="Calibri" pitchFamily="34" charset="0"/>
                          <a:ea typeface="Calibri" pitchFamily="34" charset="-122"/>
                          <a:cs typeface="Calibri" pitchFamily="34" charset="-120"/>
                        </a:rPr>
                        <a:t>0.00</a:t>
                      </a:r>
                      <a:endParaRPr lang="en-US" sz="1150" dirty="0">
                        <a:latin typeface="Calibri" charset="0"/>
                        <a:ea typeface="Calibri" charset="0"/>
                        <a:cs typeface="Calibri" charset="0"/>
                      </a:endParaRPr>
                    </a:p>
                  </a:txBody>
                  <a:tcPr marL="91440" marR="91440" marT="45720" marB="45720"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c>
                  <a:txBody>
                    <a:bodyPr/>
                    <a:lstStyle/>
                    <a:p>
                      <a:pPr indent="0" marL="0">
                        <a:buNone/>
                      </a:pPr>
                      <a:r>
                        <a:rPr lang="en-US" sz="1150" dirty="0">
                          <a:solidFill>
                            <a:srgbClr val="22282E"/>
                          </a:solidFill>
                          <a:latin typeface="Calibri" pitchFamily="34" charset="0"/>
                          <a:ea typeface="Calibri" pitchFamily="34" charset="-122"/>
                          <a:cs typeface="Calibri" pitchFamily="34" charset="-120"/>
                        </a:rPr>
                        <a:t>0.00</a:t>
                      </a:r>
                      <a:endParaRPr lang="en-US" sz="1150" dirty="0">
                        <a:latin typeface="Calibri" charset="0"/>
                        <a:ea typeface="Calibri" charset="0"/>
                        <a:cs typeface="Calibri" charset="0"/>
                      </a:endParaRPr>
                    </a:p>
                  </a:txBody>
                  <a:tcPr marL="91440" marR="91440" marT="45720" marB="45720"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r>
              <a:tr h="310896">
                <a:tc>
                  <a:txBody>
                    <a:bodyPr/>
                    <a:lstStyle/>
                    <a:p>
                      <a:pPr indent="0" marL="0">
                        <a:buNone/>
                      </a:pPr>
                      <a:r>
                        <a:rPr lang="en-US" sz="1150" dirty="0">
                          <a:solidFill>
                            <a:srgbClr val="22282E"/>
                          </a:solidFill>
                          <a:latin typeface="Calibri" pitchFamily="34" charset="0"/>
                          <a:ea typeface="Calibri" pitchFamily="34" charset="-122"/>
                          <a:cs typeface="Calibri" pitchFamily="34" charset="-120"/>
                        </a:rPr>
                        <a:t>Missingness only</a:t>
                      </a:r>
                      <a:endParaRPr lang="en-US" sz="1150" dirty="0">
                        <a:latin typeface="Calibri" charset="0"/>
                        <a:ea typeface="Calibri" charset="0"/>
                        <a:cs typeface="Calibri" charset="0"/>
                      </a:endParaRPr>
                    </a:p>
                  </a:txBody>
                  <a:tcPr marL="91440" marR="91440" marT="45720" marB="45720"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c>
                  <a:txBody>
                    <a:bodyPr/>
                    <a:lstStyle/>
                    <a:p>
                      <a:pPr indent="0" marL="0">
                        <a:buNone/>
                      </a:pPr>
                      <a:r>
                        <a:rPr lang="en-US" sz="1150" dirty="0">
                          <a:solidFill>
                            <a:srgbClr val="22282E"/>
                          </a:solidFill>
                          <a:latin typeface="Calibri" pitchFamily="34" charset="0"/>
                          <a:ea typeface="Calibri" pitchFamily="34" charset="-122"/>
                          <a:cs typeface="Calibri" pitchFamily="34" charset="-120"/>
                        </a:rPr>
                        <a:t>−4.26 pp</a:t>
                      </a:r>
                      <a:endParaRPr lang="en-US" sz="1150" dirty="0">
                        <a:latin typeface="Calibri" charset="0"/>
                        <a:ea typeface="Calibri" charset="0"/>
                        <a:cs typeface="Calibri" charset="0"/>
                      </a:endParaRPr>
                    </a:p>
                  </a:txBody>
                  <a:tcPr marL="91440" marR="91440" marT="45720" marB="45720"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c>
                  <a:txBody>
                    <a:bodyPr/>
                    <a:lstStyle/>
                    <a:p>
                      <a:pPr indent="0" marL="0">
                        <a:buNone/>
                      </a:pPr>
                      <a:r>
                        <a:rPr lang="en-US" sz="1150" dirty="0">
                          <a:solidFill>
                            <a:srgbClr val="22282E"/>
                          </a:solidFill>
                          <a:latin typeface="Calibri" pitchFamily="34" charset="0"/>
                          <a:ea typeface="Calibri" pitchFamily="34" charset="-122"/>
                          <a:cs typeface="Calibri" pitchFamily="34" charset="-120"/>
                        </a:rPr>
                        <a:t>−4.35 pp</a:t>
                      </a:r>
                      <a:endParaRPr lang="en-US" sz="1150" dirty="0">
                        <a:latin typeface="Calibri" charset="0"/>
                        <a:ea typeface="Calibri" charset="0"/>
                        <a:cs typeface="Calibri" charset="0"/>
                      </a:endParaRPr>
                    </a:p>
                  </a:txBody>
                  <a:tcPr marL="91440" marR="91440" marT="45720" marB="45720"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r>
              <a:tr h="310896">
                <a:tc>
                  <a:txBody>
                    <a:bodyPr/>
                    <a:lstStyle/>
                    <a:p>
                      <a:pPr indent="0" marL="0">
                        <a:buNone/>
                      </a:pPr>
                      <a:r>
                        <a:rPr lang="en-US" sz="1150" dirty="0">
                          <a:solidFill>
                            <a:srgbClr val="22282E"/>
                          </a:solidFill>
                          <a:latin typeface="Calibri" pitchFamily="34" charset="0"/>
                          <a:ea typeface="Calibri" pitchFamily="34" charset="-122"/>
                          <a:cs typeface="Calibri" pitchFamily="34" charset="-120"/>
                        </a:rPr>
                        <a:t>Combined strong</a:t>
                      </a:r>
                      <a:endParaRPr lang="en-US" sz="1150" dirty="0">
                        <a:latin typeface="Calibri" charset="0"/>
                        <a:ea typeface="Calibri" charset="0"/>
                        <a:cs typeface="Calibri" charset="0"/>
                      </a:endParaRPr>
                    </a:p>
                  </a:txBody>
                  <a:tcPr marL="91440" marR="91440" marT="45720" marB="45720"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c>
                  <a:txBody>
                    <a:bodyPr/>
                    <a:lstStyle/>
                    <a:p>
                      <a:pPr indent="0" marL="0">
                        <a:buNone/>
                      </a:pPr>
                      <a:r>
                        <a:rPr lang="en-US" sz="1150" dirty="0">
                          <a:solidFill>
                            <a:srgbClr val="22282E"/>
                          </a:solidFill>
                          <a:latin typeface="Calibri" pitchFamily="34" charset="0"/>
                          <a:ea typeface="Calibri" pitchFamily="34" charset="-122"/>
                          <a:cs typeface="Calibri" pitchFamily="34" charset="-120"/>
                        </a:rPr>
                        <a:t>−6.86 pp</a:t>
                      </a:r>
                      <a:endParaRPr lang="en-US" sz="1150" dirty="0">
                        <a:latin typeface="Calibri" charset="0"/>
                        <a:ea typeface="Calibri" charset="0"/>
                        <a:cs typeface="Calibri" charset="0"/>
                      </a:endParaRPr>
                    </a:p>
                  </a:txBody>
                  <a:tcPr marL="91440" marR="91440" marT="45720" marB="45720"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c>
                  <a:txBody>
                    <a:bodyPr/>
                    <a:lstStyle/>
                    <a:p>
                      <a:pPr indent="0" marL="0">
                        <a:buNone/>
                      </a:pPr>
                      <a:r>
                        <a:rPr lang="en-US" sz="1150" dirty="0">
                          <a:solidFill>
                            <a:srgbClr val="22282E"/>
                          </a:solidFill>
                          <a:latin typeface="Calibri" pitchFamily="34" charset="0"/>
                          <a:ea typeface="Calibri" pitchFamily="34" charset="-122"/>
                          <a:cs typeface="Calibri" pitchFamily="34" charset="-120"/>
                        </a:rPr>
                        <a:t>−3.92 pp</a:t>
                      </a:r>
                      <a:endParaRPr lang="en-US" sz="1150" dirty="0">
                        <a:latin typeface="Calibri" charset="0"/>
                        <a:ea typeface="Calibri" charset="0"/>
                        <a:cs typeface="Calibri" charset="0"/>
                      </a:endParaRPr>
                    </a:p>
                  </a:txBody>
                  <a:tcPr marL="91440" marR="91440" marT="45720" marB="45720"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r>
            </a:tbl>
          </a:graphicData>
        </a:graphic>
      </p:graphicFrame>
      <p:sp>
        <p:nvSpPr>
          <p:cNvPr id="7" name="Shape 3"/>
          <p:cNvSpPr/>
          <p:nvPr/>
        </p:nvSpPr>
        <p:spPr>
          <a:xfrm>
            <a:off x="6812280" y="3127248"/>
            <a:ext cx="4800600" cy="1170432"/>
          </a:xfrm>
          <a:prstGeom prst="roundRect">
            <a:avLst>
              <a:gd name="adj" fmla="val 4688"/>
            </a:avLst>
          </a:prstGeom>
          <a:solidFill>
            <a:srgbClr val="F0F5F3"/>
          </a:solidFill>
          <a:ln w="12700">
            <a:solidFill>
              <a:srgbClr val="2A7F7F"/>
            </a:solidFill>
            <a:prstDash val="solid"/>
          </a:ln>
        </p:spPr>
      </p:sp>
      <p:sp>
        <p:nvSpPr>
          <p:cNvPr id="8" name="Text 4"/>
          <p:cNvSpPr/>
          <p:nvPr/>
        </p:nvSpPr>
        <p:spPr>
          <a:xfrm>
            <a:off x="7040880" y="3236976"/>
            <a:ext cx="4389120" cy="274320"/>
          </a:xfrm>
          <a:prstGeom prst="rect">
            <a:avLst/>
          </a:prstGeom>
          <a:noFill/>
          <a:ln/>
        </p:spPr>
        <p:txBody>
          <a:bodyPr wrap="square" lIns="0" tIns="0" rIns="0" bIns="0" rtlCol="0" anchor="ctr"/>
          <a:lstStyle/>
          <a:p>
            <a:pPr indent="0" marL="0">
              <a:buNone/>
            </a:pPr>
            <a:r>
              <a:rPr lang="en-US" sz="1250" b="1" dirty="0">
                <a:solidFill>
                  <a:srgbClr val="2A7F7F"/>
                </a:solidFill>
                <a:latin typeface="Calibri" pitchFamily="34" charset="0"/>
                <a:ea typeface="Calibri" pitchFamily="34" charset="-122"/>
                <a:cs typeface="Calibri" pitchFamily="34" charset="-120"/>
              </a:rPr>
              <a:t>The clean win</a:t>
            </a:r>
            <a:endParaRPr lang="en-US" sz="1250" dirty="0"/>
          </a:p>
        </p:txBody>
      </p:sp>
      <p:sp>
        <p:nvSpPr>
          <p:cNvPr id="9" name="Text 5"/>
          <p:cNvSpPr/>
          <p:nvPr/>
        </p:nvSpPr>
        <p:spPr>
          <a:xfrm>
            <a:off x="7040880" y="3529584"/>
            <a:ext cx="4389120" cy="713232"/>
          </a:xfrm>
          <a:prstGeom prst="rect">
            <a:avLst/>
          </a:prstGeom>
          <a:noFill/>
          <a:ln/>
        </p:spPr>
        <p:txBody>
          <a:bodyPr wrap="square" lIns="0" tIns="0" rIns="0" bIns="0" rtlCol="0" anchor="ctr"/>
          <a:lstStyle/>
          <a:p>
            <a:pPr indent="0" marL="0">
              <a:lnSpc>
                <a:spcPts val="1500"/>
              </a:lnSpc>
              <a:buNone/>
            </a:pPr>
            <a:r>
              <a:rPr lang="en-US" sz="1150" dirty="0">
                <a:solidFill>
                  <a:srgbClr val="22282E"/>
                </a:solidFill>
                <a:latin typeface="Calibri" pitchFamily="34" charset="0"/>
                <a:ea typeface="Calibri" pitchFamily="34" charset="-122"/>
                <a:cs typeface="Calibri" pitchFamily="34" charset="-120"/>
              </a:rPr>
              <a:t>Under a kidney-only shift the modular causal model is effectively immune — it loses 0.03 pp where pooled association loses 3.90. Sharpest single-component evidence we have.</a:t>
            </a:r>
            <a:endParaRPr lang="en-US" sz="1150" dirty="0"/>
          </a:p>
        </p:txBody>
      </p:sp>
      <p:sp>
        <p:nvSpPr>
          <p:cNvPr id="10" name="Shape 6"/>
          <p:cNvSpPr/>
          <p:nvPr/>
        </p:nvSpPr>
        <p:spPr>
          <a:xfrm>
            <a:off x="6812280" y="4434840"/>
            <a:ext cx="4800600" cy="1691640"/>
          </a:xfrm>
          <a:prstGeom prst="roundRect">
            <a:avLst>
              <a:gd name="adj" fmla="val 3243"/>
            </a:avLst>
          </a:prstGeom>
          <a:solidFill>
            <a:srgbClr val="FDF6F2"/>
          </a:solidFill>
          <a:ln w="12700">
            <a:solidFill>
              <a:srgbClr val="C25A2E"/>
            </a:solidFill>
            <a:prstDash val="solid"/>
          </a:ln>
        </p:spPr>
      </p:sp>
      <p:sp>
        <p:nvSpPr>
          <p:cNvPr id="11" name="Text 7"/>
          <p:cNvSpPr/>
          <p:nvPr/>
        </p:nvSpPr>
        <p:spPr>
          <a:xfrm>
            <a:off x="7040880" y="4553712"/>
            <a:ext cx="4389120" cy="274320"/>
          </a:xfrm>
          <a:prstGeom prst="rect">
            <a:avLst/>
          </a:prstGeom>
          <a:noFill/>
          <a:ln/>
        </p:spPr>
        <p:txBody>
          <a:bodyPr wrap="square" lIns="0" tIns="0" rIns="0" bIns="0" rtlCol="0" anchor="ctr"/>
          <a:lstStyle/>
          <a:p>
            <a:pPr indent="0" marL="0">
              <a:buNone/>
            </a:pPr>
            <a:r>
              <a:rPr lang="en-US" sz="1250" b="1" dirty="0">
                <a:solidFill>
                  <a:srgbClr val="C25A2E"/>
                </a:solidFill>
                <a:latin typeface="Calibri" pitchFamily="34" charset="0"/>
                <a:ea typeface="Calibri" pitchFamily="34" charset="-122"/>
                <a:cs typeface="Calibri" pitchFamily="34" charset="-120"/>
              </a:rPr>
              <a:t>Two caveats I want on the record</a:t>
            </a:r>
            <a:endParaRPr lang="en-US" sz="1250" dirty="0"/>
          </a:p>
        </p:txBody>
      </p:sp>
      <p:sp>
        <p:nvSpPr>
          <p:cNvPr id="12" name="Text 8"/>
          <p:cNvSpPr/>
          <p:nvPr/>
        </p:nvSpPr>
        <p:spPr>
          <a:xfrm>
            <a:off x="7040880" y="4846320"/>
            <a:ext cx="4389120" cy="1188720"/>
          </a:xfrm>
          <a:prstGeom prst="rect">
            <a:avLst/>
          </a:prstGeom>
          <a:noFill/>
          <a:ln/>
        </p:spPr>
        <p:txBody>
          <a:bodyPr wrap="square" lIns="0" tIns="0" rIns="0" bIns="0" rtlCol="0" anchor="ctr"/>
          <a:lstStyle/>
          <a:p>
            <a:pPr marL="342900" indent="-342900">
              <a:lnSpc>
                <a:spcPts val="1400"/>
              </a:lnSpc>
              <a:spcAft>
                <a:spcPts val="700"/>
              </a:spcAft>
              <a:buSzPct val="100000"/>
              <a:buChar char="•"/>
            </a:pPr>
            <a:r>
              <a:rPr lang="en-US" sz="1100" dirty="0">
                <a:solidFill>
                  <a:srgbClr val="22282E"/>
                </a:solidFill>
                <a:latin typeface="Calibri" pitchFamily="34" charset="0"/>
                <a:ea typeface="Calibri" pitchFamily="34" charset="-122"/>
                <a:cs typeface="Calibri" pitchFamily="34" charset="-120"/>
              </a:rPr>
              <a:t>Assay-only is exactly 0.00 for every method by construction — calibration metadata is handed to all of them. The panel is vacuous. Re-run with unknown calibration or drop it.</a:t>
            </a:r>
            <a:endParaRPr lang="en-US" sz="1100" dirty="0"/>
          </a:p>
          <a:p>
            <a:pPr marL="342900" indent="-342900">
              <a:lnSpc>
                <a:spcPts val="1400"/>
              </a:lnSpc>
              <a:buSzPct val="100000"/>
              <a:buChar char="•"/>
            </a:pPr>
            <a:r>
              <a:rPr lang="en-US" sz="1100" dirty="0">
                <a:solidFill>
                  <a:srgbClr val="22282E"/>
                </a:solidFill>
                <a:latin typeface="Calibri" pitchFamily="34" charset="0"/>
                <a:ea typeface="Calibri" pitchFamily="34" charset="-122"/>
                <a:cs typeface="Calibri" pitchFamily="34" charset="-120"/>
              </a:rPr>
              <a:t>Missingness hurts everyone equally, including the oracle. That is irreducible information loss, not a modelling failure — frame it that way.</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11064240" cy="256032"/>
          </a:xfrm>
          <a:prstGeom prst="rect">
            <a:avLst/>
          </a:prstGeom>
          <a:noFill/>
          <a:ln/>
        </p:spPr>
        <p:txBody>
          <a:bodyPr wrap="square" lIns="0" tIns="0" rIns="0" bIns="0" rtlCol="0" anchor="ctr"/>
          <a:lstStyle/>
          <a:p>
            <a:pPr indent="0" marL="0">
              <a:buNone/>
            </a:pPr>
            <a:r>
              <a:rPr lang="en-US" sz="1100" b="1" spc="200" kern="0" dirty="0">
                <a:solidFill>
                  <a:srgbClr val="C25A2E"/>
                </a:solidFill>
                <a:latin typeface="Calibri" pitchFamily="34" charset="0"/>
                <a:ea typeface="Calibri" pitchFamily="34" charset="-122"/>
                <a:cs typeface="Calibri" pitchFamily="34" charset="-120"/>
              </a:rPr>
              <a:t>SUPPORTING  ·  ARCADIA FEASIBILITY SIMULATION</a:t>
            </a:r>
            <a:endParaRPr lang="en-US" sz="1100" dirty="0"/>
          </a:p>
        </p:txBody>
      </p:sp>
      <p:sp>
        <p:nvSpPr>
          <p:cNvPr id="3" name="Text 1"/>
          <p:cNvSpPr/>
          <p:nvPr/>
        </p:nvSpPr>
        <p:spPr>
          <a:xfrm>
            <a:off x="548640" y="585216"/>
            <a:ext cx="11064240" cy="566928"/>
          </a:xfrm>
          <a:prstGeom prst="rect">
            <a:avLst/>
          </a:prstGeom>
          <a:noFill/>
          <a:ln/>
        </p:spPr>
        <p:txBody>
          <a:bodyPr wrap="square" lIns="0" tIns="0" rIns="0" bIns="0" rtlCol="0" anchor="ctr"/>
          <a:lstStyle/>
          <a:p>
            <a:pPr indent="0" marL="0">
              <a:buNone/>
            </a:pPr>
            <a:r>
              <a:rPr lang="en-US" sz="2900" b="1" dirty="0">
                <a:solidFill>
                  <a:srgbClr val="1C3F5F"/>
                </a:solidFill>
                <a:latin typeface="Cambria" pitchFamily="34" charset="0"/>
                <a:ea typeface="Cambria" pitchFamily="34" charset="-122"/>
                <a:cs typeface="Cambria" pitchFamily="34" charset="-120"/>
              </a:rPr>
              <a:t>Result 4 — ARCADIA can support mechanism work, not a confirmatory subgroup claim</a:t>
            </a:r>
            <a:endParaRPr lang="en-US" sz="2900" dirty="0"/>
          </a:p>
        </p:txBody>
      </p:sp>
      <p:sp>
        <p:nvSpPr>
          <p:cNvPr id="4" name="Text 2"/>
          <p:cNvSpPr/>
          <p:nvPr/>
        </p:nvSpPr>
        <p:spPr>
          <a:xfrm>
            <a:off x="548640" y="1188720"/>
            <a:ext cx="11064240" cy="365760"/>
          </a:xfrm>
          <a:prstGeom prst="rect">
            <a:avLst/>
          </a:prstGeom>
          <a:noFill/>
          <a:ln/>
        </p:spPr>
        <p:txBody>
          <a:bodyPr wrap="square" lIns="0" tIns="0" rIns="0" bIns="0" rtlCol="0" anchor="ctr"/>
          <a:lstStyle/>
          <a:p>
            <a:pPr indent="0" marL="0">
              <a:buNone/>
            </a:pPr>
            <a:r>
              <a:rPr lang="en-US" sz="1400" dirty="0">
                <a:solidFill>
                  <a:srgbClr val="22282E"/>
                </a:solidFill>
                <a:latin typeface="Calibri" pitchFamily="34" charset="0"/>
                <a:ea typeface="Calibri" pitchFamily="34" charset="-122"/>
                <a:cs typeface="Calibri" pitchFamily="34" charset="-120"/>
              </a:rPr>
              <a:t>2,000 replications per K. We rebuilt an ARCADIA-sized trial thousands of times and asked: if a responder subgroup were real, would we see it?</a:t>
            </a:r>
            <a:endParaRPr lang="en-US" sz="1400" dirty="0"/>
          </a:p>
        </p:txBody>
      </p:sp>
      <p:sp>
        <p:nvSpPr>
          <p:cNvPr id="5" name="Text 3"/>
          <p:cNvSpPr/>
          <p:nvPr/>
        </p:nvSpPr>
        <p:spPr>
          <a:xfrm>
            <a:off x="548640" y="1755648"/>
            <a:ext cx="2651760" cy="713232"/>
          </a:xfrm>
          <a:prstGeom prst="rect">
            <a:avLst/>
          </a:prstGeom>
          <a:noFill/>
          <a:ln/>
        </p:spPr>
        <p:txBody>
          <a:bodyPr wrap="square" lIns="0" tIns="0" rIns="0" bIns="0" rtlCol="0" anchor="ctr"/>
          <a:lstStyle/>
          <a:p>
            <a:pPr algn="ctr" indent="0" marL="0">
              <a:buNone/>
            </a:pPr>
            <a:r>
              <a:rPr lang="en-US" sz="4000" b="1" dirty="0">
                <a:solidFill>
                  <a:srgbClr val="1C3F5F"/>
                </a:solidFill>
                <a:latin typeface="Cambria" pitchFamily="34" charset="0"/>
                <a:ea typeface="Cambria" pitchFamily="34" charset="-122"/>
                <a:cs typeface="Cambria" pitchFamily="34" charset="-120"/>
              </a:rPr>
              <a:t>1,015</a:t>
            </a:r>
            <a:endParaRPr lang="en-US" sz="4000" dirty="0"/>
          </a:p>
        </p:txBody>
      </p:sp>
      <p:sp>
        <p:nvSpPr>
          <p:cNvPr id="6" name="Text 4"/>
          <p:cNvSpPr/>
          <p:nvPr/>
        </p:nvSpPr>
        <p:spPr>
          <a:xfrm>
            <a:off x="548640" y="2468880"/>
            <a:ext cx="2651760" cy="566928"/>
          </a:xfrm>
          <a:prstGeom prst="rect">
            <a:avLst/>
          </a:prstGeom>
          <a:noFill/>
          <a:ln/>
        </p:spPr>
        <p:txBody>
          <a:bodyPr wrap="square" lIns="0" tIns="0" rIns="0" bIns="0" rtlCol="0" anchor="ctr"/>
          <a:lstStyle/>
          <a:p>
            <a:pPr algn="ctr" indent="0" marL="0">
              <a:lnSpc>
                <a:spcPts val="1400"/>
              </a:lnSpc>
              <a:buNone/>
            </a:pPr>
            <a:r>
              <a:rPr lang="en-US" sz="1150" dirty="0">
                <a:solidFill>
                  <a:srgbClr val="6B7885"/>
                </a:solidFill>
                <a:latin typeface="Calibri" pitchFamily="34" charset="0"/>
                <a:ea typeface="Calibri" pitchFamily="34" charset="-122"/>
                <a:cs typeface="Calibri" pitchFamily="34" charset="-120"/>
              </a:rPr>
              <a:t>randomized (507 / 508)</a:t>
            </a:r>
            <a:endParaRPr lang="en-US" sz="1150" dirty="0"/>
          </a:p>
        </p:txBody>
      </p:sp>
      <p:sp>
        <p:nvSpPr>
          <p:cNvPr id="7" name="Text 5"/>
          <p:cNvSpPr/>
          <p:nvPr/>
        </p:nvSpPr>
        <p:spPr>
          <a:xfrm>
            <a:off x="3346704" y="1755648"/>
            <a:ext cx="2651760" cy="713232"/>
          </a:xfrm>
          <a:prstGeom prst="rect">
            <a:avLst/>
          </a:prstGeom>
          <a:noFill/>
          <a:ln/>
        </p:spPr>
        <p:txBody>
          <a:bodyPr wrap="square" lIns="0" tIns="0" rIns="0" bIns="0" rtlCol="0" anchor="ctr"/>
          <a:lstStyle/>
          <a:p>
            <a:pPr algn="ctr" indent="0" marL="0">
              <a:buNone/>
            </a:pPr>
            <a:r>
              <a:rPr lang="en-US" sz="4000" b="1" dirty="0">
                <a:solidFill>
                  <a:srgbClr val="1C3F5F"/>
                </a:solidFill>
                <a:latin typeface="Cambria" pitchFamily="34" charset="0"/>
                <a:ea typeface="Cambria" pitchFamily="34" charset="-122"/>
                <a:cs typeface="Cambria" pitchFamily="34" charset="-120"/>
              </a:rPr>
              <a:t>~80</a:t>
            </a:r>
            <a:endParaRPr lang="en-US" sz="4000" dirty="0"/>
          </a:p>
        </p:txBody>
      </p:sp>
      <p:sp>
        <p:nvSpPr>
          <p:cNvPr id="8" name="Text 6"/>
          <p:cNvSpPr/>
          <p:nvPr/>
        </p:nvSpPr>
        <p:spPr>
          <a:xfrm>
            <a:off x="3346704" y="2468880"/>
            <a:ext cx="2651760" cy="566928"/>
          </a:xfrm>
          <a:prstGeom prst="rect">
            <a:avLst/>
          </a:prstGeom>
          <a:noFill/>
          <a:ln/>
        </p:spPr>
        <p:txBody>
          <a:bodyPr wrap="square" lIns="0" tIns="0" rIns="0" bIns="0" rtlCol="0" anchor="ctr"/>
          <a:lstStyle/>
          <a:p>
            <a:pPr algn="ctr" indent="0" marL="0">
              <a:lnSpc>
                <a:spcPts val="1400"/>
              </a:lnSpc>
              <a:buNone/>
            </a:pPr>
            <a:r>
              <a:rPr lang="en-US" sz="1150" dirty="0">
                <a:solidFill>
                  <a:srgbClr val="6B7885"/>
                </a:solidFill>
                <a:latin typeface="Calibri" pitchFamily="34" charset="0"/>
                <a:ea typeface="Calibri" pitchFamily="34" charset="-122"/>
                <a:cs typeface="Calibri" pitchFamily="34" charset="-120"/>
              </a:rPr>
              <a:t>recurrent strokes total</a:t>
            </a:r>
            <a:endParaRPr lang="en-US" sz="1150" dirty="0"/>
          </a:p>
          <a:p>
            <a:pPr algn="ctr" indent="0" marL="0">
              <a:lnSpc>
                <a:spcPts val="1400"/>
              </a:lnSpc>
              <a:buNone/>
            </a:pPr>
            <a:r>
              <a:rPr lang="en-US" sz="1150" dirty="0">
                <a:solidFill>
                  <a:srgbClr val="6B7885"/>
                </a:solidFill>
                <a:latin typeface="Calibri" pitchFamily="34" charset="0"/>
                <a:ea typeface="Calibri" pitchFamily="34" charset="-122"/>
                <a:cs typeface="Calibri" pitchFamily="34" charset="-120"/>
              </a:rPr>
              <a:t>(40 per arm)</a:t>
            </a:r>
            <a:endParaRPr lang="en-US" sz="1150" dirty="0"/>
          </a:p>
        </p:txBody>
      </p:sp>
      <p:sp>
        <p:nvSpPr>
          <p:cNvPr id="9" name="Text 7"/>
          <p:cNvSpPr/>
          <p:nvPr/>
        </p:nvSpPr>
        <p:spPr>
          <a:xfrm>
            <a:off x="6144768" y="1755648"/>
            <a:ext cx="2651760" cy="713232"/>
          </a:xfrm>
          <a:prstGeom prst="rect">
            <a:avLst/>
          </a:prstGeom>
          <a:noFill/>
          <a:ln/>
        </p:spPr>
        <p:txBody>
          <a:bodyPr wrap="square" lIns="0" tIns="0" rIns="0" bIns="0" rtlCol="0" anchor="ctr"/>
          <a:lstStyle/>
          <a:p>
            <a:pPr algn="ctr" indent="0" marL="0">
              <a:buNone/>
            </a:pPr>
            <a:r>
              <a:rPr lang="en-US" sz="4000" b="1" dirty="0">
                <a:solidFill>
                  <a:srgbClr val="1C3F5F"/>
                </a:solidFill>
                <a:latin typeface="Cambria" pitchFamily="34" charset="0"/>
                <a:ea typeface="Cambria" pitchFamily="34" charset="-122"/>
                <a:cs typeface="Cambria" pitchFamily="34" charset="-120"/>
              </a:rPr>
              <a:t>~71</a:t>
            </a:r>
            <a:endParaRPr lang="en-US" sz="4000" dirty="0"/>
          </a:p>
        </p:txBody>
      </p:sp>
      <p:sp>
        <p:nvSpPr>
          <p:cNvPr id="10" name="Text 8"/>
          <p:cNvSpPr/>
          <p:nvPr/>
        </p:nvSpPr>
        <p:spPr>
          <a:xfrm>
            <a:off x="6144768" y="2468880"/>
            <a:ext cx="2651760" cy="566928"/>
          </a:xfrm>
          <a:prstGeom prst="rect">
            <a:avLst/>
          </a:prstGeom>
          <a:noFill/>
          <a:ln/>
        </p:spPr>
        <p:txBody>
          <a:bodyPr wrap="square" lIns="0" tIns="0" rIns="0" bIns="0" rtlCol="0" anchor="ctr"/>
          <a:lstStyle/>
          <a:p>
            <a:pPr algn="ctr" indent="0" marL="0">
              <a:lnSpc>
                <a:spcPts val="1400"/>
              </a:lnSpc>
              <a:buNone/>
            </a:pPr>
            <a:r>
              <a:rPr lang="en-US" sz="1150" dirty="0">
                <a:solidFill>
                  <a:srgbClr val="6B7885"/>
                </a:solidFill>
                <a:latin typeface="Calibri" pitchFamily="34" charset="0"/>
                <a:ea typeface="Calibri" pitchFamily="34" charset="-122"/>
                <a:cs typeface="Calibri" pitchFamily="34" charset="-120"/>
              </a:rPr>
              <a:t>events by the 2-year</a:t>
            </a:r>
            <a:endParaRPr lang="en-US" sz="1150" dirty="0"/>
          </a:p>
          <a:p>
            <a:pPr algn="ctr" indent="0" marL="0">
              <a:lnSpc>
                <a:spcPts val="1400"/>
              </a:lnSpc>
              <a:buNone/>
            </a:pPr>
            <a:r>
              <a:rPr lang="en-US" sz="1150" dirty="0">
                <a:solidFill>
                  <a:srgbClr val="6B7885"/>
                </a:solidFill>
                <a:latin typeface="Calibri" pitchFamily="34" charset="0"/>
                <a:ea typeface="Calibri" pitchFamily="34" charset="-122"/>
                <a:cs typeface="Calibri" pitchFamily="34" charset="-120"/>
              </a:rPr>
              <a:t>analysis horizon</a:t>
            </a:r>
            <a:endParaRPr lang="en-US" sz="1150" dirty="0"/>
          </a:p>
        </p:txBody>
      </p:sp>
      <p:sp>
        <p:nvSpPr>
          <p:cNvPr id="11" name="Text 9"/>
          <p:cNvSpPr/>
          <p:nvPr/>
        </p:nvSpPr>
        <p:spPr>
          <a:xfrm>
            <a:off x="8961120" y="1755648"/>
            <a:ext cx="2651760" cy="713232"/>
          </a:xfrm>
          <a:prstGeom prst="rect">
            <a:avLst/>
          </a:prstGeom>
          <a:noFill/>
          <a:ln/>
        </p:spPr>
        <p:txBody>
          <a:bodyPr wrap="square" lIns="0" tIns="0" rIns="0" bIns="0" rtlCol="0" anchor="ctr"/>
          <a:lstStyle/>
          <a:p>
            <a:pPr algn="ctr" indent="0" marL="0">
              <a:buNone/>
            </a:pPr>
            <a:r>
              <a:rPr lang="en-US" sz="4000" b="1" dirty="0">
                <a:solidFill>
                  <a:srgbClr val="C25A2E"/>
                </a:solidFill>
                <a:latin typeface="Cambria" pitchFamily="34" charset="0"/>
                <a:ea typeface="Cambria" pitchFamily="34" charset="-122"/>
                <a:cs typeface="Cambria" pitchFamily="34" charset="-120"/>
              </a:rPr>
              <a:t>6.4–9.3%</a:t>
            </a:r>
            <a:endParaRPr lang="en-US" sz="4000" dirty="0"/>
          </a:p>
        </p:txBody>
      </p:sp>
      <p:sp>
        <p:nvSpPr>
          <p:cNvPr id="12" name="Text 10"/>
          <p:cNvSpPr/>
          <p:nvPr/>
        </p:nvSpPr>
        <p:spPr>
          <a:xfrm>
            <a:off x="8961120" y="2468880"/>
            <a:ext cx="2651760" cy="566928"/>
          </a:xfrm>
          <a:prstGeom prst="rect">
            <a:avLst/>
          </a:prstGeom>
          <a:noFill/>
          <a:ln/>
        </p:spPr>
        <p:txBody>
          <a:bodyPr wrap="square" lIns="0" tIns="0" rIns="0" bIns="0" rtlCol="0" anchor="ctr"/>
          <a:lstStyle/>
          <a:p>
            <a:pPr algn="ctr" indent="0" marL="0">
              <a:lnSpc>
                <a:spcPts val="1400"/>
              </a:lnSpc>
              <a:buNone/>
            </a:pPr>
            <a:r>
              <a:rPr lang="en-US" sz="1150" dirty="0">
                <a:solidFill>
                  <a:srgbClr val="6B7885"/>
                </a:solidFill>
                <a:latin typeface="Calibri" pitchFamily="34" charset="0"/>
                <a:ea typeface="Calibri" pitchFamily="34" charset="-122"/>
                <a:cs typeface="Calibri" pitchFamily="34" charset="-120"/>
              </a:rPr>
              <a:t>power to detect a real</a:t>
            </a:r>
            <a:endParaRPr lang="en-US" sz="1150" dirty="0"/>
          </a:p>
          <a:p>
            <a:pPr algn="ctr" indent="0" marL="0">
              <a:lnSpc>
                <a:spcPts val="1400"/>
              </a:lnSpc>
              <a:buNone/>
            </a:pPr>
            <a:r>
              <a:rPr lang="en-US" sz="1150" dirty="0">
                <a:solidFill>
                  <a:srgbClr val="6B7885"/>
                </a:solidFill>
                <a:latin typeface="Calibri" pitchFamily="34" charset="0"/>
                <a:ea typeface="Calibri" pitchFamily="34" charset="-122"/>
                <a:cs typeface="Calibri" pitchFamily="34" charset="-120"/>
              </a:rPr>
              <a:t>treatment × endotype effect</a:t>
            </a:r>
            <a:endParaRPr lang="en-US" sz="1150" dirty="0"/>
          </a:p>
        </p:txBody>
      </p:sp>
      <p:sp>
        <p:nvSpPr>
          <p:cNvPr id="13" name="Shape 11"/>
          <p:cNvSpPr/>
          <p:nvPr/>
        </p:nvSpPr>
        <p:spPr>
          <a:xfrm>
            <a:off x="548640" y="3401568"/>
            <a:ext cx="5440680" cy="1874520"/>
          </a:xfrm>
          <a:prstGeom prst="roundRect">
            <a:avLst>
              <a:gd name="adj" fmla="val 2927"/>
            </a:avLst>
          </a:prstGeom>
          <a:solidFill>
            <a:srgbClr val="F5F7F9"/>
          </a:solidFill>
          <a:ln w="12700">
            <a:solidFill>
              <a:srgbClr val="2A7F7F"/>
            </a:solidFill>
            <a:prstDash val="solid"/>
          </a:ln>
        </p:spPr>
      </p:sp>
      <p:sp>
        <p:nvSpPr>
          <p:cNvPr id="14" name="Text 12"/>
          <p:cNvSpPr/>
          <p:nvPr/>
        </p:nvSpPr>
        <p:spPr>
          <a:xfrm>
            <a:off x="868680" y="3547872"/>
            <a:ext cx="4846320" cy="320040"/>
          </a:xfrm>
          <a:prstGeom prst="rect">
            <a:avLst/>
          </a:prstGeom>
          <a:noFill/>
          <a:ln/>
        </p:spPr>
        <p:txBody>
          <a:bodyPr wrap="square" lIns="0" tIns="0" rIns="0" bIns="0" rtlCol="0" anchor="ctr"/>
          <a:lstStyle/>
          <a:p>
            <a:pPr indent="0" marL="0">
              <a:buNone/>
            </a:pPr>
            <a:r>
              <a:rPr lang="en-US" sz="1250" b="1" dirty="0">
                <a:solidFill>
                  <a:srgbClr val="2A7F7F"/>
                </a:solidFill>
                <a:latin typeface="Calibri" pitchFamily="34" charset="0"/>
                <a:ea typeface="Calibri" pitchFamily="34" charset="-122"/>
                <a:cs typeface="Calibri" pitchFamily="34" charset="-120"/>
              </a:rPr>
              <a:t>The test is calibrated — so this is an information limit</a:t>
            </a:r>
            <a:endParaRPr lang="en-US" sz="1250" dirty="0"/>
          </a:p>
        </p:txBody>
      </p:sp>
      <p:sp>
        <p:nvSpPr>
          <p:cNvPr id="15" name="Text 13"/>
          <p:cNvSpPr/>
          <p:nvPr/>
        </p:nvSpPr>
        <p:spPr>
          <a:xfrm>
            <a:off x="868680" y="3895344"/>
            <a:ext cx="4846320" cy="1280160"/>
          </a:xfrm>
          <a:prstGeom prst="rect">
            <a:avLst/>
          </a:prstGeom>
          <a:noFill/>
          <a:ln/>
        </p:spPr>
        <p:txBody>
          <a:bodyPr wrap="square" lIns="0" tIns="0" rIns="0" bIns="0" rtlCol="0" anchor="ctr"/>
          <a:lstStyle/>
          <a:p>
            <a:pPr marL="342900" indent="-342900">
              <a:lnSpc>
                <a:spcPts val="1500"/>
              </a:lnSpc>
              <a:spcAft>
                <a:spcPts val="700"/>
              </a:spcAft>
              <a:buSzPct val="100000"/>
              <a:buChar char="•"/>
            </a:pPr>
            <a:r>
              <a:rPr lang="en-US" sz="1150" dirty="0">
                <a:solidFill>
                  <a:srgbClr val="22282E"/>
                </a:solidFill>
                <a:latin typeface="Calibri" pitchFamily="34" charset="0"/>
                <a:ea typeface="Calibri" pitchFamily="34" charset="-122"/>
                <a:cs typeface="Calibri" pitchFamily="34" charset="-120"/>
              </a:rPr>
              <a:t>Type-I error 5.0 / 5.3 / 4.4 / 4.8% for K = 2–5</a:t>
            </a:r>
            <a:endParaRPr lang="en-US" sz="1150" dirty="0"/>
          </a:p>
          <a:p>
            <a:pPr marL="342900" indent="-342900">
              <a:lnSpc>
                <a:spcPts val="1500"/>
              </a:lnSpc>
              <a:spcAft>
                <a:spcPts val="700"/>
              </a:spcAft>
              <a:buSzPct val="100000"/>
              <a:buChar char="•"/>
            </a:pPr>
            <a:r>
              <a:rPr lang="en-US" sz="1150" dirty="0">
                <a:solidFill>
                  <a:srgbClr val="22282E"/>
                </a:solidFill>
                <a:latin typeface="Calibri" pitchFamily="34" charset="0"/>
                <a:ea typeface="Calibri" pitchFamily="34" charset="-122"/>
                <a:cs typeface="Calibri" pitchFamily="34" charset="-120"/>
              </a:rPr>
              <a:t>95% CI coverage 95.1 / 94.7 / 95.6 / 95.2%</a:t>
            </a:r>
            <a:endParaRPr lang="en-US" sz="1150" dirty="0"/>
          </a:p>
          <a:p>
            <a:pPr marL="342900" indent="-342900">
              <a:lnSpc>
                <a:spcPts val="1500"/>
              </a:lnSpc>
              <a:buSzPct val="100000"/>
              <a:buChar char="•"/>
            </a:pPr>
            <a:r>
              <a:rPr lang="en-US" sz="1150" dirty="0">
                <a:solidFill>
                  <a:srgbClr val="22282E"/>
                </a:solidFill>
                <a:latin typeface="Calibri" pitchFamily="34" charset="0"/>
                <a:ea typeface="Calibri" pitchFamily="34" charset="-122"/>
                <a:cs typeface="Calibri" pitchFamily="34" charset="-120"/>
              </a:rPr>
              <a:t>Best sensitivity corner tested (K=2, HR 0.50, strong separation): 18.0% — still far below the 80% gate</a:t>
            </a:r>
            <a:endParaRPr lang="en-US" sz="1150" dirty="0"/>
          </a:p>
        </p:txBody>
      </p:sp>
      <p:sp>
        <p:nvSpPr>
          <p:cNvPr id="16" name="Shape 14"/>
          <p:cNvSpPr/>
          <p:nvPr/>
        </p:nvSpPr>
        <p:spPr>
          <a:xfrm>
            <a:off x="6172200" y="3401568"/>
            <a:ext cx="5440680" cy="1874520"/>
          </a:xfrm>
          <a:prstGeom prst="roundRect">
            <a:avLst>
              <a:gd name="adj" fmla="val 2927"/>
            </a:avLst>
          </a:prstGeom>
          <a:solidFill>
            <a:srgbClr val="FDF6F2"/>
          </a:solidFill>
          <a:ln w="12700">
            <a:solidFill>
              <a:srgbClr val="C25A2E"/>
            </a:solidFill>
            <a:prstDash val="solid"/>
          </a:ln>
        </p:spPr>
      </p:sp>
      <p:sp>
        <p:nvSpPr>
          <p:cNvPr id="17" name="Text 15"/>
          <p:cNvSpPr/>
          <p:nvPr/>
        </p:nvSpPr>
        <p:spPr>
          <a:xfrm>
            <a:off x="6492240" y="3547872"/>
            <a:ext cx="4846320" cy="320040"/>
          </a:xfrm>
          <a:prstGeom prst="rect">
            <a:avLst/>
          </a:prstGeom>
          <a:noFill/>
          <a:ln/>
        </p:spPr>
        <p:txBody>
          <a:bodyPr wrap="square" lIns="0" tIns="0" rIns="0" bIns="0" rtlCol="0" anchor="ctr"/>
          <a:lstStyle/>
          <a:p>
            <a:pPr indent="0" marL="0">
              <a:buNone/>
            </a:pPr>
            <a:r>
              <a:rPr lang="en-US" sz="1250" b="1" dirty="0">
                <a:solidFill>
                  <a:srgbClr val="C25A2E"/>
                </a:solidFill>
                <a:latin typeface="Calibri" pitchFamily="34" charset="0"/>
                <a:ea typeface="Calibri" pitchFamily="34" charset="-122"/>
                <a:cs typeface="Calibri" pitchFamily="34" charset="-120"/>
              </a:rPr>
              <a:t>How to read this — and how not to</a:t>
            </a:r>
            <a:endParaRPr lang="en-US" sz="1250" dirty="0"/>
          </a:p>
        </p:txBody>
      </p:sp>
      <p:sp>
        <p:nvSpPr>
          <p:cNvPr id="18" name="Text 16"/>
          <p:cNvSpPr/>
          <p:nvPr/>
        </p:nvSpPr>
        <p:spPr>
          <a:xfrm>
            <a:off x="6492240" y="3895344"/>
            <a:ext cx="4846320" cy="1280160"/>
          </a:xfrm>
          <a:prstGeom prst="rect">
            <a:avLst/>
          </a:prstGeom>
          <a:noFill/>
          <a:ln/>
        </p:spPr>
        <p:txBody>
          <a:bodyPr wrap="square" lIns="0" tIns="0" rIns="0" bIns="0" rtlCol="0" anchor="ctr"/>
          <a:lstStyle/>
          <a:p>
            <a:pPr marL="342900" indent="-342900">
              <a:lnSpc>
                <a:spcPts val="1500"/>
              </a:lnSpc>
              <a:spcAft>
                <a:spcPts val="700"/>
              </a:spcAft>
              <a:buSzPct val="100000"/>
              <a:buChar char="•"/>
            </a:pPr>
            <a:r>
              <a:rPr lang="en-US" sz="1150" dirty="0">
                <a:solidFill>
                  <a:srgbClr val="22282E"/>
                </a:solidFill>
                <a:latin typeface="Calibri" pitchFamily="34" charset="0"/>
                <a:ea typeface="Calibri" pitchFamily="34" charset="-122"/>
                <a:cs typeface="Calibri" pitchFamily="34" charset="-120"/>
              </a:rPr>
              <a:t>Optimistic by construction: the posterior uses the correct simulated biomarker model. 9.3% is a ceiling, not an estimate.</a:t>
            </a:r>
            <a:endParaRPr lang="en-US" sz="1150" dirty="0"/>
          </a:p>
          <a:p>
            <a:pPr marL="342900" indent="-342900">
              <a:lnSpc>
                <a:spcPts val="1500"/>
              </a:lnSpc>
              <a:buSzPct val="100000"/>
              <a:buChar char="•"/>
            </a:pPr>
            <a:r>
              <a:rPr lang="en-US" sz="1150" dirty="0">
                <a:solidFill>
                  <a:srgbClr val="22282E"/>
                </a:solidFill>
                <a:latin typeface="Calibri" pitchFamily="34" charset="0"/>
                <a:ea typeface="Calibri" pitchFamily="34" charset="-122"/>
                <a:cs typeface="Calibri" pitchFamily="34" charset="-120"/>
              </a:rPr>
              <a:t>It audits only the held-out RCT rung. It does not learn the DAG or recover endotypes — do not cite it as validation of the method.</a:t>
            </a:r>
            <a:endParaRPr lang="en-US" sz="1150" dirty="0"/>
          </a:p>
        </p:txBody>
      </p:sp>
      <p:sp>
        <p:nvSpPr>
          <p:cNvPr id="19" name="Shape 17"/>
          <p:cNvSpPr/>
          <p:nvPr/>
        </p:nvSpPr>
        <p:spPr>
          <a:xfrm>
            <a:off x="548640" y="5440680"/>
            <a:ext cx="11064240" cy="713232"/>
          </a:xfrm>
          <a:prstGeom prst="roundRect">
            <a:avLst>
              <a:gd name="adj" fmla="val 7692"/>
            </a:avLst>
          </a:prstGeom>
          <a:solidFill>
            <a:srgbClr val="F0F5F3"/>
          </a:solidFill>
          <a:ln w="12700">
            <a:solidFill>
              <a:srgbClr val="2A7F7F"/>
            </a:solidFill>
            <a:prstDash val="solid"/>
          </a:ln>
        </p:spPr>
      </p:sp>
      <p:sp>
        <p:nvSpPr>
          <p:cNvPr id="20" name="Text 18"/>
          <p:cNvSpPr/>
          <p:nvPr/>
        </p:nvSpPr>
        <p:spPr>
          <a:xfrm>
            <a:off x="868680" y="5541264"/>
            <a:ext cx="10424160" cy="502920"/>
          </a:xfrm>
          <a:prstGeom prst="rect">
            <a:avLst/>
          </a:prstGeom>
          <a:noFill/>
          <a:ln/>
        </p:spPr>
        <p:txBody>
          <a:bodyPr wrap="square" lIns="0" tIns="0" rIns="0" bIns="0" rtlCol="0" anchor="ctr"/>
          <a:lstStyle/>
          <a:p>
            <a:pPr indent="0" marL="0">
              <a:buNone/>
            </a:pPr>
            <a:r>
              <a:rPr lang="en-US" sz="1350" b="1" dirty="0">
                <a:solidFill>
                  <a:srgbClr val="1C3F5F"/>
                </a:solidFill>
                <a:latin typeface="Calibri" pitchFamily="34" charset="0"/>
                <a:ea typeface="Calibri" pitchFamily="34" charset="-122"/>
                <a:cs typeface="Calibri" pitchFamily="34" charset="-120"/>
              </a:rPr>
              <a:t>This is why Aim 2 is outcome-blind. We simulated the confirmatory question, found the trial cannot answer it, and redesigned the aim around what the data can support.</a:t>
            </a:r>
            <a:endParaRPr lang="en-US" sz="13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C3F5F"/>
        </a:solidFill>
      </p:bgPr>
    </p:bg>
    <p:spTree>
      <p:nvGrpSpPr>
        <p:cNvPr id="1" name=""/>
        <p:cNvGrpSpPr/>
        <p:nvPr/>
      </p:nvGrpSpPr>
      <p:grpSpPr>
        <a:xfrm>
          <a:off x="0" y="0"/>
          <a:ext cx="0" cy="0"/>
          <a:chOff x="0" y="0"/>
          <a:chExt cx="0" cy="0"/>
        </a:xfrm>
      </p:grpSpPr>
      <p:sp>
        <p:nvSpPr>
          <p:cNvPr id="2" name="Shape 0"/>
          <p:cNvSpPr/>
          <p:nvPr/>
        </p:nvSpPr>
        <p:spPr>
          <a:xfrm>
            <a:off x="822960" y="2331720"/>
            <a:ext cx="1051560" cy="1051560"/>
          </a:xfrm>
          <a:prstGeom prst="ellipse">
            <a:avLst/>
          </a:prstGeom>
          <a:solidFill>
            <a:srgbClr val="C25A2E"/>
          </a:solidFill>
          <a:ln/>
        </p:spPr>
      </p:sp>
      <p:sp>
        <p:nvSpPr>
          <p:cNvPr id="3" name="Text 1"/>
          <p:cNvSpPr/>
          <p:nvPr/>
        </p:nvSpPr>
        <p:spPr>
          <a:xfrm>
            <a:off x="822960" y="2331720"/>
            <a:ext cx="1051560" cy="1051560"/>
          </a:xfrm>
          <a:prstGeom prst="rect">
            <a:avLst/>
          </a:prstGeom>
          <a:noFill/>
          <a:ln/>
        </p:spPr>
        <p:txBody>
          <a:bodyPr wrap="square" lIns="0" tIns="0" rIns="0" bIns="0" rtlCol="0" anchor="ctr"/>
          <a:lstStyle/>
          <a:p>
            <a:pPr algn="ctr" indent="0" marL="0">
              <a:buNone/>
            </a:pPr>
            <a:r>
              <a:rPr lang="en-US" sz="4400" b="1" dirty="0">
                <a:solidFill>
                  <a:srgbClr val="FFFFFF"/>
                </a:solidFill>
                <a:latin typeface="Cambria" pitchFamily="34" charset="0"/>
                <a:ea typeface="Cambria" pitchFamily="34" charset="-122"/>
                <a:cs typeface="Cambria" pitchFamily="34" charset="-120"/>
              </a:rPr>
              <a:t>2</a:t>
            </a:r>
            <a:endParaRPr lang="en-US" sz="4400" dirty="0"/>
          </a:p>
        </p:txBody>
      </p:sp>
      <p:sp>
        <p:nvSpPr>
          <p:cNvPr id="4" name="Text 2"/>
          <p:cNvSpPr/>
          <p:nvPr/>
        </p:nvSpPr>
        <p:spPr>
          <a:xfrm>
            <a:off x="2194560" y="2286000"/>
            <a:ext cx="9144000" cy="82296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Figures available as Aim 1 preliminary evidence</a:t>
            </a:r>
            <a:endParaRPr lang="en-US" sz="3400" dirty="0"/>
          </a:p>
        </p:txBody>
      </p:sp>
      <p:sp>
        <p:nvSpPr>
          <p:cNvPr id="5" name="Text 3"/>
          <p:cNvSpPr/>
          <p:nvPr/>
        </p:nvSpPr>
        <p:spPr>
          <a:xfrm>
            <a:off x="2194560" y="3108960"/>
            <a:ext cx="9144000" cy="640080"/>
          </a:xfrm>
          <a:prstGeom prst="rect">
            <a:avLst/>
          </a:prstGeom>
          <a:noFill/>
          <a:ln/>
        </p:spPr>
        <p:txBody>
          <a:bodyPr wrap="square" lIns="0" tIns="0" rIns="0" bIns="0" rtlCol="0" anchor="ctr"/>
          <a:lstStyle/>
          <a:p>
            <a:pPr indent="0" marL="0">
              <a:buNone/>
            </a:pPr>
            <a:r>
              <a:rPr lang="en-US" sz="1500" dirty="0">
                <a:solidFill>
                  <a:srgbClr val="9DB6CC"/>
                </a:solidFill>
                <a:latin typeface="Calibri" pitchFamily="34" charset="0"/>
                <a:ea typeface="Calibri" pitchFamily="34" charset="-122"/>
                <a:cs typeface="Calibri" pitchFamily="34" charset="-120"/>
              </a:rPr>
              <a:t>Seven code-generated figures · every one regenerates from a saved result file</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11064240" cy="256032"/>
          </a:xfrm>
          <a:prstGeom prst="rect">
            <a:avLst/>
          </a:prstGeom>
          <a:noFill/>
          <a:ln/>
        </p:spPr>
        <p:txBody>
          <a:bodyPr wrap="square" lIns="0" tIns="0" rIns="0" bIns="0" rtlCol="0" anchor="ctr"/>
          <a:lstStyle/>
          <a:p>
            <a:pPr indent="0" marL="0">
              <a:buNone/>
            </a:pPr>
            <a:r>
              <a:rPr lang="en-US" sz="1100" b="1" spc="200" kern="0" dirty="0">
                <a:solidFill>
                  <a:srgbClr val="C25A2E"/>
                </a:solidFill>
                <a:latin typeface="Calibri" pitchFamily="34" charset="0"/>
                <a:ea typeface="Calibri" pitchFamily="34" charset="-122"/>
                <a:cs typeface="Calibri" pitchFamily="34" charset="-120"/>
              </a:rPr>
              <a:t>ASK 2  ·  PRELIMINARY EVIDENCE</a:t>
            </a:r>
            <a:endParaRPr lang="en-US" sz="1100" dirty="0"/>
          </a:p>
        </p:txBody>
      </p:sp>
      <p:sp>
        <p:nvSpPr>
          <p:cNvPr id="3" name="Text 1"/>
          <p:cNvSpPr/>
          <p:nvPr/>
        </p:nvSpPr>
        <p:spPr>
          <a:xfrm>
            <a:off x="548640" y="585216"/>
            <a:ext cx="11064240" cy="566928"/>
          </a:xfrm>
          <a:prstGeom prst="rect">
            <a:avLst/>
          </a:prstGeom>
          <a:noFill/>
          <a:ln/>
        </p:spPr>
        <p:txBody>
          <a:bodyPr wrap="square" lIns="0" tIns="0" rIns="0" bIns="0" rtlCol="0" anchor="ctr"/>
          <a:lstStyle/>
          <a:p>
            <a:pPr indent="0" marL="0">
              <a:buNone/>
            </a:pPr>
            <a:r>
              <a:rPr lang="en-US" sz="2900" b="1" dirty="0">
                <a:solidFill>
                  <a:srgbClr val="1C3F5F"/>
                </a:solidFill>
                <a:latin typeface="Cambria" pitchFamily="34" charset="0"/>
                <a:ea typeface="Cambria" pitchFamily="34" charset="-122"/>
                <a:cs typeface="Cambria" pitchFamily="34" charset="-120"/>
              </a:rPr>
              <a:t>Figure inventory — what exists today</a:t>
            </a:r>
            <a:endParaRPr lang="en-US" sz="29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234440"/>
          <a:ext cx="11064240" cy="914400"/>
        </p:xfrm>
        <a:graphic>
          <a:graphicData uri="http://schemas.openxmlformats.org/drawingml/2006/table">
            <a:tbl>
              <a:tblPr/>
              <a:tblGrid>
                <a:gridCol w="2377440"/>
                <a:gridCol w="2834640"/>
                <a:gridCol w="4023360"/>
                <a:gridCol w="1828800"/>
              </a:tblGrid>
              <a:tr h="384048">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Figure</a:t>
                      </a:r>
                      <a:endParaRPr lang="en-US" sz="1150" dirty="0">
                        <a:latin typeface="Calibri" charset="0"/>
                        <a:ea typeface="Calibri" charset="0"/>
                        <a:cs typeface="Calibri" charset="0"/>
                      </a:endParaRPr>
                    </a:p>
                  </a:txBody>
                  <a:tcPr marL="91440" marR="91440" marT="45720" marB="45720"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solidFill>
                      <a:srgbClr val="1C3F5F"/>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File</a:t>
                      </a:r>
                      <a:endParaRPr lang="en-US" sz="1150" dirty="0">
                        <a:latin typeface="Calibri" charset="0"/>
                        <a:ea typeface="Calibri" charset="0"/>
                        <a:cs typeface="Calibri" charset="0"/>
                      </a:endParaRPr>
                    </a:p>
                  </a:txBody>
                  <a:tcPr marL="91440" marR="91440" marT="45720" marB="45720"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solidFill>
                      <a:srgbClr val="1C3F5F"/>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What it shows</a:t>
                      </a:r>
                      <a:endParaRPr lang="en-US" sz="1150" dirty="0">
                        <a:latin typeface="Calibri" charset="0"/>
                        <a:ea typeface="Calibri" charset="0"/>
                        <a:cs typeface="Calibri" charset="0"/>
                      </a:endParaRPr>
                    </a:p>
                  </a:txBody>
                  <a:tcPr marL="91440" marR="91440" marT="45720" marB="45720"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solidFill>
                      <a:srgbClr val="1C3F5F"/>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Proposal slot</a:t>
                      </a:r>
                      <a:endParaRPr lang="en-US" sz="1150" dirty="0">
                        <a:latin typeface="Calibri" charset="0"/>
                        <a:ea typeface="Calibri" charset="0"/>
                        <a:cs typeface="Calibri" charset="0"/>
                      </a:endParaRPr>
                    </a:p>
                  </a:txBody>
                  <a:tcPr marL="91440" marR="91440" marT="45720" marB="45720"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solidFill>
                      <a:srgbClr val="1C3F5F"/>
                    </a:solidFill>
                  </a:tcPr>
                </a:tc>
              </a:tr>
              <a:tr h="384048">
                <a:tc>
                  <a:txBody>
                    <a:bodyPr/>
                    <a:lstStyle/>
                    <a:p>
                      <a:pPr indent="0" marL="0">
                        <a:buNone/>
                      </a:pPr>
                      <a:r>
                        <a:rPr lang="en-US" sz="1100" b="1" dirty="0">
                          <a:solidFill>
                            <a:srgbClr val="1C3F5F"/>
                          </a:solidFill>
                          <a:latin typeface="Calibri" pitchFamily="34" charset="0"/>
                          <a:ea typeface="Calibri" pitchFamily="34" charset="-122"/>
                          <a:cs typeface="Calibri" pitchFamily="34" charset="-120"/>
                        </a:rPr>
                        <a:t>Framework overview</a:t>
                      </a:r>
                      <a:endParaRPr lang="en-US" sz="1100" dirty="0">
                        <a:latin typeface="Calibri" charset="0"/>
                        <a:ea typeface="Calibri" charset="0"/>
                        <a:cs typeface="Calibri" charset="0"/>
                      </a:endParaRPr>
                    </a:p>
                  </a:txBody>
                  <a:tcPr marL="91440" marR="91440" marT="45720" marB="45720"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c>
                  <a:txBody>
                    <a:bodyPr/>
                    <a:lstStyle/>
                    <a:p>
                      <a:pPr indent="0" marL="0">
                        <a:buNone/>
                      </a:pPr>
                      <a:r>
                        <a:rPr lang="en-US" sz="1050" dirty="0">
                          <a:solidFill>
                            <a:srgbClr val="6B7885"/>
                          </a:solidFill>
                          <a:latin typeface="Calibri" pitchFamily="34" charset="0"/>
                          <a:ea typeface="Calibri" pitchFamily="34" charset="-122"/>
                          <a:cs typeface="Calibri" pitchFamily="34" charset="-120"/>
                        </a:rPr>
                        <a:t>figure1_causal_esus_academic</a:t>
                      </a:r>
                      <a:endParaRPr lang="en-US" sz="1050" dirty="0">
                        <a:latin typeface="Calibri" charset="0"/>
                        <a:ea typeface="Calibri" charset="0"/>
                        <a:cs typeface="Calibri" charset="0"/>
                      </a:endParaRPr>
                    </a:p>
                  </a:txBody>
                  <a:tcPr marL="91440" marR="91440" marT="45720" marB="45720"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c>
                  <a:txBody>
                    <a:bodyPr/>
                    <a:lstStyle/>
                    <a:p>
                      <a:pPr indent="0" marL="0">
                        <a:buNone/>
                      </a:pPr>
                      <a:r>
                        <a:rPr lang="en-US" sz="1100" dirty="0">
                          <a:solidFill>
                            <a:srgbClr val="22282E"/>
                          </a:solidFill>
                          <a:latin typeface="Calibri" pitchFamily="34" charset="0"/>
                          <a:ea typeface="Calibri" pitchFamily="34" charset="-122"/>
                          <a:cs typeface="Calibri" pitchFamily="34" charset="-120"/>
                        </a:rPr>
                        <a:t>Hand-built, BioRender-style. Not AI-generated.</a:t>
                      </a:r>
                      <a:endParaRPr lang="en-US" sz="1100" dirty="0">
                        <a:latin typeface="Calibri" charset="0"/>
                        <a:ea typeface="Calibri" charset="0"/>
                        <a:cs typeface="Calibri" charset="0"/>
                      </a:endParaRPr>
                    </a:p>
                  </a:txBody>
                  <a:tcPr marL="91440" marR="91440" marT="45720" marB="45720"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c>
                  <a:txBody>
                    <a:bodyPr/>
                    <a:lstStyle/>
                    <a:p>
                      <a:pPr indent="0" marL="0">
                        <a:buNone/>
                      </a:pPr>
                      <a:r>
                        <a:rPr lang="en-US" sz="1100" b="1" dirty="0">
                          <a:solidFill>
                            <a:srgbClr val="2A7F7F"/>
                          </a:solidFill>
                          <a:latin typeface="Calibri" pitchFamily="34" charset="0"/>
                          <a:ea typeface="Calibri" pitchFamily="34" charset="-122"/>
                          <a:cs typeface="Calibri" pitchFamily="34" charset="-120"/>
                        </a:rPr>
                        <a:t>R01 Fig 1</a:t>
                      </a:r>
                      <a:endParaRPr lang="en-US" sz="1100" dirty="0">
                        <a:latin typeface="Calibri" charset="0"/>
                        <a:ea typeface="Calibri" charset="0"/>
                        <a:cs typeface="Calibri" charset="0"/>
                      </a:endParaRPr>
                    </a:p>
                  </a:txBody>
                  <a:tcPr marL="91440" marR="91440" marT="45720" marB="45720"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r>
              <a:tr h="384048">
                <a:tc>
                  <a:txBody>
                    <a:bodyPr/>
                    <a:lstStyle/>
                    <a:p>
                      <a:pPr indent="0" marL="0">
                        <a:buNone/>
                      </a:pPr>
                      <a:r>
                        <a:rPr lang="en-US" sz="1100" b="1" dirty="0">
                          <a:solidFill>
                            <a:srgbClr val="1C3F5F"/>
                          </a:solidFill>
                          <a:latin typeface="Calibri" pitchFamily="34" charset="0"/>
                          <a:ea typeface="Calibri" pitchFamily="34" charset="-122"/>
                          <a:cs typeface="Calibri" pitchFamily="34" charset="-120"/>
                        </a:rPr>
                        <a:t>Renal distortion recovery</a:t>
                      </a:r>
                      <a:endParaRPr lang="en-US" sz="1100" dirty="0">
                        <a:latin typeface="Calibri" charset="0"/>
                        <a:ea typeface="Calibri" charset="0"/>
                        <a:cs typeface="Calibri" charset="0"/>
                      </a:endParaRPr>
                    </a:p>
                  </a:txBody>
                  <a:tcPr marL="91440" marR="91440" marT="45720" marB="45720"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c>
                  <a:txBody>
                    <a:bodyPr/>
                    <a:lstStyle/>
                    <a:p>
                      <a:pPr indent="0" marL="0">
                        <a:buNone/>
                      </a:pPr>
                      <a:r>
                        <a:rPr lang="en-US" sz="1050" dirty="0">
                          <a:solidFill>
                            <a:srgbClr val="6B7885"/>
                          </a:solidFill>
                          <a:latin typeface="Calibri" pitchFamily="34" charset="0"/>
                          <a:ea typeface="Calibri" pitchFamily="34" charset="-122"/>
                          <a:cs typeface="Calibri" pitchFamily="34" charset="-120"/>
                        </a:rPr>
                        <a:t>figure_P1_latent_recovery</a:t>
                      </a:r>
                      <a:endParaRPr lang="en-US" sz="1050" dirty="0">
                        <a:latin typeface="Calibri" charset="0"/>
                        <a:ea typeface="Calibri" charset="0"/>
                        <a:cs typeface="Calibri" charset="0"/>
                      </a:endParaRPr>
                    </a:p>
                  </a:txBody>
                  <a:tcPr marL="91440" marR="91440" marT="45720" marB="45720"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c>
                  <a:txBody>
                    <a:bodyPr/>
                    <a:lstStyle/>
                    <a:p>
                      <a:pPr indent="0" marL="0">
                        <a:buNone/>
                      </a:pPr>
                      <a:r>
                        <a:rPr lang="en-US" sz="1100" dirty="0">
                          <a:solidFill>
                            <a:srgbClr val="22282E"/>
                          </a:solidFill>
                          <a:latin typeface="Calibri" pitchFamily="34" charset="0"/>
                          <a:ea typeface="Calibri" pitchFamily="34" charset="-122"/>
                          <a:cs typeface="Calibri" pitchFamily="34" charset="-120"/>
                        </a:rPr>
                        <a:t>Accuracy + false atrial vs distortion strength</a:t>
                      </a:r>
                      <a:endParaRPr lang="en-US" sz="1100" dirty="0">
                        <a:latin typeface="Calibri" charset="0"/>
                        <a:ea typeface="Calibri" charset="0"/>
                        <a:cs typeface="Calibri" charset="0"/>
                      </a:endParaRPr>
                    </a:p>
                  </a:txBody>
                  <a:tcPr marL="91440" marR="91440" marT="45720" marB="45720"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c>
                  <a:txBody>
                    <a:bodyPr/>
                    <a:lstStyle/>
                    <a:p>
                      <a:pPr indent="0" marL="0">
                        <a:buNone/>
                      </a:pPr>
                      <a:r>
                        <a:rPr lang="en-US" sz="1100" b="1" dirty="0">
                          <a:solidFill>
                            <a:srgbClr val="2A7F7F"/>
                          </a:solidFill>
                          <a:latin typeface="Calibri" pitchFamily="34" charset="0"/>
                          <a:ea typeface="Calibri" pitchFamily="34" charset="-122"/>
                          <a:cs typeface="Calibri" pitchFamily="34" charset="-120"/>
                        </a:rPr>
                        <a:t>R01 Fig 2A</a:t>
                      </a:r>
                      <a:endParaRPr lang="en-US" sz="1100" dirty="0">
                        <a:latin typeface="Calibri" charset="0"/>
                        <a:ea typeface="Calibri" charset="0"/>
                        <a:cs typeface="Calibri" charset="0"/>
                      </a:endParaRPr>
                    </a:p>
                  </a:txBody>
                  <a:tcPr marL="91440" marR="91440" marT="45720" marB="45720"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r>
              <a:tr h="384048">
                <a:tc>
                  <a:txBody>
                    <a:bodyPr/>
                    <a:lstStyle/>
                    <a:p>
                      <a:pPr indent="0" marL="0">
                        <a:buNone/>
                      </a:pPr>
                      <a:r>
                        <a:rPr lang="en-US" sz="1100" b="1" dirty="0">
                          <a:solidFill>
                            <a:srgbClr val="1C3F5F"/>
                          </a:solidFill>
                          <a:latin typeface="Calibri" pitchFamily="34" charset="0"/>
                          <a:ea typeface="Calibri" pitchFamily="34" charset="-122"/>
                          <a:cs typeface="Calibri" pitchFamily="34" charset="-120"/>
                        </a:rPr>
                        <a:t>Controls &amp; K=1 null</a:t>
                      </a:r>
                      <a:endParaRPr lang="en-US" sz="1100" dirty="0">
                        <a:latin typeface="Calibri" charset="0"/>
                        <a:ea typeface="Calibri" charset="0"/>
                        <a:cs typeface="Calibri" charset="0"/>
                      </a:endParaRPr>
                    </a:p>
                  </a:txBody>
                  <a:tcPr marL="91440" marR="91440" marT="45720" marB="45720"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c>
                  <a:txBody>
                    <a:bodyPr/>
                    <a:lstStyle/>
                    <a:p>
                      <a:pPr indent="0" marL="0">
                        <a:buNone/>
                      </a:pPr>
                      <a:r>
                        <a:rPr lang="en-US" sz="1050" dirty="0">
                          <a:solidFill>
                            <a:srgbClr val="6B7885"/>
                          </a:solidFill>
                          <a:latin typeface="Calibri" pitchFamily="34" charset="0"/>
                          <a:ea typeface="Calibri" pitchFamily="34" charset="-122"/>
                          <a:cs typeface="Calibri" pitchFamily="34" charset="-120"/>
                        </a:rPr>
                        <a:t>figure_S1_controls</a:t>
                      </a:r>
                      <a:endParaRPr lang="en-US" sz="1050" dirty="0">
                        <a:latin typeface="Calibri" charset="0"/>
                        <a:ea typeface="Calibri" charset="0"/>
                        <a:cs typeface="Calibri" charset="0"/>
                      </a:endParaRPr>
                    </a:p>
                  </a:txBody>
                  <a:tcPr marL="91440" marR="91440" marT="45720" marB="45720"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c>
                  <a:txBody>
                    <a:bodyPr/>
                    <a:lstStyle/>
                    <a:p>
                      <a:pPr indent="0" marL="0">
                        <a:buNone/>
                      </a:pPr>
                      <a:r>
                        <a:rPr lang="en-US" sz="1100" dirty="0">
                          <a:solidFill>
                            <a:srgbClr val="22282E"/>
                          </a:solidFill>
                          <a:latin typeface="Calibri" pitchFamily="34" charset="0"/>
                          <a:ea typeface="Calibri" pitchFamily="34" charset="-122"/>
                          <a:cs typeface="Calibri" pitchFamily="34" charset="-120"/>
                        </a:rPr>
                        <a:t>Adjusted comparator, oracle, false-discovery test</a:t>
                      </a:r>
                      <a:endParaRPr lang="en-US" sz="1100" dirty="0">
                        <a:latin typeface="Calibri" charset="0"/>
                        <a:ea typeface="Calibri" charset="0"/>
                        <a:cs typeface="Calibri" charset="0"/>
                      </a:endParaRPr>
                    </a:p>
                  </a:txBody>
                  <a:tcPr marL="91440" marR="91440" marT="45720" marB="45720"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c>
                  <a:txBody>
                    <a:bodyPr/>
                    <a:lstStyle/>
                    <a:p>
                      <a:pPr indent="0" marL="0">
                        <a:buNone/>
                      </a:pPr>
                      <a:r>
                        <a:rPr lang="en-US" sz="1100" b="1" dirty="0">
                          <a:solidFill>
                            <a:srgbClr val="2A7F7F"/>
                          </a:solidFill>
                          <a:latin typeface="Calibri" pitchFamily="34" charset="0"/>
                          <a:ea typeface="Calibri" pitchFamily="34" charset="-122"/>
                          <a:cs typeface="Calibri" pitchFamily="34" charset="-120"/>
                        </a:rPr>
                        <a:t>Supplement</a:t>
                      </a:r>
                      <a:endParaRPr lang="en-US" sz="1100" dirty="0">
                        <a:latin typeface="Calibri" charset="0"/>
                        <a:ea typeface="Calibri" charset="0"/>
                        <a:cs typeface="Calibri" charset="0"/>
                      </a:endParaRPr>
                    </a:p>
                  </a:txBody>
                  <a:tcPr marL="91440" marR="91440" marT="45720" marB="45720"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r>
              <a:tr h="384048">
                <a:tc>
                  <a:txBody>
                    <a:bodyPr/>
                    <a:lstStyle/>
                    <a:p>
                      <a:pPr indent="0" marL="0">
                        <a:buNone/>
                      </a:pPr>
                      <a:r>
                        <a:rPr lang="en-US" sz="1100" b="1" dirty="0">
                          <a:solidFill>
                            <a:srgbClr val="1C3F5F"/>
                          </a:solidFill>
                          <a:latin typeface="Calibri" pitchFamily="34" charset="0"/>
                          <a:ea typeface="Calibri" pitchFamily="34" charset="-122"/>
                          <a:cs typeface="Calibri" pitchFamily="34" charset="-120"/>
                        </a:rPr>
                        <a:t>Example patient</a:t>
                      </a:r>
                      <a:endParaRPr lang="en-US" sz="1100" dirty="0">
                        <a:latin typeface="Calibri" charset="0"/>
                        <a:ea typeface="Calibri" charset="0"/>
                        <a:cs typeface="Calibri" charset="0"/>
                      </a:endParaRPr>
                    </a:p>
                  </a:txBody>
                  <a:tcPr marL="91440" marR="91440" marT="45720" marB="45720"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c>
                  <a:txBody>
                    <a:bodyPr/>
                    <a:lstStyle/>
                    <a:p>
                      <a:pPr indent="0" marL="0">
                        <a:buNone/>
                      </a:pPr>
                      <a:r>
                        <a:rPr lang="en-US" sz="1050" dirty="0">
                          <a:solidFill>
                            <a:srgbClr val="6B7885"/>
                          </a:solidFill>
                          <a:latin typeface="Calibri" pitchFamily="34" charset="0"/>
                          <a:ea typeface="Calibri" pitchFamily="34" charset="-122"/>
                          <a:cs typeface="Calibri" pitchFamily="34" charset="-120"/>
                        </a:rPr>
                        <a:t>figure_P2_example_patient</a:t>
                      </a:r>
                      <a:endParaRPr lang="en-US" sz="1050" dirty="0">
                        <a:latin typeface="Calibri" charset="0"/>
                        <a:ea typeface="Calibri" charset="0"/>
                        <a:cs typeface="Calibri" charset="0"/>
                      </a:endParaRPr>
                    </a:p>
                  </a:txBody>
                  <a:tcPr marL="91440" marR="91440" marT="45720" marB="45720"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c>
                  <a:txBody>
                    <a:bodyPr/>
                    <a:lstStyle/>
                    <a:p>
                      <a:pPr indent="0" marL="0">
                        <a:buNone/>
                      </a:pPr>
                      <a:r>
                        <a:rPr lang="en-US" sz="1100" dirty="0">
                          <a:solidFill>
                            <a:srgbClr val="22282E"/>
                          </a:solidFill>
                          <a:latin typeface="Calibri" pitchFamily="34" charset="0"/>
                          <a:ea typeface="Calibri" pitchFamily="34" charset="-122"/>
                          <a:cs typeface="Calibri" pitchFamily="34" charset="-120"/>
                        </a:rPr>
                        <a:t>Per-patient posterior with uncertainty</a:t>
                      </a:r>
                      <a:endParaRPr lang="en-US" sz="1100" dirty="0">
                        <a:latin typeface="Calibri" charset="0"/>
                        <a:ea typeface="Calibri" charset="0"/>
                        <a:cs typeface="Calibri" charset="0"/>
                      </a:endParaRPr>
                    </a:p>
                  </a:txBody>
                  <a:tcPr marL="91440" marR="91440" marT="45720" marB="45720"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c>
                  <a:txBody>
                    <a:bodyPr/>
                    <a:lstStyle/>
                    <a:p>
                      <a:pPr indent="0" marL="0">
                        <a:buNone/>
                      </a:pPr>
                      <a:r>
                        <a:rPr lang="en-US" sz="1100" b="1" dirty="0">
                          <a:solidFill>
                            <a:srgbClr val="2A7F7F"/>
                          </a:solidFill>
                          <a:latin typeface="Calibri" pitchFamily="34" charset="0"/>
                          <a:ea typeface="Calibri" pitchFamily="34" charset="-122"/>
                          <a:cs typeface="Calibri" pitchFamily="34" charset="-120"/>
                        </a:rPr>
                        <a:t>Supplement</a:t>
                      </a:r>
                      <a:endParaRPr lang="en-US" sz="1100" dirty="0">
                        <a:latin typeface="Calibri" charset="0"/>
                        <a:ea typeface="Calibri" charset="0"/>
                        <a:cs typeface="Calibri" charset="0"/>
                      </a:endParaRPr>
                    </a:p>
                  </a:txBody>
                  <a:tcPr marL="91440" marR="91440" marT="45720" marB="45720"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r>
              <a:tr h="384048">
                <a:tc>
                  <a:txBody>
                    <a:bodyPr/>
                    <a:lstStyle/>
                    <a:p>
                      <a:pPr indent="0" marL="0">
                        <a:buNone/>
                      </a:pPr>
                      <a:r>
                        <a:rPr lang="en-US" sz="1100" b="1" dirty="0">
                          <a:solidFill>
                            <a:srgbClr val="1C3F5F"/>
                          </a:solidFill>
                          <a:latin typeface="Calibri" pitchFamily="34" charset="0"/>
                          <a:ea typeface="Calibri" pitchFamily="34" charset="-122"/>
                          <a:cs typeface="Calibri" pitchFamily="34" charset="-120"/>
                        </a:rPr>
                        <a:t>Cross-hospital transport</a:t>
                      </a:r>
                      <a:endParaRPr lang="en-US" sz="1100" dirty="0">
                        <a:latin typeface="Calibri" charset="0"/>
                        <a:ea typeface="Calibri" charset="0"/>
                        <a:cs typeface="Calibri" charset="0"/>
                      </a:endParaRPr>
                    </a:p>
                  </a:txBody>
                  <a:tcPr marL="91440" marR="91440" marT="45720" marB="45720"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c>
                  <a:txBody>
                    <a:bodyPr/>
                    <a:lstStyle/>
                    <a:p>
                      <a:pPr indent="0" marL="0">
                        <a:buNone/>
                      </a:pPr>
                      <a:r>
                        <a:rPr lang="en-US" sz="1050" dirty="0">
                          <a:solidFill>
                            <a:srgbClr val="6B7885"/>
                          </a:solidFill>
                          <a:latin typeface="Calibri" pitchFamily="34" charset="0"/>
                          <a:ea typeface="Calibri" pitchFamily="34" charset="-122"/>
                          <a:cs typeface="Calibri" pitchFamily="34" charset="-120"/>
                        </a:rPr>
                        <a:t>figure_T1_transportability</a:t>
                      </a:r>
                      <a:endParaRPr lang="en-US" sz="1050" dirty="0">
                        <a:latin typeface="Calibri" charset="0"/>
                        <a:ea typeface="Calibri" charset="0"/>
                        <a:cs typeface="Calibri" charset="0"/>
                      </a:endParaRPr>
                    </a:p>
                  </a:txBody>
                  <a:tcPr marL="91440" marR="91440" marT="45720" marB="45720"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c>
                  <a:txBody>
                    <a:bodyPr/>
                    <a:lstStyle/>
                    <a:p>
                      <a:pPr indent="0" marL="0">
                        <a:buNone/>
                      </a:pPr>
                      <a:r>
                        <a:rPr lang="en-US" sz="1100" dirty="0">
                          <a:solidFill>
                            <a:srgbClr val="22282E"/>
                          </a:solidFill>
                          <a:latin typeface="Calibri" pitchFamily="34" charset="0"/>
                          <a:ea typeface="Calibri" pitchFamily="34" charset="-122"/>
                          <a:cs typeface="Calibri" pitchFamily="34" charset="-120"/>
                        </a:rPr>
                        <a:t>Four methods × four shift levels</a:t>
                      </a:r>
                      <a:endParaRPr lang="en-US" sz="1100" dirty="0">
                        <a:latin typeface="Calibri" charset="0"/>
                        <a:ea typeface="Calibri" charset="0"/>
                        <a:cs typeface="Calibri" charset="0"/>
                      </a:endParaRPr>
                    </a:p>
                  </a:txBody>
                  <a:tcPr marL="91440" marR="91440" marT="45720" marB="45720"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c>
                  <a:txBody>
                    <a:bodyPr/>
                    <a:lstStyle/>
                    <a:p>
                      <a:pPr indent="0" marL="0">
                        <a:buNone/>
                      </a:pPr>
                      <a:r>
                        <a:rPr lang="en-US" sz="1100" b="1" dirty="0">
                          <a:solidFill>
                            <a:srgbClr val="2A7F7F"/>
                          </a:solidFill>
                          <a:latin typeface="Calibri" pitchFamily="34" charset="0"/>
                          <a:ea typeface="Calibri" pitchFamily="34" charset="-122"/>
                          <a:cs typeface="Calibri" pitchFamily="34" charset="-120"/>
                        </a:rPr>
                        <a:t>R01 Fig 2B</a:t>
                      </a:r>
                      <a:endParaRPr lang="en-US" sz="1100" dirty="0">
                        <a:latin typeface="Calibri" charset="0"/>
                        <a:ea typeface="Calibri" charset="0"/>
                        <a:cs typeface="Calibri" charset="0"/>
                      </a:endParaRPr>
                    </a:p>
                  </a:txBody>
                  <a:tcPr marL="91440" marR="91440" marT="45720" marB="45720"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r>
              <a:tr h="384048">
                <a:tc>
                  <a:txBody>
                    <a:bodyPr/>
                    <a:lstStyle/>
                    <a:p>
                      <a:pPr indent="0" marL="0">
                        <a:buNone/>
                      </a:pPr>
                      <a:r>
                        <a:rPr lang="en-US" sz="1100" b="1" dirty="0">
                          <a:solidFill>
                            <a:srgbClr val="1C3F5F"/>
                          </a:solidFill>
                          <a:latin typeface="Calibri" pitchFamily="34" charset="0"/>
                          <a:ea typeface="Calibri" pitchFamily="34" charset="-122"/>
                          <a:cs typeface="Calibri" pitchFamily="34" charset="-120"/>
                        </a:rPr>
                        <a:t>Transport controls</a:t>
                      </a:r>
                      <a:endParaRPr lang="en-US" sz="1100" dirty="0">
                        <a:latin typeface="Calibri" charset="0"/>
                        <a:ea typeface="Calibri" charset="0"/>
                        <a:cs typeface="Calibri" charset="0"/>
                      </a:endParaRPr>
                    </a:p>
                  </a:txBody>
                  <a:tcPr marL="91440" marR="91440" marT="45720" marB="45720"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c>
                  <a:txBody>
                    <a:bodyPr/>
                    <a:lstStyle/>
                    <a:p>
                      <a:pPr indent="0" marL="0">
                        <a:buNone/>
                      </a:pPr>
                      <a:r>
                        <a:rPr lang="en-US" sz="1050" dirty="0">
                          <a:solidFill>
                            <a:srgbClr val="6B7885"/>
                          </a:solidFill>
                          <a:latin typeface="Calibri" pitchFamily="34" charset="0"/>
                          <a:ea typeface="Calibri" pitchFamily="34" charset="-122"/>
                          <a:cs typeface="Calibri" pitchFamily="34" charset="-120"/>
                        </a:rPr>
                        <a:t>figure_T2_transport_controls</a:t>
                      </a:r>
                      <a:endParaRPr lang="en-US" sz="1050" dirty="0">
                        <a:latin typeface="Calibri" charset="0"/>
                        <a:ea typeface="Calibri" charset="0"/>
                        <a:cs typeface="Calibri" charset="0"/>
                      </a:endParaRPr>
                    </a:p>
                  </a:txBody>
                  <a:tcPr marL="91440" marR="91440" marT="45720" marB="45720"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c>
                  <a:txBody>
                    <a:bodyPr/>
                    <a:lstStyle/>
                    <a:p>
                      <a:pPr indent="0" marL="0">
                        <a:buNone/>
                      </a:pPr>
                      <a:r>
                        <a:rPr lang="en-US" sz="1100" dirty="0">
                          <a:solidFill>
                            <a:srgbClr val="22282E"/>
                          </a:solidFill>
                          <a:latin typeface="Calibri" pitchFamily="34" charset="0"/>
                          <a:ea typeface="Calibri" pitchFamily="34" charset="-122"/>
                          <a:cs typeface="Calibri" pitchFamily="34" charset="-120"/>
                        </a:rPr>
                        <a:t>Negative control and calibration</a:t>
                      </a:r>
                      <a:endParaRPr lang="en-US" sz="1100" dirty="0">
                        <a:latin typeface="Calibri" charset="0"/>
                        <a:ea typeface="Calibri" charset="0"/>
                        <a:cs typeface="Calibri" charset="0"/>
                      </a:endParaRPr>
                    </a:p>
                  </a:txBody>
                  <a:tcPr marL="91440" marR="91440" marT="45720" marB="45720"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c>
                  <a:txBody>
                    <a:bodyPr/>
                    <a:lstStyle/>
                    <a:p>
                      <a:pPr indent="0" marL="0">
                        <a:buNone/>
                      </a:pPr>
                      <a:r>
                        <a:rPr lang="en-US" sz="1100" b="1" dirty="0">
                          <a:solidFill>
                            <a:srgbClr val="2A7F7F"/>
                          </a:solidFill>
                          <a:latin typeface="Calibri" pitchFamily="34" charset="0"/>
                          <a:ea typeface="Calibri" pitchFamily="34" charset="-122"/>
                          <a:cs typeface="Calibri" pitchFamily="34" charset="-120"/>
                        </a:rPr>
                        <a:t>Supplement</a:t>
                      </a:r>
                      <a:endParaRPr lang="en-US" sz="1100" dirty="0">
                        <a:latin typeface="Calibri" charset="0"/>
                        <a:ea typeface="Calibri" charset="0"/>
                        <a:cs typeface="Calibri" charset="0"/>
                      </a:endParaRPr>
                    </a:p>
                  </a:txBody>
                  <a:tcPr marL="91440" marR="91440" marT="45720" marB="45720"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r>
              <a:tr h="384048">
                <a:tc>
                  <a:txBody>
                    <a:bodyPr/>
                    <a:lstStyle/>
                    <a:p>
                      <a:pPr indent="0" marL="0">
                        <a:buNone/>
                      </a:pPr>
                      <a:r>
                        <a:rPr lang="en-US" sz="1100" b="1" dirty="0">
                          <a:solidFill>
                            <a:srgbClr val="1C3F5F"/>
                          </a:solidFill>
                          <a:latin typeface="Calibri" pitchFamily="34" charset="0"/>
                          <a:ea typeface="Calibri" pitchFamily="34" charset="-122"/>
                          <a:cs typeface="Calibri" pitchFamily="34" charset="-120"/>
                        </a:rPr>
                        <a:t>Shift-component ablation</a:t>
                      </a:r>
                      <a:endParaRPr lang="en-US" sz="1100" dirty="0">
                        <a:latin typeface="Calibri" charset="0"/>
                        <a:ea typeface="Calibri" charset="0"/>
                        <a:cs typeface="Calibri" charset="0"/>
                      </a:endParaRPr>
                    </a:p>
                  </a:txBody>
                  <a:tcPr marL="91440" marR="91440" marT="45720" marB="45720"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c>
                  <a:txBody>
                    <a:bodyPr/>
                    <a:lstStyle/>
                    <a:p>
                      <a:pPr indent="0" marL="0">
                        <a:buNone/>
                      </a:pPr>
                      <a:r>
                        <a:rPr lang="en-US" sz="1050" dirty="0">
                          <a:solidFill>
                            <a:srgbClr val="6B7885"/>
                          </a:solidFill>
                          <a:latin typeface="Calibri" pitchFamily="34" charset="0"/>
                          <a:ea typeface="Calibri" pitchFamily="34" charset="-122"/>
                          <a:cs typeface="Calibri" pitchFamily="34" charset="-120"/>
                        </a:rPr>
                        <a:t>figure_T3_shift_ablations</a:t>
                      </a:r>
                      <a:endParaRPr lang="en-US" sz="1050" dirty="0">
                        <a:latin typeface="Calibri" charset="0"/>
                        <a:ea typeface="Calibri" charset="0"/>
                        <a:cs typeface="Calibri" charset="0"/>
                      </a:endParaRPr>
                    </a:p>
                  </a:txBody>
                  <a:tcPr marL="91440" marR="91440" marT="45720" marB="45720"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c>
                  <a:txBody>
                    <a:bodyPr/>
                    <a:lstStyle/>
                    <a:p>
                      <a:pPr indent="0" marL="0">
                        <a:buNone/>
                      </a:pPr>
                      <a:r>
                        <a:rPr lang="en-US" sz="1100" dirty="0">
                          <a:solidFill>
                            <a:srgbClr val="22282E"/>
                          </a:solidFill>
                          <a:latin typeface="Calibri" pitchFamily="34" charset="0"/>
                          <a:ea typeface="Calibri" pitchFamily="34" charset="-122"/>
                          <a:cs typeface="Calibri" pitchFamily="34" charset="-120"/>
                        </a:rPr>
                        <a:t>Kidney / inflammation / assay / missingness</a:t>
                      </a:r>
                      <a:endParaRPr lang="en-US" sz="1100" dirty="0">
                        <a:latin typeface="Calibri" charset="0"/>
                        <a:ea typeface="Calibri" charset="0"/>
                        <a:cs typeface="Calibri" charset="0"/>
                      </a:endParaRPr>
                    </a:p>
                  </a:txBody>
                  <a:tcPr marL="91440" marR="91440" marT="45720" marB="45720"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c>
                  <a:txBody>
                    <a:bodyPr/>
                    <a:lstStyle/>
                    <a:p>
                      <a:pPr indent="0" marL="0">
                        <a:buNone/>
                      </a:pPr>
                      <a:r>
                        <a:rPr lang="en-US" sz="1100" b="1" dirty="0">
                          <a:solidFill>
                            <a:srgbClr val="2A7F7F"/>
                          </a:solidFill>
                          <a:latin typeface="Calibri" pitchFamily="34" charset="0"/>
                          <a:ea typeface="Calibri" pitchFamily="34" charset="-122"/>
                          <a:cs typeface="Calibri" pitchFamily="34" charset="-120"/>
                        </a:rPr>
                        <a:t>Aim 1 support</a:t>
                      </a:r>
                      <a:endParaRPr lang="en-US" sz="1100" dirty="0">
                        <a:latin typeface="Calibri" charset="0"/>
                        <a:ea typeface="Calibri" charset="0"/>
                        <a:cs typeface="Calibri" charset="0"/>
                      </a:endParaRPr>
                    </a:p>
                  </a:txBody>
                  <a:tcPr marL="91440" marR="91440" marT="45720" marB="45720"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r>
            </a:tbl>
          </a:graphicData>
        </a:graphic>
      </p:graphicFrame>
      <p:sp>
        <p:nvSpPr>
          <p:cNvPr id="5" name="Shape 2"/>
          <p:cNvSpPr/>
          <p:nvPr/>
        </p:nvSpPr>
        <p:spPr>
          <a:xfrm>
            <a:off x="548640" y="4709160"/>
            <a:ext cx="11064240" cy="1371600"/>
          </a:xfrm>
          <a:prstGeom prst="roundRect">
            <a:avLst>
              <a:gd name="adj" fmla="val 4000"/>
            </a:avLst>
          </a:prstGeom>
          <a:solidFill>
            <a:srgbClr val="FDF6F2"/>
          </a:solidFill>
          <a:ln w="12700">
            <a:solidFill>
              <a:srgbClr val="C25A2E"/>
            </a:solidFill>
            <a:prstDash val="solid"/>
          </a:ln>
        </p:spPr>
      </p:sp>
      <p:sp>
        <p:nvSpPr>
          <p:cNvPr id="6" name="Text 3"/>
          <p:cNvSpPr/>
          <p:nvPr/>
        </p:nvSpPr>
        <p:spPr>
          <a:xfrm>
            <a:off x="868680" y="4846320"/>
            <a:ext cx="10424160" cy="292608"/>
          </a:xfrm>
          <a:prstGeom prst="rect">
            <a:avLst/>
          </a:prstGeom>
          <a:noFill/>
          <a:ln/>
        </p:spPr>
        <p:txBody>
          <a:bodyPr wrap="square" lIns="0" tIns="0" rIns="0" bIns="0" rtlCol="0" anchor="ctr"/>
          <a:lstStyle/>
          <a:p>
            <a:pPr indent="0" marL="0">
              <a:buNone/>
            </a:pPr>
            <a:r>
              <a:rPr lang="en-US" sz="1300" b="1" dirty="0">
                <a:solidFill>
                  <a:srgbClr val="C25A2E"/>
                </a:solidFill>
                <a:latin typeface="Calibri" pitchFamily="34" charset="0"/>
                <a:ea typeface="Calibri" pitchFamily="34" charset="-122"/>
                <a:cs typeface="Calibri" pitchFamily="34" charset="-120"/>
              </a:rPr>
              <a:t>The gap that matters</a:t>
            </a:r>
            <a:endParaRPr lang="en-US" sz="1300" dirty="0"/>
          </a:p>
        </p:txBody>
      </p:sp>
      <p:sp>
        <p:nvSpPr>
          <p:cNvPr id="7" name="Text 4"/>
          <p:cNvSpPr/>
          <p:nvPr/>
        </p:nvSpPr>
        <p:spPr>
          <a:xfrm>
            <a:off x="868680" y="5166360"/>
            <a:ext cx="10424160" cy="777240"/>
          </a:xfrm>
          <a:prstGeom prst="rect">
            <a:avLst/>
          </a:prstGeom>
          <a:noFill/>
          <a:ln/>
        </p:spPr>
        <p:txBody>
          <a:bodyPr wrap="square" lIns="0" tIns="0" rIns="0" bIns="0" rtlCol="0" anchor="ctr"/>
          <a:lstStyle/>
          <a:p>
            <a:pPr indent="0" marL="0">
              <a:lnSpc>
                <a:spcPts val="1800"/>
              </a:lnSpc>
              <a:buNone/>
            </a:pPr>
            <a:r>
              <a:rPr lang="en-US" sz="1350" dirty="0">
                <a:solidFill>
                  <a:srgbClr val="22282E"/>
                </a:solidFill>
                <a:latin typeface="Calibri" pitchFamily="34" charset="0"/>
                <a:ea typeface="Calibri" pitchFamily="34" charset="-122"/>
                <a:cs typeface="Calibri" pitchFamily="34" charset="-120"/>
              </a:rPr>
              <a:t>The M0–M5 source-of-gain ablation figure does not exist — and that experiment IS Aim 1's core contribution. The transport ablation covers part of the ladder, but not the full M0→M5 sequence on identical cohorts and paired seeds.</a:t>
            </a:r>
            <a:endParaRPr lang="en-US" sz="13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11064240" cy="256032"/>
          </a:xfrm>
          <a:prstGeom prst="rect">
            <a:avLst/>
          </a:prstGeom>
          <a:noFill/>
          <a:ln/>
        </p:spPr>
        <p:txBody>
          <a:bodyPr wrap="square" lIns="0" tIns="0" rIns="0" bIns="0" rtlCol="0" anchor="ctr"/>
          <a:lstStyle/>
          <a:p>
            <a:pPr indent="0" marL="0">
              <a:buNone/>
            </a:pPr>
            <a:r>
              <a:rPr lang="en-US" sz="1100" b="1" spc="200" kern="0" dirty="0">
                <a:solidFill>
                  <a:srgbClr val="C25A2E"/>
                </a:solidFill>
                <a:latin typeface="Calibri" pitchFamily="34" charset="0"/>
                <a:ea typeface="Calibri" pitchFamily="34" charset="-122"/>
                <a:cs typeface="Calibri" pitchFamily="34" charset="-120"/>
              </a:rPr>
              <a:t>ASK 2  ·  SUPPLEMENT MATERIAL</a:t>
            </a:r>
            <a:endParaRPr lang="en-US" sz="1100" dirty="0"/>
          </a:p>
        </p:txBody>
      </p:sp>
      <p:sp>
        <p:nvSpPr>
          <p:cNvPr id="3" name="Text 1"/>
          <p:cNvSpPr/>
          <p:nvPr/>
        </p:nvSpPr>
        <p:spPr>
          <a:xfrm>
            <a:off x="548640" y="585216"/>
            <a:ext cx="11064240" cy="566928"/>
          </a:xfrm>
          <a:prstGeom prst="rect">
            <a:avLst/>
          </a:prstGeom>
          <a:noFill/>
          <a:ln/>
        </p:spPr>
        <p:txBody>
          <a:bodyPr wrap="square" lIns="0" tIns="0" rIns="0" bIns="0" rtlCol="0" anchor="ctr"/>
          <a:lstStyle/>
          <a:p>
            <a:pPr indent="0" marL="0">
              <a:buNone/>
            </a:pPr>
            <a:r>
              <a:rPr lang="en-US" sz="2900" b="1" dirty="0">
                <a:solidFill>
                  <a:srgbClr val="1C3F5F"/>
                </a:solidFill>
                <a:latin typeface="Cambria" pitchFamily="34" charset="0"/>
                <a:ea typeface="Cambria" pitchFamily="34" charset="-122"/>
                <a:cs typeface="Cambria" pitchFamily="34" charset="-120"/>
              </a:rPr>
              <a:t>Supporting panels</a:t>
            </a:r>
            <a:endParaRPr lang="en-US" sz="2900" dirty="0"/>
          </a:p>
        </p:txBody>
      </p:sp>
      <p:pic>
        <p:nvPicPr>
          <p:cNvPr id="4" name="Image 0" descr="/sessions/sharp-charming-bohr/mnt/ESUS Endotyping with Causal Models/outputs_latent_endotyping/figure_P2_example_patient.png">    </p:cNvPr>
          <p:cNvPicPr>
            <a:picLocks noChangeAspect="1"/>
          </p:cNvPicPr>
          <p:nvPr/>
        </p:nvPicPr>
        <p:blipFill>
          <a:blip r:embed="rId1"/>
          <a:stretch>
            <a:fillRect/>
          </a:stretch>
        </p:blipFill>
        <p:spPr>
          <a:xfrm>
            <a:off x="548640" y="1234440"/>
            <a:ext cx="3657600" cy="2139696"/>
          </a:xfrm>
          <a:prstGeom prst="rect">
            <a:avLst/>
          </a:prstGeom>
        </p:spPr>
      </p:pic>
      <p:sp>
        <p:nvSpPr>
          <p:cNvPr id="5" name="Text 2"/>
          <p:cNvSpPr/>
          <p:nvPr/>
        </p:nvSpPr>
        <p:spPr>
          <a:xfrm>
            <a:off x="548640" y="3419856"/>
            <a:ext cx="3657600" cy="411480"/>
          </a:xfrm>
          <a:prstGeom prst="rect">
            <a:avLst/>
          </a:prstGeom>
          <a:noFill/>
          <a:ln/>
        </p:spPr>
        <p:txBody>
          <a:bodyPr wrap="square" lIns="0" tIns="0" rIns="0" bIns="0" rtlCol="0" anchor="ctr"/>
          <a:lstStyle/>
          <a:p>
            <a:pPr indent="0" marL="0">
              <a:lnSpc>
                <a:spcPts val="1300"/>
              </a:lnSpc>
              <a:buNone/>
            </a:pPr>
            <a:r>
              <a:rPr lang="en-US" sz="1000" i="1" dirty="0">
                <a:solidFill>
                  <a:srgbClr val="6B7885"/>
                </a:solidFill>
                <a:latin typeface="Calibri" pitchFamily="34" charset="0"/>
                <a:ea typeface="Calibri" pitchFamily="34" charset="-122"/>
                <a:cs typeface="Calibri" pitchFamily="34" charset="-120"/>
              </a:rPr>
              <a:t>figure_P2_example_patient — per-patient posterior with uncertainty</a:t>
            </a:r>
            <a:endParaRPr lang="en-US" sz="1000" dirty="0"/>
          </a:p>
        </p:txBody>
      </p:sp>
      <p:pic>
        <p:nvPicPr>
          <p:cNvPr id="6" name="Image 1" descr="/sessions/sharp-charming-bohr/mnt/ESUS Endotyping with Causal Models/outputs_transportability/figure_T2_transport_controls.png">    </p:cNvPr>
          <p:cNvPicPr>
            <a:picLocks noChangeAspect="1"/>
          </p:cNvPicPr>
          <p:nvPr/>
        </p:nvPicPr>
        <p:blipFill>
          <a:blip r:embed="rId2"/>
          <a:stretch>
            <a:fillRect/>
          </a:stretch>
        </p:blipFill>
        <p:spPr>
          <a:xfrm>
            <a:off x="4434840" y="1234440"/>
            <a:ext cx="3657600" cy="1554480"/>
          </a:xfrm>
          <a:prstGeom prst="rect">
            <a:avLst/>
          </a:prstGeom>
        </p:spPr>
      </p:pic>
      <p:sp>
        <p:nvSpPr>
          <p:cNvPr id="7" name="Text 3"/>
          <p:cNvSpPr/>
          <p:nvPr/>
        </p:nvSpPr>
        <p:spPr>
          <a:xfrm>
            <a:off x="4434840" y="2852928"/>
            <a:ext cx="3657600" cy="411480"/>
          </a:xfrm>
          <a:prstGeom prst="rect">
            <a:avLst/>
          </a:prstGeom>
          <a:noFill/>
          <a:ln/>
        </p:spPr>
        <p:txBody>
          <a:bodyPr wrap="square" lIns="0" tIns="0" rIns="0" bIns="0" rtlCol="0" anchor="ctr"/>
          <a:lstStyle/>
          <a:p>
            <a:pPr indent="0" marL="0">
              <a:lnSpc>
                <a:spcPts val="1300"/>
              </a:lnSpc>
              <a:buNone/>
            </a:pPr>
            <a:r>
              <a:rPr lang="en-US" sz="1000" i="1" dirty="0">
                <a:solidFill>
                  <a:srgbClr val="6B7885"/>
                </a:solidFill>
                <a:latin typeface="Calibri" pitchFamily="34" charset="0"/>
                <a:ea typeface="Calibri" pitchFamily="34" charset="-122"/>
                <a:cs typeface="Calibri" pitchFamily="34" charset="-120"/>
              </a:rPr>
              <a:t>figure_T2_transport_controls — negative control and calibration</a:t>
            </a:r>
            <a:endParaRPr lang="en-US" sz="1000" dirty="0"/>
          </a:p>
        </p:txBody>
      </p:sp>
      <p:pic>
        <p:nvPicPr>
          <p:cNvPr id="8" name="Image 2" descr="/sessions/sharp-charming-bohr/mnt/ESUS Endotyping with Causal Models/outputs_associative_vs_scm/figure_P1_associative_vs_scm.png">    </p:cNvPr>
          <p:cNvPicPr>
            <a:picLocks noChangeAspect="1"/>
          </p:cNvPicPr>
          <p:nvPr/>
        </p:nvPicPr>
        <p:blipFill>
          <a:blip r:embed="rId3"/>
          <a:stretch>
            <a:fillRect/>
          </a:stretch>
        </p:blipFill>
        <p:spPr>
          <a:xfrm>
            <a:off x="8321040" y="1234440"/>
            <a:ext cx="3291840" cy="1362456"/>
          </a:xfrm>
          <a:prstGeom prst="rect">
            <a:avLst/>
          </a:prstGeom>
        </p:spPr>
      </p:pic>
      <p:sp>
        <p:nvSpPr>
          <p:cNvPr id="9" name="Text 4"/>
          <p:cNvSpPr/>
          <p:nvPr/>
        </p:nvSpPr>
        <p:spPr>
          <a:xfrm>
            <a:off x="8321040" y="2660904"/>
            <a:ext cx="3291840" cy="603504"/>
          </a:xfrm>
          <a:prstGeom prst="rect">
            <a:avLst/>
          </a:prstGeom>
          <a:noFill/>
          <a:ln/>
        </p:spPr>
        <p:txBody>
          <a:bodyPr wrap="square" lIns="0" tIns="0" rIns="0" bIns="0" rtlCol="0" anchor="ctr"/>
          <a:lstStyle/>
          <a:p>
            <a:pPr indent="0" marL="0">
              <a:lnSpc>
                <a:spcPts val="1300"/>
              </a:lnSpc>
              <a:buNone/>
            </a:pPr>
            <a:r>
              <a:rPr lang="en-US" sz="1000" i="1" dirty="0">
                <a:solidFill>
                  <a:srgbClr val="6B7885"/>
                </a:solidFill>
                <a:latin typeface="Calibri" pitchFamily="34" charset="0"/>
                <a:ea typeface="Calibri" pitchFamily="34" charset="-122"/>
                <a:cs typeface="Calibri" pitchFamily="34" charset="-120"/>
              </a:rPr>
              <a:t>figure_P1_associative_vs_scm — supervised comparison (labels used in training; NOT endotype discovery)</a:t>
            </a:r>
            <a:endParaRPr lang="en-US" sz="1000" dirty="0"/>
          </a:p>
        </p:txBody>
      </p:sp>
      <p:sp>
        <p:nvSpPr>
          <p:cNvPr id="10" name="Shape 5"/>
          <p:cNvSpPr/>
          <p:nvPr/>
        </p:nvSpPr>
        <p:spPr>
          <a:xfrm>
            <a:off x="548640" y="4023360"/>
            <a:ext cx="11064240" cy="1874520"/>
          </a:xfrm>
          <a:prstGeom prst="roundRect">
            <a:avLst>
              <a:gd name="adj" fmla="val 2927"/>
            </a:avLst>
          </a:prstGeom>
          <a:solidFill>
            <a:srgbClr val="F5F7F9"/>
          </a:solidFill>
          <a:ln w="12700">
            <a:solidFill>
              <a:srgbClr val="1C3F5F"/>
            </a:solidFill>
            <a:prstDash val="solid"/>
          </a:ln>
        </p:spPr>
      </p:sp>
      <p:sp>
        <p:nvSpPr>
          <p:cNvPr id="11" name="Text 6"/>
          <p:cNvSpPr/>
          <p:nvPr/>
        </p:nvSpPr>
        <p:spPr>
          <a:xfrm>
            <a:off x="868680" y="4160520"/>
            <a:ext cx="10424160" cy="292608"/>
          </a:xfrm>
          <a:prstGeom prst="rect">
            <a:avLst/>
          </a:prstGeom>
          <a:noFill/>
          <a:ln/>
        </p:spPr>
        <p:txBody>
          <a:bodyPr wrap="square" lIns="0" tIns="0" rIns="0" bIns="0" rtlCol="0" anchor="ctr"/>
          <a:lstStyle/>
          <a:p>
            <a:pPr indent="0" marL="0">
              <a:buNone/>
            </a:pPr>
            <a:r>
              <a:rPr lang="en-US" sz="1300" b="1" dirty="0">
                <a:solidFill>
                  <a:srgbClr val="1C3F5F"/>
                </a:solidFill>
                <a:latin typeface="Calibri" pitchFamily="34" charset="0"/>
                <a:ea typeface="Calibri" pitchFamily="34" charset="-122"/>
                <a:cs typeface="Calibri" pitchFamily="34" charset="-120"/>
              </a:rPr>
              <a:t>Reproducibility status</a:t>
            </a:r>
            <a:endParaRPr lang="en-US" sz="1300" dirty="0"/>
          </a:p>
        </p:txBody>
      </p:sp>
      <p:sp>
        <p:nvSpPr>
          <p:cNvPr id="12" name="Text 7"/>
          <p:cNvSpPr/>
          <p:nvPr/>
        </p:nvSpPr>
        <p:spPr>
          <a:xfrm>
            <a:off x="868680" y="4498848"/>
            <a:ext cx="10424160" cy="1280160"/>
          </a:xfrm>
          <a:prstGeom prst="rect">
            <a:avLst/>
          </a:prstGeom>
          <a:noFill/>
          <a:ln/>
        </p:spPr>
        <p:txBody>
          <a:bodyPr wrap="square" lIns="0" tIns="0" rIns="0" bIns="0" rtlCol="0" anchor="ctr"/>
          <a:lstStyle/>
          <a:p>
            <a:pPr marL="342900" indent="-342900">
              <a:lnSpc>
                <a:spcPts val="1600"/>
              </a:lnSpc>
              <a:spcAft>
                <a:spcPts val="800"/>
              </a:spcAft>
              <a:buSzPct val="100000"/>
              <a:buChar char="•"/>
            </a:pPr>
            <a:r>
              <a:rPr lang="en-US" sz="1250" dirty="0">
                <a:solidFill>
                  <a:srgbClr val="22282E"/>
                </a:solidFill>
                <a:latin typeface="Calibri" pitchFamily="34" charset="0"/>
                <a:ea typeface="Calibri" pitchFamily="34" charset="-122"/>
                <a:cs typeface="Calibri" pitchFamily="34" charset="-120"/>
              </a:rPr>
              <a:t>Every figure regenerates from a saved CSV — no manually transcribed values anywhere.</a:t>
            </a:r>
            <a:endParaRPr lang="en-US" sz="1250" dirty="0"/>
          </a:p>
          <a:p>
            <a:pPr marL="342900" indent="-342900">
              <a:lnSpc>
                <a:spcPts val="1600"/>
              </a:lnSpc>
              <a:spcAft>
                <a:spcPts val="800"/>
              </a:spcAft>
              <a:buSzPct val="100000"/>
              <a:buChar char="•"/>
            </a:pPr>
            <a:r>
              <a:rPr lang="en-US" sz="1250" dirty="0">
                <a:solidFill>
                  <a:srgbClr val="22282E"/>
                </a:solidFill>
                <a:latin typeface="Calibri" pitchFamily="34" charset="0"/>
                <a:ea typeface="Calibri" pitchFamily="34" charset="-122"/>
                <a:cs typeface="Calibri" pitchFamily="34" charset="-120"/>
              </a:rPr>
              <a:t>Machine-readable validation_checks.json passes for both experiments: convergence 100%, truth never reaches a fit function, class labels oriented without simulated truth.</a:t>
            </a:r>
            <a:endParaRPr lang="en-US" sz="1250" dirty="0"/>
          </a:p>
          <a:p>
            <a:pPr marL="342900" indent="-342900">
              <a:lnSpc>
                <a:spcPts val="1600"/>
              </a:lnSpc>
              <a:buSzPct val="100000"/>
              <a:buChar char="•"/>
            </a:pPr>
            <a:r>
              <a:rPr lang="en-US" sz="1250" dirty="0">
                <a:solidFill>
                  <a:srgbClr val="22282E"/>
                </a:solidFill>
                <a:latin typeface="Calibri" pitchFamily="34" charset="0"/>
                <a:ea typeface="Calibri" pitchFamily="34" charset="-122"/>
                <a:cs typeface="Calibri" pitchFamily="34" charset="-120"/>
              </a:rPr>
              <a:t>Still missing: a clean-environment rerun, a lockfile, and a single-command entry point. That is this week.</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C3F5F"/>
        </a:solidFill>
      </p:bgPr>
    </p:bg>
    <p:spTree>
      <p:nvGrpSpPr>
        <p:cNvPr id="1" name=""/>
        <p:cNvGrpSpPr/>
        <p:nvPr/>
      </p:nvGrpSpPr>
      <p:grpSpPr>
        <a:xfrm>
          <a:off x="0" y="0"/>
          <a:ext cx="0" cy="0"/>
          <a:chOff x="0" y="0"/>
          <a:chExt cx="0" cy="0"/>
        </a:xfrm>
      </p:grpSpPr>
      <p:sp>
        <p:nvSpPr>
          <p:cNvPr id="2" name="Shape 0"/>
          <p:cNvSpPr/>
          <p:nvPr/>
        </p:nvSpPr>
        <p:spPr>
          <a:xfrm>
            <a:off x="822960" y="2331720"/>
            <a:ext cx="1051560" cy="1051560"/>
          </a:xfrm>
          <a:prstGeom prst="ellipse">
            <a:avLst/>
          </a:prstGeom>
          <a:solidFill>
            <a:srgbClr val="C25A2E"/>
          </a:solidFill>
          <a:ln/>
        </p:spPr>
      </p:sp>
      <p:sp>
        <p:nvSpPr>
          <p:cNvPr id="3" name="Text 1"/>
          <p:cNvSpPr/>
          <p:nvPr/>
        </p:nvSpPr>
        <p:spPr>
          <a:xfrm>
            <a:off x="822960" y="2331720"/>
            <a:ext cx="1051560" cy="1051560"/>
          </a:xfrm>
          <a:prstGeom prst="rect">
            <a:avLst/>
          </a:prstGeom>
          <a:noFill/>
          <a:ln/>
        </p:spPr>
        <p:txBody>
          <a:bodyPr wrap="square" lIns="0" tIns="0" rIns="0" bIns="0" rtlCol="0" anchor="ctr"/>
          <a:lstStyle/>
          <a:p>
            <a:pPr algn="ctr" indent="0" marL="0">
              <a:buNone/>
            </a:pPr>
            <a:r>
              <a:rPr lang="en-US" sz="4400" b="1" dirty="0">
                <a:solidFill>
                  <a:srgbClr val="FFFFFF"/>
                </a:solidFill>
                <a:latin typeface="Cambria" pitchFamily="34" charset="0"/>
                <a:ea typeface="Cambria" pitchFamily="34" charset="-122"/>
                <a:cs typeface="Cambria" pitchFamily="34" charset="-120"/>
              </a:rPr>
              <a:t>3</a:t>
            </a:r>
            <a:endParaRPr lang="en-US" sz="4400" dirty="0"/>
          </a:p>
        </p:txBody>
      </p:sp>
      <p:sp>
        <p:nvSpPr>
          <p:cNvPr id="4" name="Text 2"/>
          <p:cNvSpPr/>
          <p:nvPr/>
        </p:nvSpPr>
        <p:spPr>
          <a:xfrm>
            <a:off x="2194560" y="2286000"/>
            <a:ext cx="9144000" cy="82296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Additional diagrams to strengthen the proposal</a:t>
            </a:r>
            <a:endParaRPr lang="en-US" sz="3400" dirty="0"/>
          </a:p>
        </p:txBody>
      </p:sp>
      <p:sp>
        <p:nvSpPr>
          <p:cNvPr id="5" name="Text 3"/>
          <p:cNvSpPr/>
          <p:nvPr/>
        </p:nvSpPr>
        <p:spPr>
          <a:xfrm>
            <a:off x="2194560" y="3108960"/>
            <a:ext cx="9144000" cy="640080"/>
          </a:xfrm>
          <a:prstGeom prst="rect">
            <a:avLst/>
          </a:prstGeom>
          <a:noFill/>
          <a:ln/>
        </p:spPr>
        <p:txBody>
          <a:bodyPr wrap="square" lIns="0" tIns="0" rIns="0" bIns="0" rtlCol="0" anchor="ctr"/>
          <a:lstStyle/>
          <a:p>
            <a:pPr indent="0" marL="0">
              <a:buNone/>
            </a:pPr>
            <a:r>
              <a:rPr lang="en-US" sz="1500" dirty="0">
                <a:solidFill>
                  <a:srgbClr val="9DB6CC"/>
                </a:solidFill>
                <a:latin typeface="Calibri" pitchFamily="34" charset="0"/>
                <a:ea typeface="Calibri" pitchFamily="34" charset="-122"/>
                <a:cs typeface="Calibri" pitchFamily="34" charset="-120"/>
              </a:rPr>
              <a:t>Three proposed · none exist yet · all buildable this week</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11064240" cy="256032"/>
          </a:xfrm>
          <a:prstGeom prst="rect">
            <a:avLst/>
          </a:prstGeom>
          <a:noFill/>
          <a:ln/>
        </p:spPr>
        <p:txBody>
          <a:bodyPr wrap="square" lIns="0" tIns="0" rIns="0" bIns="0" rtlCol="0" anchor="ctr"/>
          <a:lstStyle/>
          <a:p>
            <a:pPr indent="0" marL="0">
              <a:buNone/>
            </a:pPr>
            <a:r>
              <a:rPr lang="en-US" sz="1100" b="1" spc="200" kern="0" dirty="0">
                <a:solidFill>
                  <a:srgbClr val="C25A2E"/>
                </a:solidFill>
                <a:latin typeface="Calibri" pitchFamily="34" charset="0"/>
                <a:ea typeface="Calibri" pitchFamily="34" charset="-122"/>
                <a:cs typeface="Calibri" pitchFamily="34" charset="-120"/>
              </a:rPr>
              <a:t>ASK 3  ·  PROPOSED — NOT YET BUILT</a:t>
            </a:r>
            <a:endParaRPr lang="en-US" sz="1100" dirty="0"/>
          </a:p>
        </p:txBody>
      </p:sp>
      <p:sp>
        <p:nvSpPr>
          <p:cNvPr id="3" name="Text 1"/>
          <p:cNvSpPr/>
          <p:nvPr/>
        </p:nvSpPr>
        <p:spPr>
          <a:xfrm>
            <a:off x="548640" y="585216"/>
            <a:ext cx="11064240" cy="566928"/>
          </a:xfrm>
          <a:prstGeom prst="rect">
            <a:avLst/>
          </a:prstGeom>
          <a:noFill/>
          <a:ln/>
        </p:spPr>
        <p:txBody>
          <a:bodyPr wrap="square" lIns="0" tIns="0" rIns="0" bIns="0" rtlCol="0" anchor="ctr"/>
          <a:lstStyle/>
          <a:p>
            <a:pPr indent="0" marL="0">
              <a:buNone/>
            </a:pPr>
            <a:r>
              <a:rPr lang="en-US" sz="2900" b="1" dirty="0">
                <a:solidFill>
                  <a:srgbClr val="1C3F5F"/>
                </a:solidFill>
                <a:latin typeface="Cambria" pitchFamily="34" charset="0"/>
                <a:ea typeface="Cambria" pitchFamily="34" charset="-122"/>
                <a:cs typeface="Cambria" pitchFamily="34" charset="-120"/>
              </a:rPr>
              <a:t>Three diagrams I propose building next</a:t>
            </a:r>
            <a:endParaRPr lang="en-US" sz="2900" dirty="0"/>
          </a:p>
        </p:txBody>
      </p:sp>
      <p:sp>
        <p:nvSpPr>
          <p:cNvPr id="4" name="Shape 2"/>
          <p:cNvSpPr/>
          <p:nvPr/>
        </p:nvSpPr>
        <p:spPr>
          <a:xfrm>
            <a:off x="548640" y="1234440"/>
            <a:ext cx="3538728" cy="1965960"/>
          </a:xfrm>
          <a:prstGeom prst="roundRect">
            <a:avLst>
              <a:gd name="adj" fmla="val 2791"/>
            </a:avLst>
          </a:prstGeom>
          <a:solidFill>
            <a:srgbClr val="FBF3EC"/>
          </a:solidFill>
          <a:ln w="15875">
            <a:solidFill>
              <a:srgbClr val="C25A2E"/>
            </a:solidFill>
            <a:prstDash val="dash"/>
          </a:ln>
        </p:spPr>
      </p:sp>
      <p:sp>
        <p:nvSpPr>
          <p:cNvPr id="5" name="Text 3"/>
          <p:cNvSpPr/>
          <p:nvPr/>
        </p:nvSpPr>
        <p:spPr>
          <a:xfrm>
            <a:off x="731520" y="1234440"/>
            <a:ext cx="3172968" cy="1965960"/>
          </a:xfrm>
          <a:prstGeom prst="rect">
            <a:avLst/>
          </a:prstGeom>
          <a:noFill/>
          <a:ln/>
        </p:spPr>
        <p:txBody>
          <a:bodyPr wrap="square" lIns="0" tIns="0" rIns="0" bIns="0" rtlCol="0" anchor="ctr"/>
          <a:lstStyle/>
          <a:p>
            <a:pPr algn="ctr" indent="0" marL="0">
              <a:lnSpc>
                <a:spcPts val="1700"/>
              </a:lnSpc>
              <a:buNone/>
            </a:pPr>
            <a:r>
              <a:rPr lang="en-US" sz="1200" b="1" dirty="0">
                <a:solidFill>
                  <a:srgbClr val="C25A2E"/>
                </a:solidFill>
                <a:latin typeface="Calibri" pitchFamily="34" charset="0"/>
                <a:ea typeface="Calibri" pitchFamily="34" charset="-122"/>
                <a:cs typeface="Calibri" pitchFamily="34" charset="-120"/>
              </a:rPr>
              <a:t>PLACEHOLDER</a:t>
            </a:r>
            <a:endParaRPr lang="en-US" sz="1200" dirty="0"/>
          </a:p>
          <a:p>
            <a:pPr algn="ctr" indent="0" marL="0">
              <a:lnSpc>
                <a:spcPts val="1700"/>
              </a:lnSpc>
              <a:buNone/>
            </a:pPr>
            <a:endParaRPr lang="en-US" sz="1200" dirty="0"/>
          </a:p>
          <a:p>
            <a:pPr algn="ctr" indent="0" marL="0">
              <a:lnSpc>
                <a:spcPts val="1700"/>
              </a:lnSpc>
              <a:buNone/>
            </a:pPr>
            <a:r>
              <a:rPr lang="en-US" sz="1200" b="1" dirty="0">
                <a:solidFill>
                  <a:srgbClr val="C25A2E"/>
                </a:solidFill>
                <a:latin typeface="Calibri" pitchFamily="34" charset="0"/>
                <a:ea typeface="Calibri" pitchFamily="34" charset="-122"/>
                <a:cs typeface="Calibri" pitchFamily="34" charset="-120"/>
              </a:rPr>
              <a:t>M1 / M2 / M3 milestone map</a:t>
            </a:r>
            <a:endParaRPr lang="en-US" sz="1200" dirty="0"/>
          </a:p>
          <a:p>
            <a:pPr algn="ctr" indent="0" marL="0">
              <a:lnSpc>
                <a:spcPts val="1700"/>
              </a:lnSpc>
              <a:buNone/>
            </a:pPr>
            <a:r>
              <a:rPr lang="en-US" sz="1200" b="1" dirty="0">
                <a:solidFill>
                  <a:srgbClr val="C25A2E"/>
                </a:solidFill>
                <a:latin typeface="Calibri" pitchFamily="34" charset="0"/>
                <a:ea typeface="Calibri" pitchFamily="34" charset="-122"/>
                <a:cs typeface="Calibri" pitchFamily="34" charset="-120"/>
              </a:rPr>
              <a:t>milestones → Aims 1–3</a:t>
            </a:r>
            <a:endParaRPr lang="en-US" sz="1200" dirty="0"/>
          </a:p>
          <a:p>
            <a:pPr algn="ctr" indent="0" marL="0">
              <a:lnSpc>
                <a:spcPts val="1700"/>
              </a:lnSpc>
              <a:buNone/>
            </a:pPr>
            <a:r>
              <a:rPr lang="en-US" sz="1200" b="1" dirty="0">
                <a:solidFill>
                  <a:srgbClr val="C25A2E"/>
                </a:solidFill>
                <a:latin typeface="Calibri" pitchFamily="34" charset="0"/>
                <a:ea typeface="Calibri" pitchFamily="34" charset="-122"/>
                <a:cs typeface="Calibri" pitchFamily="34" charset="-120"/>
              </a:rPr>
              <a:t>with hard decision gates</a:t>
            </a:r>
            <a:endParaRPr lang="en-US" sz="1200" dirty="0"/>
          </a:p>
        </p:txBody>
      </p:sp>
      <p:sp>
        <p:nvSpPr>
          <p:cNvPr id="6" name="Shape 4"/>
          <p:cNvSpPr/>
          <p:nvPr/>
        </p:nvSpPr>
        <p:spPr>
          <a:xfrm>
            <a:off x="4315968" y="1234440"/>
            <a:ext cx="3538728" cy="1965960"/>
          </a:xfrm>
          <a:prstGeom prst="roundRect">
            <a:avLst>
              <a:gd name="adj" fmla="val 2791"/>
            </a:avLst>
          </a:prstGeom>
          <a:solidFill>
            <a:srgbClr val="FBF3EC"/>
          </a:solidFill>
          <a:ln w="15875">
            <a:solidFill>
              <a:srgbClr val="C25A2E"/>
            </a:solidFill>
            <a:prstDash val="dash"/>
          </a:ln>
        </p:spPr>
      </p:sp>
      <p:sp>
        <p:nvSpPr>
          <p:cNvPr id="7" name="Text 5"/>
          <p:cNvSpPr/>
          <p:nvPr/>
        </p:nvSpPr>
        <p:spPr>
          <a:xfrm>
            <a:off x="4498848" y="1234440"/>
            <a:ext cx="3172968" cy="1965960"/>
          </a:xfrm>
          <a:prstGeom prst="rect">
            <a:avLst/>
          </a:prstGeom>
          <a:noFill/>
          <a:ln/>
        </p:spPr>
        <p:txBody>
          <a:bodyPr wrap="square" lIns="0" tIns="0" rIns="0" bIns="0" rtlCol="0" anchor="ctr"/>
          <a:lstStyle/>
          <a:p>
            <a:pPr algn="ctr" indent="0" marL="0">
              <a:lnSpc>
                <a:spcPts val="1700"/>
              </a:lnSpc>
              <a:buNone/>
            </a:pPr>
            <a:r>
              <a:rPr lang="en-US" sz="1200" b="1" dirty="0">
                <a:solidFill>
                  <a:srgbClr val="C25A2E"/>
                </a:solidFill>
                <a:latin typeface="Calibri" pitchFamily="34" charset="0"/>
                <a:ea typeface="Calibri" pitchFamily="34" charset="-122"/>
                <a:cs typeface="Calibri" pitchFamily="34" charset="-120"/>
              </a:rPr>
              <a:t>PLACEHOLDER</a:t>
            </a:r>
            <a:endParaRPr lang="en-US" sz="1200" dirty="0"/>
          </a:p>
          <a:p>
            <a:pPr algn="ctr" indent="0" marL="0">
              <a:lnSpc>
                <a:spcPts val="1700"/>
              </a:lnSpc>
              <a:buNone/>
            </a:pPr>
            <a:endParaRPr lang="en-US" sz="1200" dirty="0"/>
          </a:p>
          <a:p>
            <a:pPr algn="ctr" indent="0" marL="0">
              <a:lnSpc>
                <a:spcPts val="1700"/>
              </a:lnSpc>
              <a:buNone/>
            </a:pPr>
            <a:r>
              <a:rPr lang="en-US" sz="1200" b="1" dirty="0">
                <a:solidFill>
                  <a:srgbClr val="C25A2E"/>
                </a:solidFill>
                <a:latin typeface="Calibri" pitchFamily="34" charset="0"/>
                <a:ea typeface="Calibri" pitchFamily="34" charset="-122"/>
                <a:cs typeface="Calibri" pitchFamily="34" charset="-120"/>
              </a:rPr>
              <a:t>Stable vs adaptable modules</a:t>
            </a:r>
            <a:endParaRPr lang="en-US" sz="1200" dirty="0"/>
          </a:p>
          <a:p>
            <a:pPr algn="ctr" indent="0" marL="0">
              <a:lnSpc>
                <a:spcPts val="1700"/>
              </a:lnSpc>
              <a:buNone/>
            </a:pPr>
            <a:r>
              <a:rPr lang="en-US" sz="1200" b="1" dirty="0">
                <a:solidFill>
                  <a:srgbClr val="C25A2E"/>
                </a:solidFill>
                <a:latin typeface="Calibri" pitchFamily="34" charset="0"/>
                <a:ea typeface="Calibri" pitchFamily="34" charset="-122"/>
                <a:cs typeface="Calibri" pitchFamily="34" charset="-120"/>
              </a:rPr>
              <a:t>shared DAG with mechanism gates</a:t>
            </a:r>
            <a:endParaRPr lang="en-US" sz="1200" dirty="0"/>
          </a:p>
          <a:p>
            <a:pPr algn="ctr" indent="0" marL="0">
              <a:lnSpc>
                <a:spcPts val="1700"/>
              </a:lnSpc>
              <a:buNone/>
            </a:pPr>
            <a:r>
              <a:rPr lang="en-US" sz="1200" b="1" dirty="0">
                <a:solidFill>
                  <a:srgbClr val="C25A2E"/>
                </a:solidFill>
                <a:latin typeface="Calibri" pitchFamily="34" charset="0"/>
                <a:ea typeface="Calibri" pitchFamily="34" charset="-122"/>
                <a:cs typeface="Calibri" pitchFamily="34" charset="-120"/>
              </a:rPr>
              <a:t>separated from nuisance / assay /</a:t>
            </a:r>
            <a:endParaRPr lang="en-US" sz="1200" dirty="0"/>
          </a:p>
          <a:p>
            <a:pPr algn="ctr" indent="0" marL="0">
              <a:lnSpc>
                <a:spcPts val="1700"/>
              </a:lnSpc>
              <a:buNone/>
            </a:pPr>
            <a:r>
              <a:rPr lang="en-US" sz="1200" b="1" dirty="0">
                <a:solidFill>
                  <a:srgbClr val="C25A2E"/>
                </a:solidFill>
                <a:latin typeface="Calibri" pitchFamily="34" charset="0"/>
                <a:ea typeface="Calibri" pitchFamily="34" charset="-122"/>
                <a:cs typeface="Calibri" pitchFamily="34" charset="-120"/>
              </a:rPr>
              <a:t>missingness / prevalence</a:t>
            </a:r>
            <a:endParaRPr lang="en-US" sz="1200" dirty="0"/>
          </a:p>
        </p:txBody>
      </p:sp>
      <p:sp>
        <p:nvSpPr>
          <p:cNvPr id="8" name="Shape 6"/>
          <p:cNvSpPr/>
          <p:nvPr/>
        </p:nvSpPr>
        <p:spPr>
          <a:xfrm>
            <a:off x="8074152" y="1234440"/>
            <a:ext cx="3538728" cy="1965960"/>
          </a:xfrm>
          <a:prstGeom prst="roundRect">
            <a:avLst>
              <a:gd name="adj" fmla="val 2791"/>
            </a:avLst>
          </a:prstGeom>
          <a:solidFill>
            <a:srgbClr val="FBF3EC"/>
          </a:solidFill>
          <a:ln w="15875">
            <a:solidFill>
              <a:srgbClr val="C25A2E"/>
            </a:solidFill>
            <a:prstDash val="dash"/>
          </a:ln>
        </p:spPr>
      </p:sp>
      <p:sp>
        <p:nvSpPr>
          <p:cNvPr id="9" name="Text 7"/>
          <p:cNvSpPr/>
          <p:nvPr/>
        </p:nvSpPr>
        <p:spPr>
          <a:xfrm>
            <a:off x="8257032" y="1234440"/>
            <a:ext cx="3172968" cy="1965960"/>
          </a:xfrm>
          <a:prstGeom prst="rect">
            <a:avLst/>
          </a:prstGeom>
          <a:noFill/>
          <a:ln/>
        </p:spPr>
        <p:txBody>
          <a:bodyPr wrap="square" lIns="0" tIns="0" rIns="0" bIns="0" rtlCol="0" anchor="ctr"/>
          <a:lstStyle/>
          <a:p>
            <a:pPr algn="ctr" indent="0" marL="0">
              <a:lnSpc>
                <a:spcPts val="1700"/>
              </a:lnSpc>
              <a:buNone/>
            </a:pPr>
            <a:r>
              <a:rPr lang="en-US" sz="1200" b="1" dirty="0">
                <a:solidFill>
                  <a:srgbClr val="C25A2E"/>
                </a:solidFill>
                <a:latin typeface="Calibri" pitchFamily="34" charset="0"/>
                <a:ea typeface="Calibri" pitchFamily="34" charset="-122"/>
                <a:cs typeface="Calibri" pitchFamily="34" charset="-120"/>
              </a:rPr>
              <a:t>PLACEHOLDER</a:t>
            </a:r>
            <a:endParaRPr lang="en-US" sz="1200" dirty="0"/>
          </a:p>
          <a:p>
            <a:pPr algn="ctr" indent="0" marL="0">
              <a:lnSpc>
                <a:spcPts val="1700"/>
              </a:lnSpc>
              <a:buNone/>
            </a:pPr>
            <a:endParaRPr lang="en-US" sz="1200" dirty="0"/>
          </a:p>
          <a:p>
            <a:pPr algn="ctr" indent="0" marL="0">
              <a:lnSpc>
                <a:spcPts val="1700"/>
              </a:lnSpc>
              <a:buNone/>
            </a:pPr>
            <a:r>
              <a:rPr lang="en-US" sz="1200" b="1" dirty="0">
                <a:solidFill>
                  <a:srgbClr val="C25A2E"/>
                </a:solidFill>
                <a:latin typeface="Calibri" pitchFamily="34" charset="0"/>
                <a:ea typeface="Calibri" pitchFamily="34" charset="-122"/>
                <a:cs typeface="Calibri" pitchFamily="34" charset="-120"/>
              </a:rPr>
              <a:t>M0–M5 source-of-gain ladder</a:t>
            </a:r>
            <a:endParaRPr lang="en-US" sz="1200" dirty="0"/>
          </a:p>
          <a:p>
            <a:pPr algn="ctr" indent="0" marL="0">
              <a:lnSpc>
                <a:spcPts val="1700"/>
              </a:lnSpc>
              <a:buNone/>
            </a:pPr>
            <a:r>
              <a:rPr lang="en-US" sz="1200" b="1" dirty="0">
                <a:solidFill>
                  <a:srgbClr val="C25A2E"/>
                </a:solidFill>
                <a:latin typeface="Calibri" pitchFamily="34" charset="0"/>
                <a:ea typeface="Calibri" pitchFamily="34" charset="-122"/>
                <a:cs typeface="Calibri" pitchFamily="34" charset="-120"/>
              </a:rPr>
              <a:t>each rung adds exactly one</a:t>
            </a:r>
            <a:endParaRPr lang="en-US" sz="1200" dirty="0"/>
          </a:p>
          <a:p>
            <a:pPr algn="ctr" indent="0" marL="0">
              <a:lnSpc>
                <a:spcPts val="1700"/>
              </a:lnSpc>
              <a:buNone/>
            </a:pPr>
            <a:r>
              <a:rPr lang="en-US" sz="1200" b="1" dirty="0">
                <a:solidFill>
                  <a:srgbClr val="C25A2E"/>
                </a:solidFill>
                <a:latin typeface="Calibri" pitchFamily="34" charset="0"/>
                <a:ea typeface="Calibri" pitchFamily="34" charset="-122"/>
                <a:cs typeface="Calibri" pitchFamily="34" charset="-120"/>
              </a:rPr>
              <a:t>component — Aim 1's core figure</a:t>
            </a:r>
            <a:endParaRPr lang="en-US" sz="1200" dirty="0"/>
          </a:p>
        </p:txBody>
      </p:sp>
      <p:sp>
        <p:nvSpPr>
          <p:cNvPr id="10" name="Shape 8"/>
          <p:cNvSpPr/>
          <p:nvPr/>
        </p:nvSpPr>
        <p:spPr>
          <a:xfrm>
            <a:off x="548640" y="3429000"/>
            <a:ext cx="11064240" cy="786384"/>
          </a:xfrm>
          <a:prstGeom prst="roundRect">
            <a:avLst>
              <a:gd name="adj" fmla="val 6977"/>
            </a:avLst>
          </a:prstGeom>
          <a:solidFill>
            <a:srgbClr val="F5F7F9"/>
          </a:solidFill>
          <a:ln w="9525">
            <a:solidFill>
              <a:srgbClr val="D8DEE4"/>
            </a:solidFill>
            <a:prstDash val="solid"/>
          </a:ln>
        </p:spPr>
      </p:sp>
      <p:sp>
        <p:nvSpPr>
          <p:cNvPr id="11" name="Shape 9"/>
          <p:cNvSpPr/>
          <p:nvPr/>
        </p:nvSpPr>
        <p:spPr>
          <a:xfrm>
            <a:off x="841248" y="3630168"/>
            <a:ext cx="384048" cy="384048"/>
          </a:xfrm>
          <a:prstGeom prst="ellipse">
            <a:avLst/>
          </a:prstGeom>
          <a:solidFill>
            <a:srgbClr val="1C3F5F"/>
          </a:solidFill>
          <a:ln/>
        </p:spPr>
      </p:sp>
      <p:sp>
        <p:nvSpPr>
          <p:cNvPr id="12" name="Text 10"/>
          <p:cNvSpPr/>
          <p:nvPr/>
        </p:nvSpPr>
        <p:spPr>
          <a:xfrm>
            <a:off x="841248" y="3630168"/>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13" name="Text 11"/>
          <p:cNvSpPr/>
          <p:nvPr/>
        </p:nvSpPr>
        <p:spPr>
          <a:xfrm>
            <a:off x="1417320" y="3557016"/>
            <a:ext cx="3017520" cy="548640"/>
          </a:xfrm>
          <a:prstGeom prst="rect">
            <a:avLst/>
          </a:prstGeom>
          <a:noFill/>
          <a:ln/>
        </p:spPr>
        <p:txBody>
          <a:bodyPr wrap="square" lIns="0" tIns="0" rIns="0" bIns="0" rtlCol="0" anchor="ctr"/>
          <a:lstStyle/>
          <a:p>
            <a:pPr indent="0" marL="0">
              <a:buNone/>
            </a:pPr>
            <a:r>
              <a:rPr lang="en-US" sz="1350" b="1" dirty="0">
                <a:solidFill>
                  <a:srgbClr val="1C3F5F"/>
                </a:solidFill>
                <a:latin typeface="Calibri" pitchFamily="34" charset="0"/>
                <a:ea typeface="Calibri" pitchFamily="34" charset="-122"/>
                <a:cs typeface="Calibri" pitchFamily="34" charset="-120"/>
              </a:rPr>
              <a:t>M1/M2/M3 milestone map</a:t>
            </a:r>
            <a:endParaRPr lang="en-US" sz="1350" dirty="0"/>
          </a:p>
        </p:txBody>
      </p:sp>
      <p:sp>
        <p:nvSpPr>
          <p:cNvPr id="14" name="Text 12"/>
          <p:cNvSpPr/>
          <p:nvPr/>
        </p:nvSpPr>
        <p:spPr>
          <a:xfrm>
            <a:off x="4572000" y="3538728"/>
            <a:ext cx="6858000" cy="585216"/>
          </a:xfrm>
          <a:prstGeom prst="rect">
            <a:avLst/>
          </a:prstGeom>
          <a:noFill/>
          <a:ln/>
        </p:spPr>
        <p:txBody>
          <a:bodyPr wrap="square" lIns="0" tIns="0" rIns="0" bIns="0" rtlCol="0" anchor="ctr"/>
          <a:lstStyle/>
          <a:p>
            <a:pPr indent="0" marL="0">
              <a:lnSpc>
                <a:spcPts val="1500"/>
              </a:lnSpc>
              <a:buNone/>
            </a:pPr>
            <a:r>
              <a:rPr lang="en-US" sz="1200" dirty="0">
                <a:solidFill>
                  <a:srgbClr val="22282E"/>
                </a:solidFill>
                <a:latin typeface="Calibri" pitchFamily="34" charset="0"/>
                <a:ea typeface="Calibri" pitchFamily="34" charset="-122"/>
                <a:cs typeface="Calibri" pitchFamily="34" charset="-120"/>
              </a:rPr>
              <a:t>You framed the project this way. No diagram exists. It maps directly onto the three aims and shows reviewers the decision gates.</a:t>
            </a:r>
            <a:endParaRPr lang="en-US" sz="1200" dirty="0"/>
          </a:p>
        </p:txBody>
      </p:sp>
      <p:sp>
        <p:nvSpPr>
          <p:cNvPr id="15" name="Shape 13"/>
          <p:cNvSpPr/>
          <p:nvPr/>
        </p:nvSpPr>
        <p:spPr>
          <a:xfrm>
            <a:off x="548640" y="4325112"/>
            <a:ext cx="11064240" cy="786384"/>
          </a:xfrm>
          <a:prstGeom prst="roundRect">
            <a:avLst>
              <a:gd name="adj" fmla="val 6977"/>
            </a:avLst>
          </a:prstGeom>
          <a:solidFill>
            <a:srgbClr val="F5F7F9"/>
          </a:solidFill>
          <a:ln w="9525">
            <a:solidFill>
              <a:srgbClr val="D8DEE4"/>
            </a:solidFill>
            <a:prstDash val="solid"/>
          </a:ln>
        </p:spPr>
      </p:sp>
      <p:sp>
        <p:nvSpPr>
          <p:cNvPr id="16" name="Shape 14"/>
          <p:cNvSpPr/>
          <p:nvPr/>
        </p:nvSpPr>
        <p:spPr>
          <a:xfrm>
            <a:off x="841248" y="4526280"/>
            <a:ext cx="384048" cy="384048"/>
          </a:xfrm>
          <a:prstGeom prst="ellipse">
            <a:avLst/>
          </a:prstGeom>
          <a:solidFill>
            <a:srgbClr val="2A7F7F"/>
          </a:solidFill>
          <a:ln/>
        </p:spPr>
      </p:sp>
      <p:sp>
        <p:nvSpPr>
          <p:cNvPr id="17" name="Text 15"/>
          <p:cNvSpPr/>
          <p:nvPr/>
        </p:nvSpPr>
        <p:spPr>
          <a:xfrm>
            <a:off x="841248" y="4526280"/>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8" name="Text 16"/>
          <p:cNvSpPr/>
          <p:nvPr/>
        </p:nvSpPr>
        <p:spPr>
          <a:xfrm>
            <a:off x="1417320" y="4453128"/>
            <a:ext cx="3017520" cy="548640"/>
          </a:xfrm>
          <a:prstGeom prst="rect">
            <a:avLst/>
          </a:prstGeom>
          <a:noFill/>
          <a:ln/>
        </p:spPr>
        <p:txBody>
          <a:bodyPr wrap="square" lIns="0" tIns="0" rIns="0" bIns="0" rtlCol="0" anchor="ctr"/>
          <a:lstStyle/>
          <a:p>
            <a:pPr indent="0" marL="0">
              <a:buNone/>
            </a:pPr>
            <a:r>
              <a:rPr lang="en-US" sz="1350" b="1" dirty="0">
                <a:solidFill>
                  <a:srgbClr val="2A7F7F"/>
                </a:solidFill>
                <a:latin typeface="Calibri" pitchFamily="34" charset="0"/>
                <a:ea typeface="Calibri" pitchFamily="34" charset="-122"/>
                <a:cs typeface="Calibri" pitchFamily="34" charset="-120"/>
              </a:rPr>
              <a:t>Stable vs adaptable modules</a:t>
            </a:r>
            <a:endParaRPr lang="en-US" sz="1350" dirty="0"/>
          </a:p>
        </p:txBody>
      </p:sp>
      <p:sp>
        <p:nvSpPr>
          <p:cNvPr id="19" name="Text 17"/>
          <p:cNvSpPr/>
          <p:nvPr/>
        </p:nvSpPr>
        <p:spPr>
          <a:xfrm>
            <a:off x="4572000" y="4434840"/>
            <a:ext cx="6858000" cy="585216"/>
          </a:xfrm>
          <a:prstGeom prst="rect">
            <a:avLst/>
          </a:prstGeom>
          <a:noFill/>
          <a:ln/>
        </p:spPr>
        <p:txBody>
          <a:bodyPr wrap="square" lIns="0" tIns="0" rIns="0" bIns="0" rtlCol="0" anchor="ctr"/>
          <a:lstStyle/>
          <a:p>
            <a:pPr indent="0" marL="0">
              <a:lnSpc>
                <a:spcPts val="1500"/>
              </a:lnSpc>
              <a:buNone/>
            </a:pPr>
            <a:r>
              <a:rPr lang="en-US" sz="1200" dirty="0">
                <a:solidFill>
                  <a:srgbClr val="22282E"/>
                </a:solidFill>
                <a:latin typeface="Calibri" pitchFamily="34" charset="0"/>
                <a:ea typeface="Calibri" pitchFamily="34" charset="-122"/>
                <a:cs typeface="Calibri" pitchFamily="34" charset="-120"/>
              </a:rPr>
              <a:t>The single clearest way to show what “modular” means — and why a frozen causal graph is not automatically invariant.</a:t>
            </a:r>
            <a:endParaRPr lang="en-US" sz="1200" dirty="0"/>
          </a:p>
        </p:txBody>
      </p:sp>
      <p:sp>
        <p:nvSpPr>
          <p:cNvPr id="20" name="Shape 18"/>
          <p:cNvSpPr/>
          <p:nvPr/>
        </p:nvSpPr>
        <p:spPr>
          <a:xfrm>
            <a:off x="548640" y="5221224"/>
            <a:ext cx="11064240" cy="786384"/>
          </a:xfrm>
          <a:prstGeom prst="roundRect">
            <a:avLst>
              <a:gd name="adj" fmla="val 6977"/>
            </a:avLst>
          </a:prstGeom>
          <a:solidFill>
            <a:srgbClr val="F5F7F9"/>
          </a:solidFill>
          <a:ln w="9525">
            <a:solidFill>
              <a:srgbClr val="D8DEE4"/>
            </a:solidFill>
            <a:prstDash val="solid"/>
          </a:ln>
        </p:spPr>
      </p:sp>
      <p:sp>
        <p:nvSpPr>
          <p:cNvPr id="21" name="Shape 19"/>
          <p:cNvSpPr/>
          <p:nvPr/>
        </p:nvSpPr>
        <p:spPr>
          <a:xfrm>
            <a:off x="841248" y="5422392"/>
            <a:ext cx="384048" cy="384048"/>
          </a:xfrm>
          <a:prstGeom prst="ellipse">
            <a:avLst/>
          </a:prstGeom>
          <a:solidFill>
            <a:srgbClr val="C25A2E"/>
          </a:solidFill>
          <a:ln/>
        </p:spPr>
      </p:sp>
      <p:sp>
        <p:nvSpPr>
          <p:cNvPr id="22" name="Text 20"/>
          <p:cNvSpPr/>
          <p:nvPr/>
        </p:nvSpPr>
        <p:spPr>
          <a:xfrm>
            <a:off x="841248" y="5422392"/>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23" name="Text 21"/>
          <p:cNvSpPr/>
          <p:nvPr/>
        </p:nvSpPr>
        <p:spPr>
          <a:xfrm>
            <a:off x="1417320" y="5349240"/>
            <a:ext cx="3017520" cy="548640"/>
          </a:xfrm>
          <a:prstGeom prst="rect">
            <a:avLst/>
          </a:prstGeom>
          <a:noFill/>
          <a:ln/>
        </p:spPr>
        <p:txBody>
          <a:bodyPr wrap="square" lIns="0" tIns="0" rIns="0" bIns="0" rtlCol="0" anchor="ctr"/>
          <a:lstStyle/>
          <a:p>
            <a:pPr indent="0" marL="0">
              <a:buNone/>
            </a:pPr>
            <a:r>
              <a:rPr lang="en-US" sz="1350" b="1" dirty="0">
                <a:solidFill>
                  <a:srgbClr val="C25A2E"/>
                </a:solidFill>
                <a:latin typeface="Calibri" pitchFamily="34" charset="0"/>
                <a:ea typeface="Calibri" pitchFamily="34" charset="-122"/>
                <a:cs typeface="Calibri" pitchFamily="34" charset="-120"/>
              </a:rPr>
              <a:t>M0–M5 ablation ladder</a:t>
            </a:r>
            <a:endParaRPr lang="en-US" sz="1350" dirty="0"/>
          </a:p>
        </p:txBody>
      </p:sp>
      <p:sp>
        <p:nvSpPr>
          <p:cNvPr id="24" name="Text 22"/>
          <p:cNvSpPr/>
          <p:nvPr/>
        </p:nvSpPr>
        <p:spPr>
          <a:xfrm>
            <a:off x="4572000" y="5330952"/>
            <a:ext cx="6858000" cy="585216"/>
          </a:xfrm>
          <a:prstGeom prst="rect">
            <a:avLst/>
          </a:prstGeom>
          <a:noFill/>
          <a:ln/>
        </p:spPr>
        <p:txBody>
          <a:bodyPr wrap="square" lIns="0" tIns="0" rIns="0" bIns="0" rtlCol="0" anchor="ctr"/>
          <a:lstStyle/>
          <a:p>
            <a:pPr indent="0" marL="0">
              <a:lnSpc>
                <a:spcPts val="1500"/>
              </a:lnSpc>
              <a:buNone/>
            </a:pPr>
            <a:r>
              <a:rPr lang="en-US" sz="1200" dirty="0">
                <a:solidFill>
                  <a:srgbClr val="22282E"/>
                </a:solidFill>
                <a:latin typeface="Calibri" pitchFamily="34" charset="0"/>
                <a:ea typeface="Calibri" pitchFamily="34" charset="-122"/>
                <a:cs typeface="Calibri" pitchFamily="34" charset="-120"/>
              </a:rPr>
              <a:t>This is Aim 1's core experiment. Without it, Aim 1 has no headline figure.</a:t>
            </a:r>
            <a:endParaRPr lang="en-US" sz="1200" dirty="0"/>
          </a:p>
        </p:txBody>
      </p:sp>
      <p:sp>
        <p:nvSpPr>
          <p:cNvPr id="25" name="Text 23"/>
          <p:cNvSpPr/>
          <p:nvPr/>
        </p:nvSpPr>
        <p:spPr>
          <a:xfrm>
            <a:off x="548640" y="6236208"/>
            <a:ext cx="11064240" cy="365760"/>
          </a:xfrm>
          <a:prstGeom prst="rect">
            <a:avLst/>
          </a:prstGeom>
          <a:noFill/>
          <a:ln/>
        </p:spPr>
        <p:txBody>
          <a:bodyPr wrap="square" lIns="0" tIns="0" rIns="0" bIns="0" rtlCol="0" anchor="ctr"/>
          <a:lstStyle/>
          <a:p>
            <a:pPr indent="0" marL="0">
              <a:buNone/>
            </a:pPr>
            <a:r>
              <a:rPr lang="en-US" sz="1050" i="1" dirty="0">
                <a:solidFill>
                  <a:srgbClr val="6B7885"/>
                </a:solidFill>
                <a:latin typeface="Calibri" pitchFamily="34" charset="0"/>
                <a:ea typeface="Calibri" pitchFamily="34" charset="-122"/>
                <a:cs typeface="Calibri" pitchFamily="34" charset="-120"/>
              </a:rPr>
              <a:t>Also still placeholder in the Research Strategy: Figure 3 ARCADIA composite (marker-overlap UpSet + missingness heat map) and Figure 4 five-year work plan.</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C3F5F"/>
        </a:solidFill>
      </p:bgPr>
    </p:bg>
    <p:spTree>
      <p:nvGrpSpPr>
        <p:cNvPr id="1" name=""/>
        <p:cNvGrpSpPr/>
        <p:nvPr/>
      </p:nvGrpSpPr>
      <p:grpSpPr>
        <a:xfrm>
          <a:off x="0" y="0"/>
          <a:ext cx="0" cy="0"/>
          <a:chOff x="0" y="0"/>
          <a:chExt cx="0" cy="0"/>
        </a:xfrm>
      </p:grpSpPr>
      <p:sp>
        <p:nvSpPr>
          <p:cNvPr id="2" name="Shape 0"/>
          <p:cNvSpPr/>
          <p:nvPr/>
        </p:nvSpPr>
        <p:spPr>
          <a:xfrm>
            <a:off x="822960" y="2331720"/>
            <a:ext cx="1051560" cy="1051560"/>
          </a:xfrm>
          <a:prstGeom prst="ellipse">
            <a:avLst/>
          </a:prstGeom>
          <a:solidFill>
            <a:srgbClr val="C25A2E"/>
          </a:solidFill>
          <a:ln/>
        </p:spPr>
      </p:sp>
      <p:sp>
        <p:nvSpPr>
          <p:cNvPr id="3" name="Text 1"/>
          <p:cNvSpPr/>
          <p:nvPr/>
        </p:nvSpPr>
        <p:spPr>
          <a:xfrm>
            <a:off x="822960" y="2331720"/>
            <a:ext cx="1051560" cy="1051560"/>
          </a:xfrm>
          <a:prstGeom prst="rect">
            <a:avLst/>
          </a:prstGeom>
          <a:noFill/>
          <a:ln/>
        </p:spPr>
        <p:txBody>
          <a:bodyPr wrap="square" lIns="0" tIns="0" rIns="0" bIns="0" rtlCol="0" anchor="ctr"/>
          <a:lstStyle/>
          <a:p>
            <a:pPr algn="ctr" indent="0" marL="0">
              <a:buNone/>
            </a:pPr>
            <a:r>
              <a:rPr lang="en-US" sz="4400" b="1" dirty="0">
                <a:solidFill>
                  <a:srgbClr val="FFFFFF"/>
                </a:solidFill>
                <a:latin typeface="Cambria" pitchFamily="34" charset="0"/>
                <a:ea typeface="Cambria" pitchFamily="34" charset="-122"/>
                <a:cs typeface="Cambria" pitchFamily="34" charset="-120"/>
              </a:rPr>
              <a:t>4</a:t>
            </a:r>
            <a:endParaRPr lang="en-US" sz="4400" dirty="0"/>
          </a:p>
        </p:txBody>
      </p:sp>
      <p:sp>
        <p:nvSpPr>
          <p:cNvPr id="4" name="Text 2"/>
          <p:cNvSpPr/>
          <p:nvPr/>
        </p:nvSpPr>
        <p:spPr>
          <a:xfrm>
            <a:off x="2194560" y="2286000"/>
            <a:ext cx="9144000" cy="82296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Methodology: one finding, and the gap register</a:t>
            </a:r>
            <a:endParaRPr lang="en-US" sz="3400" dirty="0"/>
          </a:p>
        </p:txBody>
      </p:sp>
      <p:sp>
        <p:nvSpPr>
          <p:cNvPr id="5" name="Text 3"/>
          <p:cNvSpPr/>
          <p:nvPr/>
        </p:nvSpPr>
        <p:spPr>
          <a:xfrm>
            <a:off x="2194560" y="3108960"/>
            <a:ext cx="9144000" cy="640080"/>
          </a:xfrm>
          <a:prstGeom prst="rect">
            <a:avLst/>
          </a:prstGeom>
          <a:noFill/>
          <a:ln/>
        </p:spPr>
        <p:txBody>
          <a:bodyPr wrap="square" lIns="0" tIns="0" rIns="0" bIns="0" rtlCol="0" anchor="ctr"/>
          <a:lstStyle/>
          <a:p>
            <a:pPr indent="0" marL="0">
              <a:buNone/>
            </a:pPr>
            <a:r>
              <a:rPr lang="en-US" sz="1500" dirty="0">
                <a:solidFill>
                  <a:srgbClr val="9DB6CC"/>
                </a:solidFill>
                <a:latin typeface="Calibri" pitchFamily="34" charset="0"/>
                <a:ea typeface="Calibri" pitchFamily="34" charset="-122"/>
                <a:cs typeface="Calibri" pitchFamily="34" charset="-120"/>
              </a:rPr>
              <a:t>This is the part that changes what the next month should look like</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11064240" cy="256032"/>
          </a:xfrm>
          <a:prstGeom prst="rect">
            <a:avLst/>
          </a:prstGeom>
          <a:noFill/>
          <a:ln/>
        </p:spPr>
        <p:txBody>
          <a:bodyPr wrap="square" lIns="0" tIns="0" rIns="0" bIns="0" rtlCol="0" anchor="ctr"/>
          <a:lstStyle/>
          <a:p>
            <a:pPr indent="0" marL="0">
              <a:buNone/>
            </a:pPr>
            <a:r>
              <a:rPr lang="en-US" sz="1100" b="1" spc="200" kern="0" dirty="0">
                <a:solidFill>
                  <a:srgbClr val="C25A2E"/>
                </a:solidFill>
                <a:latin typeface="Calibri" pitchFamily="34" charset="0"/>
                <a:ea typeface="Calibri" pitchFamily="34" charset="-122"/>
                <a:cs typeface="Calibri" pitchFamily="34" charset="-120"/>
              </a:rPr>
              <a:t>ASK 4  ·  KEY METHODOLOGICAL FINDING</a:t>
            </a:r>
            <a:endParaRPr lang="en-US" sz="1100" dirty="0"/>
          </a:p>
        </p:txBody>
      </p:sp>
      <p:sp>
        <p:nvSpPr>
          <p:cNvPr id="3" name="Text 1"/>
          <p:cNvSpPr/>
          <p:nvPr/>
        </p:nvSpPr>
        <p:spPr>
          <a:xfrm>
            <a:off x="548640" y="585216"/>
            <a:ext cx="11064240" cy="566928"/>
          </a:xfrm>
          <a:prstGeom prst="rect">
            <a:avLst/>
          </a:prstGeom>
          <a:noFill/>
          <a:ln/>
        </p:spPr>
        <p:txBody>
          <a:bodyPr wrap="square" lIns="0" tIns="0" rIns="0" bIns="0" rtlCol="0" anchor="ctr"/>
          <a:lstStyle/>
          <a:p>
            <a:pPr indent="0" marL="0">
              <a:buNone/>
            </a:pPr>
            <a:r>
              <a:rPr lang="en-US" sz="2900" b="1" dirty="0">
                <a:solidFill>
                  <a:srgbClr val="1C3F5F"/>
                </a:solidFill>
                <a:latin typeface="Cambria" pitchFamily="34" charset="0"/>
                <a:ea typeface="Cambria" pitchFamily="34" charset="-122"/>
                <a:cs typeface="Cambria" pitchFamily="34" charset="-120"/>
              </a:rPr>
              <a:t>The counterfactual result collapsed — and it is algebra, not a null</a:t>
            </a:r>
            <a:endParaRPr lang="en-US" sz="2900" dirty="0"/>
          </a:p>
        </p:txBody>
      </p:sp>
      <p:sp>
        <p:nvSpPr>
          <p:cNvPr id="4" name="Text 2"/>
          <p:cNvSpPr/>
          <p:nvPr/>
        </p:nvSpPr>
        <p:spPr>
          <a:xfrm>
            <a:off x="548640" y="1188720"/>
            <a:ext cx="11064240" cy="365760"/>
          </a:xfrm>
          <a:prstGeom prst="rect">
            <a:avLst/>
          </a:prstGeom>
          <a:noFill/>
          <a:ln/>
        </p:spPr>
        <p:txBody>
          <a:bodyPr wrap="square" lIns="0" tIns="0" rIns="0" bIns="0" rtlCol="0" anchor="ctr"/>
          <a:lstStyle/>
          <a:p>
            <a:pPr indent="0" marL="0">
              <a:buNone/>
            </a:pPr>
            <a:r>
              <a:rPr lang="en-US" sz="1450" dirty="0">
                <a:solidFill>
                  <a:srgbClr val="22282E"/>
                </a:solidFill>
                <a:latin typeface="Calibri" pitchFamily="34" charset="0"/>
                <a:ea typeface="Calibri" pitchFamily="34" charset="-122"/>
                <a:cs typeface="Calibri" pitchFamily="34" charset="-120"/>
              </a:rPr>
              <a:t>Sufficiency and disablement returned rankings identical to the posterior at every confounding level — not approximately, exactly.</a:t>
            </a:r>
            <a:endParaRPr lang="en-US" sz="145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737360"/>
          <a:ext cx="5394960" cy="914400"/>
        </p:xfrm>
        <a:graphic>
          <a:graphicData uri="http://schemas.openxmlformats.org/drawingml/2006/table">
            <a:tbl>
              <a:tblPr/>
              <a:tblGrid>
                <a:gridCol w="1371600"/>
                <a:gridCol w="1463040"/>
                <a:gridCol w="1371600"/>
                <a:gridCol w="1188720"/>
              </a:tblGrid>
              <a:tr h="310896">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Renal effect</a:t>
                      </a:r>
                      <a:endParaRPr lang="en-US" sz="1150" dirty="0">
                        <a:latin typeface="Calibri" charset="0"/>
                        <a:ea typeface="Calibri" charset="0"/>
                        <a:cs typeface="Calibri" charset="0"/>
                      </a:endParaRPr>
                    </a:p>
                  </a:txBody>
                  <a:tcPr marL="91440" marR="91440" marT="45720" marB="45720"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solidFill>
                      <a:srgbClr val="1C3F5F"/>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Counterfactual</a:t>
                      </a:r>
                      <a:endParaRPr lang="en-US" sz="1150" dirty="0">
                        <a:latin typeface="Calibri" charset="0"/>
                        <a:ea typeface="Calibri" charset="0"/>
                        <a:cs typeface="Calibri" charset="0"/>
                      </a:endParaRPr>
                    </a:p>
                  </a:txBody>
                  <a:tcPr marL="91440" marR="91440" marT="45720" marB="45720"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solidFill>
                      <a:srgbClr val="1C3F5F"/>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Posterior</a:t>
                      </a:r>
                      <a:endParaRPr lang="en-US" sz="1150" dirty="0">
                        <a:latin typeface="Calibri" charset="0"/>
                        <a:ea typeface="Calibri" charset="0"/>
                        <a:cs typeface="Calibri" charset="0"/>
                      </a:endParaRPr>
                    </a:p>
                  </a:txBody>
                  <a:tcPr marL="91440" marR="91440" marT="45720" marB="45720"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solidFill>
                      <a:srgbClr val="1C3F5F"/>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Identical?</a:t>
                      </a:r>
                      <a:endParaRPr lang="en-US" sz="1150" dirty="0">
                        <a:latin typeface="Calibri" charset="0"/>
                        <a:ea typeface="Calibri" charset="0"/>
                        <a:cs typeface="Calibri" charset="0"/>
                      </a:endParaRPr>
                    </a:p>
                  </a:txBody>
                  <a:tcPr marL="91440" marR="91440" marT="45720" marB="45720"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solidFill>
                      <a:srgbClr val="1C3F5F"/>
                    </a:solidFill>
                  </a:tcPr>
                </a:tc>
              </a:tr>
              <a:tr h="310896">
                <a:tc>
                  <a:txBody>
                    <a:bodyPr/>
                    <a:lstStyle/>
                    <a:p>
                      <a:pPr indent="0" marL="0">
                        <a:buNone/>
                      </a:pPr>
                      <a:r>
                        <a:rPr lang="en-US" sz="1150" dirty="0">
                          <a:solidFill>
                            <a:srgbClr val="22282E"/>
                          </a:solidFill>
                          <a:latin typeface="Calibri" pitchFamily="34" charset="0"/>
                          <a:ea typeface="Calibri" pitchFamily="34" charset="-122"/>
                          <a:cs typeface="Calibri" pitchFamily="34" charset="-120"/>
                        </a:rPr>
                        <a:t>0.00 SD</a:t>
                      </a:r>
                      <a:endParaRPr lang="en-US" sz="1150" dirty="0">
                        <a:latin typeface="Calibri" charset="0"/>
                        <a:ea typeface="Calibri" charset="0"/>
                        <a:cs typeface="Calibri" charset="0"/>
                      </a:endParaRPr>
                    </a:p>
                  </a:txBody>
                  <a:tcPr marL="91440" marR="91440" marT="45720" marB="45720"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c>
                  <a:txBody>
                    <a:bodyPr/>
                    <a:lstStyle/>
                    <a:p>
                      <a:pPr indent="0" marL="0">
                        <a:buNone/>
                      </a:pPr>
                      <a:r>
                        <a:rPr lang="en-US" sz="1150" dirty="0">
                          <a:solidFill>
                            <a:srgbClr val="22282E"/>
                          </a:solidFill>
                          <a:latin typeface="Calibri" pitchFamily="34" charset="0"/>
                          <a:ea typeface="Calibri" pitchFamily="34" charset="-122"/>
                          <a:cs typeface="Calibri" pitchFamily="34" charset="-120"/>
                        </a:rPr>
                        <a:t>0.811388</a:t>
                      </a:r>
                      <a:endParaRPr lang="en-US" sz="1150" dirty="0">
                        <a:latin typeface="Calibri" charset="0"/>
                        <a:ea typeface="Calibri" charset="0"/>
                        <a:cs typeface="Calibri" charset="0"/>
                      </a:endParaRPr>
                    </a:p>
                  </a:txBody>
                  <a:tcPr marL="91440" marR="91440" marT="45720" marB="45720"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c>
                  <a:txBody>
                    <a:bodyPr/>
                    <a:lstStyle/>
                    <a:p>
                      <a:pPr indent="0" marL="0">
                        <a:buNone/>
                      </a:pPr>
                      <a:r>
                        <a:rPr lang="en-US" sz="1150" dirty="0">
                          <a:solidFill>
                            <a:srgbClr val="22282E"/>
                          </a:solidFill>
                          <a:latin typeface="Calibri" pitchFamily="34" charset="0"/>
                          <a:ea typeface="Calibri" pitchFamily="34" charset="-122"/>
                          <a:cs typeface="Calibri" pitchFamily="34" charset="-120"/>
                        </a:rPr>
                        <a:t>0.811388</a:t>
                      </a:r>
                      <a:endParaRPr lang="en-US" sz="1150" dirty="0">
                        <a:latin typeface="Calibri" charset="0"/>
                        <a:ea typeface="Calibri" charset="0"/>
                        <a:cs typeface="Calibri" charset="0"/>
                      </a:endParaRPr>
                    </a:p>
                  </a:txBody>
                  <a:tcPr marL="91440" marR="91440" marT="45720" marB="45720"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c>
                  <a:txBody>
                    <a:bodyPr/>
                    <a:lstStyle/>
                    <a:p>
                      <a:pPr indent="0" marL="0">
                        <a:buNone/>
                      </a:pPr>
                      <a:r>
                        <a:rPr lang="en-US" sz="1150" b="1" dirty="0">
                          <a:solidFill>
                            <a:srgbClr val="C25A2E"/>
                          </a:solidFill>
                          <a:latin typeface="Calibri" pitchFamily="34" charset="0"/>
                          <a:ea typeface="Calibri" pitchFamily="34" charset="-122"/>
                          <a:cs typeface="Calibri" pitchFamily="34" charset="-120"/>
                        </a:rPr>
                        <a:t>yes</a:t>
                      </a:r>
                      <a:endParaRPr lang="en-US" sz="1150" dirty="0">
                        <a:latin typeface="Calibri" charset="0"/>
                        <a:ea typeface="Calibri" charset="0"/>
                        <a:cs typeface="Calibri" charset="0"/>
                      </a:endParaRPr>
                    </a:p>
                  </a:txBody>
                  <a:tcPr marL="91440" marR="91440" marT="45720" marB="45720"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r>
              <a:tr h="310896">
                <a:tc>
                  <a:txBody>
                    <a:bodyPr/>
                    <a:lstStyle/>
                    <a:p>
                      <a:pPr indent="0" marL="0">
                        <a:buNone/>
                      </a:pPr>
                      <a:r>
                        <a:rPr lang="en-US" sz="1150" dirty="0">
                          <a:solidFill>
                            <a:srgbClr val="22282E"/>
                          </a:solidFill>
                          <a:latin typeface="Calibri" pitchFamily="34" charset="0"/>
                          <a:ea typeface="Calibri" pitchFamily="34" charset="-122"/>
                          <a:cs typeface="Calibri" pitchFamily="34" charset="-120"/>
                        </a:rPr>
                        <a:t>0.75 SD</a:t>
                      </a:r>
                      <a:endParaRPr lang="en-US" sz="1150" dirty="0">
                        <a:latin typeface="Calibri" charset="0"/>
                        <a:ea typeface="Calibri" charset="0"/>
                        <a:cs typeface="Calibri" charset="0"/>
                      </a:endParaRPr>
                    </a:p>
                  </a:txBody>
                  <a:tcPr marL="91440" marR="91440" marT="45720" marB="45720"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c>
                  <a:txBody>
                    <a:bodyPr/>
                    <a:lstStyle/>
                    <a:p>
                      <a:pPr indent="0" marL="0">
                        <a:buNone/>
                      </a:pPr>
                      <a:r>
                        <a:rPr lang="en-US" sz="1150" dirty="0">
                          <a:solidFill>
                            <a:srgbClr val="22282E"/>
                          </a:solidFill>
                          <a:latin typeface="Calibri" pitchFamily="34" charset="0"/>
                          <a:ea typeface="Calibri" pitchFamily="34" charset="-122"/>
                          <a:cs typeface="Calibri" pitchFamily="34" charset="-120"/>
                        </a:rPr>
                        <a:t>0.811440</a:t>
                      </a:r>
                      <a:endParaRPr lang="en-US" sz="1150" dirty="0">
                        <a:latin typeface="Calibri" charset="0"/>
                        <a:ea typeface="Calibri" charset="0"/>
                        <a:cs typeface="Calibri" charset="0"/>
                      </a:endParaRPr>
                    </a:p>
                  </a:txBody>
                  <a:tcPr marL="91440" marR="91440" marT="45720" marB="45720"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c>
                  <a:txBody>
                    <a:bodyPr/>
                    <a:lstStyle/>
                    <a:p>
                      <a:pPr indent="0" marL="0">
                        <a:buNone/>
                      </a:pPr>
                      <a:r>
                        <a:rPr lang="en-US" sz="1150" dirty="0">
                          <a:solidFill>
                            <a:srgbClr val="22282E"/>
                          </a:solidFill>
                          <a:latin typeface="Calibri" pitchFamily="34" charset="0"/>
                          <a:ea typeface="Calibri" pitchFamily="34" charset="-122"/>
                          <a:cs typeface="Calibri" pitchFamily="34" charset="-120"/>
                        </a:rPr>
                        <a:t>0.811440</a:t>
                      </a:r>
                      <a:endParaRPr lang="en-US" sz="1150" dirty="0">
                        <a:latin typeface="Calibri" charset="0"/>
                        <a:ea typeface="Calibri" charset="0"/>
                        <a:cs typeface="Calibri" charset="0"/>
                      </a:endParaRPr>
                    </a:p>
                  </a:txBody>
                  <a:tcPr marL="91440" marR="91440" marT="45720" marB="45720"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c>
                  <a:txBody>
                    <a:bodyPr/>
                    <a:lstStyle/>
                    <a:p>
                      <a:pPr indent="0" marL="0">
                        <a:buNone/>
                      </a:pPr>
                      <a:r>
                        <a:rPr lang="en-US" sz="1150" b="1" dirty="0">
                          <a:solidFill>
                            <a:srgbClr val="C25A2E"/>
                          </a:solidFill>
                          <a:latin typeface="Calibri" pitchFamily="34" charset="0"/>
                          <a:ea typeface="Calibri" pitchFamily="34" charset="-122"/>
                          <a:cs typeface="Calibri" pitchFamily="34" charset="-120"/>
                        </a:rPr>
                        <a:t>yes</a:t>
                      </a:r>
                      <a:endParaRPr lang="en-US" sz="1150" dirty="0">
                        <a:latin typeface="Calibri" charset="0"/>
                        <a:ea typeface="Calibri" charset="0"/>
                        <a:cs typeface="Calibri" charset="0"/>
                      </a:endParaRPr>
                    </a:p>
                  </a:txBody>
                  <a:tcPr marL="91440" marR="91440" marT="45720" marB="45720"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r>
              <a:tr h="310896">
                <a:tc>
                  <a:txBody>
                    <a:bodyPr/>
                    <a:lstStyle/>
                    <a:p>
                      <a:pPr indent="0" marL="0">
                        <a:buNone/>
                      </a:pPr>
                      <a:r>
                        <a:rPr lang="en-US" sz="1150" dirty="0">
                          <a:solidFill>
                            <a:srgbClr val="22282E"/>
                          </a:solidFill>
                          <a:latin typeface="Calibri" pitchFamily="34" charset="0"/>
                          <a:ea typeface="Calibri" pitchFamily="34" charset="-122"/>
                          <a:cs typeface="Calibri" pitchFamily="34" charset="-120"/>
                        </a:rPr>
                        <a:t>1.50 SD</a:t>
                      </a:r>
                      <a:endParaRPr lang="en-US" sz="1150" dirty="0">
                        <a:latin typeface="Calibri" charset="0"/>
                        <a:ea typeface="Calibri" charset="0"/>
                        <a:cs typeface="Calibri" charset="0"/>
                      </a:endParaRPr>
                    </a:p>
                  </a:txBody>
                  <a:tcPr marL="91440" marR="91440" marT="45720" marB="45720"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c>
                  <a:txBody>
                    <a:bodyPr/>
                    <a:lstStyle/>
                    <a:p>
                      <a:pPr indent="0" marL="0">
                        <a:buNone/>
                      </a:pPr>
                      <a:r>
                        <a:rPr lang="en-US" sz="1150" dirty="0">
                          <a:solidFill>
                            <a:srgbClr val="22282E"/>
                          </a:solidFill>
                          <a:latin typeface="Calibri" pitchFamily="34" charset="0"/>
                          <a:ea typeface="Calibri" pitchFamily="34" charset="-122"/>
                          <a:cs typeface="Calibri" pitchFamily="34" charset="-120"/>
                        </a:rPr>
                        <a:t>0.812222</a:t>
                      </a:r>
                      <a:endParaRPr lang="en-US" sz="1150" dirty="0">
                        <a:latin typeface="Calibri" charset="0"/>
                        <a:ea typeface="Calibri" charset="0"/>
                        <a:cs typeface="Calibri" charset="0"/>
                      </a:endParaRPr>
                    </a:p>
                  </a:txBody>
                  <a:tcPr marL="91440" marR="91440" marT="45720" marB="45720"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c>
                  <a:txBody>
                    <a:bodyPr/>
                    <a:lstStyle/>
                    <a:p>
                      <a:pPr indent="0" marL="0">
                        <a:buNone/>
                      </a:pPr>
                      <a:r>
                        <a:rPr lang="en-US" sz="1150" dirty="0">
                          <a:solidFill>
                            <a:srgbClr val="22282E"/>
                          </a:solidFill>
                          <a:latin typeface="Calibri" pitchFamily="34" charset="0"/>
                          <a:ea typeface="Calibri" pitchFamily="34" charset="-122"/>
                          <a:cs typeface="Calibri" pitchFamily="34" charset="-120"/>
                        </a:rPr>
                        <a:t>0.812222</a:t>
                      </a:r>
                      <a:endParaRPr lang="en-US" sz="1150" dirty="0">
                        <a:latin typeface="Calibri" charset="0"/>
                        <a:ea typeface="Calibri" charset="0"/>
                        <a:cs typeface="Calibri" charset="0"/>
                      </a:endParaRPr>
                    </a:p>
                  </a:txBody>
                  <a:tcPr marL="91440" marR="91440" marT="45720" marB="45720"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c>
                  <a:txBody>
                    <a:bodyPr/>
                    <a:lstStyle/>
                    <a:p>
                      <a:pPr indent="0" marL="0">
                        <a:buNone/>
                      </a:pPr>
                      <a:r>
                        <a:rPr lang="en-US" sz="1150" b="1" dirty="0">
                          <a:solidFill>
                            <a:srgbClr val="C25A2E"/>
                          </a:solidFill>
                          <a:latin typeface="Calibri" pitchFamily="34" charset="0"/>
                          <a:ea typeface="Calibri" pitchFamily="34" charset="-122"/>
                          <a:cs typeface="Calibri" pitchFamily="34" charset="-120"/>
                        </a:rPr>
                        <a:t>yes</a:t>
                      </a:r>
                      <a:endParaRPr lang="en-US" sz="1150" dirty="0">
                        <a:latin typeface="Calibri" charset="0"/>
                        <a:ea typeface="Calibri" charset="0"/>
                        <a:cs typeface="Calibri" charset="0"/>
                      </a:endParaRPr>
                    </a:p>
                  </a:txBody>
                  <a:tcPr marL="91440" marR="91440" marT="45720" marB="45720"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r>
              <a:tr h="310896">
                <a:tc>
                  <a:txBody>
                    <a:bodyPr/>
                    <a:lstStyle/>
                    <a:p>
                      <a:pPr indent="0" marL="0">
                        <a:buNone/>
                      </a:pPr>
                      <a:r>
                        <a:rPr lang="en-US" sz="1150" dirty="0">
                          <a:solidFill>
                            <a:srgbClr val="22282E"/>
                          </a:solidFill>
                          <a:latin typeface="Calibri" pitchFamily="34" charset="0"/>
                          <a:ea typeface="Calibri" pitchFamily="34" charset="-122"/>
                          <a:cs typeface="Calibri" pitchFamily="34" charset="-120"/>
                        </a:rPr>
                        <a:t>2.25 SD</a:t>
                      </a:r>
                      <a:endParaRPr lang="en-US" sz="1150" dirty="0">
                        <a:latin typeface="Calibri" charset="0"/>
                        <a:ea typeface="Calibri" charset="0"/>
                        <a:cs typeface="Calibri" charset="0"/>
                      </a:endParaRPr>
                    </a:p>
                  </a:txBody>
                  <a:tcPr marL="91440" marR="91440" marT="45720" marB="45720"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c>
                  <a:txBody>
                    <a:bodyPr/>
                    <a:lstStyle/>
                    <a:p>
                      <a:pPr indent="0" marL="0">
                        <a:buNone/>
                      </a:pPr>
                      <a:r>
                        <a:rPr lang="en-US" sz="1150" dirty="0">
                          <a:solidFill>
                            <a:srgbClr val="22282E"/>
                          </a:solidFill>
                          <a:latin typeface="Calibri" pitchFamily="34" charset="0"/>
                          <a:ea typeface="Calibri" pitchFamily="34" charset="-122"/>
                          <a:cs typeface="Calibri" pitchFamily="34" charset="-120"/>
                        </a:rPr>
                        <a:t>0.812198</a:t>
                      </a:r>
                      <a:endParaRPr lang="en-US" sz="1150" dirty="0">
                        <a:latin typeface="Calibri" charset="0"/>
                        <a:ea typeface="Calibri" charset="0"/>
                        <a:cs typeface="Calibri" charset="0"/>
                      </a:endParaRPr>
                    </a:p>
                  </a:txBody>
                  <a:tcPr marL="91440" marR="91440" marT="45720" marB="45720"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c>
                  <a:txBody>
                    <a:bodyPr/>
                    <a:lstStyle/>
                    <a:p>
                      <a:pPr indent="0" marL="0">
                        <a:buNone/>
                      </a:pPr>
                      <a:r>
                        <a:rPr lang="en-US" sz="1150" dirty="0">
                          <a:solidFill>
                            <a:srgbClr val="22282E"/>
                          </a:solidFill>
                          <a:latin typeface="Calibri" pitchFamily="34" charset="0"/>
                          <a:ea typeface="Calibri" pitchFamily="34" charset="-122"/>
                          <a:cs typeface="Calibri" pitchFamily="34" charset="-120"/>
                        </a:rPr>
                        <a:t>0.812198</a:t>
                      </a:r>
                      <a:endParaRPr lang="en-US" sz="1150" dirty="0">
                        <a:latin typeface="Calibri" charset="0"/>
                        <a:ea typeface="Calibri" charset="0"/>
                        <a:cs typeface="Calibri" charset="0"/>
                      </a:endParaRPr>
                    </a:p>
                  </a:txBody>
                  <a:tcPr marL="91440" marR="91440" marT="45720" marB="45720"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c>
                  <a:txBody>
                    <a:bodyPr/>
                    <a:lstStyle/>
                    <a:p>
                      <a:pPr indent="0" marL="0">
                        <a:buNone/>
                      </a:pPr>
                      <a:r>
                        <a:rPr lang="en-US" sz="1150" b="1" dirty="0">
                          <a:solidFill>
                            <a:srgbClr val="C25A2E"/>
                          </a:solidFill>
                          <a:latin typeface="Calibri" pitchFamily="34" charset="0"/>
                          <a:ea typeface="Calibri" pitchFamily="34" charset="-122"/>
                          <a:cs typeface="Calibri" pitchFamily="34" charset="-120"/>
                        </a:rPr>
                        <a:t>yes</a:t>
                      </a:r>
                      <a:endParaRPr lang="en-US" sz="1150" dirty="0">
                        <a:latin typeface="Calibri" charset="0"/>
                        <a:ea typeface="Calibri" charset="0"/>
                        <a:cs typeface="Calibri" charset="0"/>
                      </a:endParaRPr>
                    </a:p>
                  </a:txBody>
                  <a:tcPr marL="91440" marR="91440" marT="45720" marB="45720"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r>
            </a:tbl>
          </a:graphicData>
        </a:graphic>
      </p:graphicFrame>
      <p:sp>
        <p:nvSpPr>
          <p:cNvPr id="6" name="Text 3"/>
          <p:cNvSpPr/>
          <p:nvPr/>
        </p:nvSpPr>
        <p:spPr>
          <a:xfrm>
            <a:off x="548640" y="3401568"/>
            <a:ext cx="5394960" cy="274320"/>
          </a:xfrm>
          <a:prstGeom prst="rect">
            <a:avLst/>
          </a:prstGeom>
          <a:noFill/>
          <a:ln/>
        </p:spPr>
        <p:txBody>
          <a:bodyPr wrap="square" lIns="0" tIns="0" rIns="0" bIns="0" rtlCol="0" anchor="ctr"/>
          <a:lstStyle/>
          <a:p>
            <a:pPr indent="0" marL="0">
              <a:buNone/>
            </a:pPr>
            <a:r>
              <a:rPr lang="en-US" sz="950" i="1" dirty="0">
                <a:solidFill>
                  <a:srgbClr val="6B7885"/>
                </a:solidFill>
                <a:latin typeface="Calibri" pitchFamily="34" charset="0"/>
                <a:ea typeface="Calibri" pitchFamily="34" charset="-122"/>
                <a:cs typeface="Calibri" pitchFamily="34" charset="-120"/>
              </a:rPr>
              <a:t>outputs/main_simulation_summary.csv — top-1 accuracy, same fitted SCM</a:t>
            </a:r>
            <a:endParaRPr lang="en-US" sz="950" dirty="0"/>
          </a:p>
        </p:txBody>
      </p:sp>
      <p:sp>
        <p:nvSpPr>
          <p:cNvPr id="7" name="Shape 4"/>
          <p:cNvSpPr/>
          <p:nvPr/>
        </p:nvSpPr>
        <p:spPr>
          <a:xfrm>
            <a:off x="6172200" y="1737360"/>
            <a:ext cx="5440680" cy="1645920"/>
          </a:xfrm>
          <a:prstGeom prst="roundRect">
            <a:avLst>
              <a:gd name="adj" fmla="val 3333"/>
            </a:avLst>
          </a:prstGeom>
          <a:solidFill>
            <a:srgbClr val="22282E"/>
          </a:solidFill>
          <a:ln w="9525">
            <a:solidFill>
              <a:srgbClr val="D8DEE4"/>
            </a:solidFill>
            <a:prstDash val="solid"/>
          </a:ln>
        </p:spPr>
      </p:sp>
      <p:sp>
        <p:nvSpPr>
          <p:cNvPr id="8" name="Text 5"/>
          <p:cNvSpPr/>
          <p:nvPr/>
        </p:nvSpPr>
        <p:spPr>
          <a:xfrm>
            <a:off x="6446520" y="1847088"/>
            <a:ext cx="4937760" cy="274320"/>
          </a:xfrm>
          <a:prstGeom prst="rect">
            <a:avLst/>
          </a:prstGeom>
          <a:noFill/>
          <a:ln/>
        </p:spPr>
        <p:txBody>
          <a:bodyPr wrap="square" lIns="0" tIns="0" rIns="0" bIns="0" rtlCol="0" anchor="ctr"/>
          <a:lstStyle/>
          <a:p>
            <a:pPr indent="0" marL="0">
              <a:buNone/>
            </a:pPr>
            <a:r>
              <a:rPr lang="en-US" sz="1100" dirty="0">
                <a:solidFill>
                  <a:srgbClr val="9DB6CC"/>
                </a:solidFill>
                <a:latin typeface="Calibri" pitchFamily="34" charset="0"/>
                <a:ea typeface="Calibri" pitchFamily="34" charset="-122"/>
                <a:cs typeface="Calibri" pitchFamily="34" charset="-120"/>
              </a:rPr>
              <a:t>From our own code's docstring:</a:t>
            </a:r>
            <a:endParaRPr lang="en-US" sz="1100" dirty="0"/>
          </a:p>
        </p:txBody>
      </p:sp>
      <p:sp>
        <p:nvSpPr>
          <p:cNvPr id="9" name="Text 6"/>
          <p:cNvSpPr/>
          <p:nvPr/>
        </p:nvSpPr>
        <p:spPr>
          <a:xfrm>
            <a:off x="6446520" y="2148840"/>
            <a:ext cx="4937760" cy="868680"/>
          </a:xfrm>
          <a:prstGeom prst="rect">
            <a:avLst/>
          </a:prstGeom>
          <a:noFill/>
          <a:ln/>
        </p:spPr>
        <p:txBody>
          <a:bodyPr wrap="square" lIns="0" tIns="0" rIns="0" bIns="0" rtlCol="0" anchor="ctr"/>
          <a:lstStyle/>
          <a:p>
            <a:pPr indent="0" marL="0">
              <a:lnSpc>
                <a:spcPts val="1800"/>
              </a:lnSpc>
              <a:buNone/>
            </a:pPr>
            <a:r>
              <a:rPr lang="en-US" sz="1300" i="1" dirty="0">
                <a:solidFill>
                  <a:srgbClr val="FFFFFF"/>
                </a:solidFill>
                <a:latin typeface="Cambria" pitchFamily="34" charset="0"/>
                <a:ea typeface="Cambria" pitchFamily="34" charset="-122"/>
                <a:cs typeface="Cambria" pitchFamily="34" charset="-120"/>
              </a:rPr>
              <a:t>“In this deliberately symmetric K = 2 toy model, normalized sufficiency and disablement are monotone transformations of the correctly specified posterior.”</a:t>
            </a:r>
            <a:endParaRPr lang="en-US" sz="1300" dirty="0"/>
          </a:p>
        </p:txBody>
      </p:sp>
      <p:sp>
        <p:nvSpPr>
          <p:cNvPr id="10" name="Text 7"/>
          <p:cNvSpPr/>
          <p:nvPr/>
        </p:nvSpPr>
        <p:spPr>
          <a:xfrm>
            <a:off x="6446520" y="3035808"/>
            <a:ext cx="4937760" cy="256032"/>
          </a:xfrm>
          <a:prstGeom prst="rect">
            <a:avLst/>
          </a:prstGeom>
          <a:noFill/>
          <a:ln/>
        </p:spPr>
        <p:txBody>
          <a:bodyPr wrap="square" lIns="0" tIns="0" rIns="0" bIns="0" rtlCol="0" anchor="ctr"/>
          <a:lstStyle/>
          <a:p>
            <a:pPr indent="0" marL="0">
              <a:buNone/>
            </a:pPr>
            <a:r>
              <a:rPr lang="en-US" sz="950" dirty="0">
                <a:solidFill>
                  <a:srgbClr val="6B8299"/>
                </a:solidFill>
                <a:latin typeface="Calibri" pitchFamily="34" charset="0"/>
                <a:ea typeface="Calibri" pitchFamily="34" charset="-122"/>
                <a:cs typeface="Calibri" pitchFamily="34" charset="-120"/>
              </a:rPr>
              <a:t>r21_preliminary_experiment.py, lines 232–238</a:t>
            </a:r>
            <a:endParaRPr lang="en-US" sz="950" dirty="0"/>
          </a:p>
        </p:txBody>
      </p:sp>
      <p:sp>
        <p:nvSpPr>
          <p:cNvPr id="11" name="Shape 8"/>
          <p:cNvSpPr/>
          <p:nvPr/>
        </p:nvSpPr>
        <p:spPr>
          <a:xfrm>
            <a:off x="548640" y="3703320"/>
            <a:ext cx="11064240" cy="1170432"/>
          </a:xfrm>
          <a:prstGeom prst="roundRect">
            <a:avLst>
              <a:gd name="adj" fmla="val 4688"/>
            </a:avLst>
          </a:prstGeom>
          <a:solidFill>
            <a:srgbClr val="F5F7F9"/>
          </a:solidFill>
          <a:ln w="12700">
            <a:solidFill>
              <a:srgbClr val="1C3F5F"/>
            </a:solidFill>
            <a:prstDash val="solid"/>
          </a:ln>
        </p:spPr>
      </p:sp>
      <p:sp>
        <p:nvSpPr>
          <p:cNvPr id="12" name="Text 9"/>
          <p:cNvSpPr/>
          <p:nvPr/>
        </p:nvSpPr>
        <p:spPr>
          <a:xfrm>
            <a:off x="868680" y="3840480"/>
            <a:ext cx="10424160" cy="896112"/>
          </a:xfrm>
          <a:prstGeom prst="rect">
            <a:avLst/>
          </a:prstGeom>
          <a:noFill/>
          <a:ln/>
        </p:spPr>
        <p:txBody>
          <a:bodyPr wrap="square" lIns="0" tIns="0" rIns="0" bIns="0" rtlCol="0" anchor="ctr"/>
          <a:lstStyle/>
          <a:p>
            <a:pPr indent="0" marL="0">
              <a:lnSpc>
                <a:spcPts val="2000"/>
              </a:lnSpc>
              <a:buNone/>
            </a:pPr>
            <a:r>
              <a:rPr lang="en-US" sz="1450" b="1" dirty="0">
                <a:solidFill>
                  <a:srgbClr val="1C3F5F"/>
                </a:solidFill>
                <a:latin typeface="Calibri" pitchFamily="34" charset="0"/>
                <a:ea typeface="Calibri" pitchFamily="34" charset="-122"/>
                <a:cs typeface="Calibri" pitchFamily="34" charset="-120"/>
              </a:rPr>
              <a:t>Monotone transforms preserve ordering. So identical top-1 accuracy is guaranteed by construction — it is not a measurement. Running this design again answers nothing.</a:t>
            </a:r>
            <a:endParaRPr lang="en-US" sz="1450" dirty="0"/>
          </a:p>
        </p:txBody>
      </p:sp>
      <p:sp>
        <p:nvSpPr>
          <p:cNvPr id="13" name="Shape 10"/>
          <p:cNvSpPr/>
          <p:nvPr/>
        </p:nvSpPr>
        <p:spPr>
          <a:xfrm>
            <a:off x="548640" y="5029200"/>
            <a:ext cx="11064240" cy="1097280"/>
          </a:xfrm>
          <a:prstGeom prst="roundRect">
            <a:avLst>
              <a:gd name="adj" fmla="val 5000"/>
            </a:avLst>
          </a:prstGeom>
          <a:solidFill>
            <a:srgbClr val="FDF6F2"/>
          </a:solidFill>
          <a:ln w="12700">
            <a:solidFill>
              <a:srgbClr val="C25A2E"/>
            </a:solidFill>
            <a:prstDash val="solid"/>
          </a:ln>
        </p:spPr>
      </p:sp>
      <p:sp>
        <p:nvSpPr>
          <p:cNvPr id="14" name="Text 11"/>
          <p:cNvSpPr/>
          <p:nvPr/>
        </p:nvSpPr>
        <p:spPr>
          <a:xfrm>
            <a:off x="868680" y="5138928"/>
            <a:ext cx="10424160" cy="274320"/>
          </a:xfrm>
          <a:prstGeom prst="rect">
            <a:avLst/>
          </a:prstGeom>
          <a:noFill/>
          <a:ln/>
        </p:spPr>
        <p:txBody>
          <a:bodyPr wrap="square" lIns="0" tIns="0" rIns="0" bIns="0" rtlCol="0" anchor="ctr"/>
          <a:lstStyle/>
          <a:p>
            <a:pPr indent="0" marL="0">
              <a:buNone/>
            </a:pPr>
            <a:r>
              <a:rPr lang="en-US" sz="1300" b="1" dirty="0">
                <a:solidFill>
                  <a:srgbClr val="C25A2E"/>
                </a:solidFill>
                <a:latin typeface="Calibri" pitchFamily="34" charset="0"/>
                <a:ea typeface="Calibri" pitchFamily="34" charset="-122"/>
                <a:cs typeface="Calibri" pitchFamily="34" charset="-120"/>
              </a:rPr>
              <a:t>The deeper problem</a:t>
            </a:r>
            <a:endParaRPr lang="en-US" sz="1300" dirty="0"/>
          </a:p>
        </p:txBody>
      </p:sp>
      <p:sp>
        <p:nvSpPr>
          <p:cNvPr id="15" name="Text 12"/>
          <p:cNvSpPr/>
          <p:nvPr/>
        </p:nvSpPr>
        <p:spPr>
          <a:xfrm>
            <a:off x="868680" y="5440680"/>
            <a:ext cx="10424160" cy="621792"/>
          </a:xfrm>
          <a:prstGeom prst="rect">
            <a:avLst/>
          </a:prstGeom>
          <a:noFill/>
          <a:ln/>
        </p:spPr>
        <p:txBody>
          <a:bodyPr wrap="square" lIns="0" tIns="0" rIns="0" bIns="0" rtlCol="0" anchor="ctr"/>
          <a:lstStyle/>
          <a:p>
            <a:pPr indent="0" marL="0">
              <a:lnSpc>
                <a:spcPts val="1600"/>
              </a:lnSpc>
              <a:buNone/>
            </a:pPr>
            <a:r>
              <a:rPr lang="en-US" sz="1250" dirty="0">
                <a:solidFill>
                  <a:srgbClr val="22282E"/>
                </a:solidFill>
                <a:latin typeface="Calibri" pitchFamily="34" charset="0"/>
                <a:ea typeface="Calibri" pitchFamily="34" charset="-122"/>
                <a:cs typeface="Calibri" pitchFamily="34" charset="-120"/>
              </a:rPr>
              <a:t>What the framework is meant to detect is redundancy — high sufficiency with low disablement. That needs an alternative path that survives disabling the mechanism. With mutually exclusive mechanisms there is none. The generator structurally cannot produce the phenomenon we are claiming.</a:t>
            </a:r>
            <a:endParaRPr lang="en-US" sz="12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11064240" cy="256032"/>
          </a:xfrm>
          <a:prstGeom prst="rect">
            <a:avLst/>
          </a:prstGeom>
          <a:noFill/>
          <a:ln/>
        </p:spPr>
        <p:txBody>
          <a:bodyPr wrap="square" lIns="0" tIns="0" rIns="0" bIns="0" rtlCol="0" anchor="ctr"/>
          <a:lstStyle/>
          <a:p>
            <a:pPr indent="0" marL="0">
              <a:buNone/>
            </a:pPr>
            <a:r>
              <a:rPr lang="en-US" sz="1100" b="1" spc="200" kern="0" dirty="0">
                <a:solidFill>
                  <a:srgbClr val="C25A2E"/>
                </a:solidFill>
                <a:latin typeface="Calibri" pitchFamily="34" charset="0"/>
                <a:ea typeface="Calibri" pitchFamily="34" charset="-122"/>
                <a:cs typeface="Calibri" pitchFamily="34" charset="-120"/>
              </a:rPr>
              <a:t>ASK 4  ·  METHODOLOGY IMPROVEMENT</a:t>
            </a:r>
            <a:endParaRPr lang="en-US" sz="1100" dirty="0"/>
          </a:p>
        </p:txBody>
      </p:sp>
      <p:sp>
        <p:nvSpPr>
          <p:cNvPr id="3" name="Text 1"/>
          <p:cNvSpPr/>
          <p:nvPr/>
        </p:nvSpPr>
        <p:spPr>
          <a:xfrm>
            <a:off x="548640" y="585216"/>
            <a:ext cx="11064240" cy="566928"/>
          </a:xfrm>
          <a:prstGeom prst="rect">
            <a:avLst/>
          </a:prstGeom>
          <a:noFill/>
          <a:ln/>
        </p:spPr>
        <p:txBody>
          <a:bodyPr wrap="square" lIns="0" tIns="0" rIns="0" bIns="0" rtlCol="0" anchor="ctr"/>
          <a:lstStyle/>
          <a:p>
            <a:pPr indent="0" marL="0">
              <a:buNone/>
            </a:pPr>
            <a:r>
              <a:rPr lang="en-US" sz="2900" b="1" dirty="0">
                <a:solidFill>
                  <a:srgbClr val="1C3F5F"/>
                </a:solidFill>
                <a:latin typeface="Cambria" pitchFamily="34" charset="0"/>
                <a:ea typeface="Cambria" pitchFamily="34" charset="-122"/>
                <a:cs typeface="Cambria" pitchFamily="34" charset="-120"/>
              </a:rPr>
              <a:t>Proposed fix — turn the collapse into the contribution</a:t>
            </a:r>
            <a:endParaRPr lang="en-US" sz="2900" dirty="0"/>
          </a:p>
        </p:txBody>
      </p:sp>
      <p:sp>
        <p:nvSpPr>
          <p:cNvPr id="4" name="Shape 2"/>
          <p:cNvSpPr/>
          <p:nvPr/>
        </p:nvSpPr>
        <p:spPr>
          <a:xfrm>
            <a:off x="548640" y="1207008"/>
            <a:ext cx="5394960" cy="2286000"/>
          </a:xfrm>
          <a:prstGeom prst="roundRect">
            <a:avLst>
              <a:gd name="adj" fmla="val 2400"/>
            </a:avLst>
          </a:prstGeom>
          <a:solidFill>
            <a:srgbClr val="F5F7F9"/>
          </a:solidFill>
          <a:ln w="12700">
            <a:solidFill>
              <a:srgbClr val="1C3F5F"/>
            </a:solidFill>
            <a:prstDash val="solid"/>
          </a:ln>
        </p:spPr>
      </p:sp>
      <p:sp>
        <p:nvSpPr>
          <p:cNvPr id="5" name="Text 3"/>
          <p:cNvSpPr/>
          <p:nvPr/>
        </p:nvSpPr>
        <p:spPr>
          <a:xfrm>
            <a:off x="822960" y="1335024"/>
            <a:ext cx="4846320" cy="292608"/>
          </a:xfrm>
          <a:prstGeom prst="rect">
            <a:avLst/>
          </a:prstGeom>
          <a:noFill/>
          <a:ln/>
        </p:spPr>
        <p:txBody>
          <a:bodyPr wrap="square" lIns="0" tIns="0" rIns="0" bIns="0" rtlCol="0" anchor="ctr"/>
          <a:lstStyle/>
          <a:p>
            <a:pPr indent="0" marL="0">
              <a:buNone/>
            </a:pPr>
            <a:r>
              <a:rPr lang="en-US" sz="1300" b="1" dirty="0">
                <a:solidFill>
                  <a:srgbClr val="1C3F5F"/>
                </a:solidFill>
                <a:latin typeface="Calibri" pitchFamily="34" charset="0"/>
                <a:ea typeface="Calibri" pitchFamily="34" charset="-122"/>
                <a:cs typeface="Calibri" pitchFamily="34" charset="-120"/>
              </a:rPr>
              <a:t>Part A — state it as a proposition</a:t>
            </a:r>
            <a:endParaRPr lang="en-US" sz="1300" dirty="0"/>
          </a:p>
        </p:txBody>
      </p:sp>
      <p:sp>
        <p:nvSpPr>
          <p:cNvPr id="6" name="Text 4"/>
          <p:cNvSpPr/>
          <p:nvPr/>
        </p:nvSpPr>
        <p:spPr>
          <a:xfrm>
            <a:off x="822960" y="1682496"/>
            <a:ext cx="4846320" cy="1234440"/>
          </a:xfrm>
          <a:prstGeom prst="rect">
            <a:avLst/>
          </a:prstGeom>
          <a:noFill/>
          <a:ln/>
        </p:spPr>
        <p:txBody>
          <a:bodyPr wrap="square" lIns="0" tIns="0" rIns="0" bIns="0" rtlCol="0" anchor="ctr"/>
          <a:lstStyle/>
          <a:p>
            <a:pPr indent="0" marL="0">
              <a:lnSpc>
                <a:spcPts val="1600"/>
              </a:lnSpc>
              <a:buNone/>
            </a:pPr>
            <a:r>
              <a:rPr lang="en-US" sz="1200" dirty="0">
                <a:solidFill>
                  <a:srgbClr val="22282E"/>
                </a:solidFill>
                <a:latin typeface="Calibri" pitchFamily="34" charset="0"/>
                <a:ea typeface="Calibri" pitchFamily="34" charset="-122"/>
                <a:cs typeface="Calibri" pitchFamily="34" charset="-120"/>
              </a:rPr>
              <a:t>Under K = 2 mutually exclusive mechanisms, complete evidence, additive homoscedastic Gaussian noise, and no non-mechanism path able to generate a mechanism's full signature — sufficiency, disablement and the posterior are monotone in a common scalar, so their rankings coincide.</a:t>
            </a:r>
            <a:endParaRPr lang="en-US" sz="1200" dirty="0"/>
          </a:p>
        </p:txBody>
      </p:sp>
      <p:sp>
        <p:nvSpPr>
          <p:cNvPr id="7" name="Text 5"/>
          <p:cNvSpPr/>
          <p:nvPr/>
        </p:nvSpPr>
        <p:spPr>
          <a:xfrm>
            <a:off x="822960" y="2926080"/>
            <a:ext cx="4846320" cy="457200"/>
          </a:xfrm>
          <a:prstGeom prst="rect">
            <a:avLst/>
          </a:prstGeom>
          <a:noFill/>
          <a:ln/>
        </p:spPr>
        <p:txBody>
          <a:bodyPr wrap="square" lIns="0" tIns="0" rIns="0" bIns="0" rtlCol="0" anchor="ctr"/>
          <a:lstStyle/>
          <a:p>
            <a:pPr indent="0" marL="0">
              <a:lnSpc>
                <a:spcPts val="1500"/>
              </a:lnSpc>
              <a:buNone/>
            </a:pPr>
            <a:r>
              <a:rPr lang="en-US" sz="1150" i="1" dirty="0">
                <a:solidFill>
                  <a:srgbClr val="2A7F7F"/>
                </a:solidFill>
                <a:latin typeface="Calibri" pitchFamily="34" charset="0"/>
                <a:ea typeface="Calibri" pitchFamily="34" charset="-122"/>
                <a:cs typeface="Calibri" pitchFamily="34" charset="-120"/>
              </a:rPr>
              <a:t>This is the continuous-biomarker analogue of Richens' binary noisy-OR result — a citable contribution, not a null.</a:t>
            </a:r>
            <a:endParaRPr lang="en-US" sz="1150" dirty="0"/>
          </a:p>
        </p:txBody>
      </p:sp>
      <p:sp>
        <p:nvSpPr>
          <p:cNvPr id="8" name="Shape 6"/>
          <p:cNvSpPr/>
          <p:nvPr/>
        </p:nvSpPr>
        <p:spPr>
          <a:xfrm>
            <a:off x="6172200" y="1207008"/>
            <a:ext cx="5440680" cy="2286000"/>
          </a:xfrm>
          <a:prstGeom prst="roundRect">
            <a:avLst>
              <a:gd name="adj" fmla="val 2400"/>
            </a:avLst>
          </a:prstGeom>
          <a:solidFill>
            <a:srgbClr val="FDF6F2"/>
          </a:solidFill>
          <a:ln w="12700">
            <a:solidFill>
              <a:srgbClr val="C25A2E"/>
            </a:solidFill>
            <a:prstDash val="solid"/>
          </a:ln>
        </p:spPr>
      </p:sp>
      <p:sp>
        <p:nvSpPr>
          <p:cNvPr id="9" name="Text 7"/>
          <p:cNvSpPr/>
          <p:nvPr/>
        </p:nvSpPr>
        <p:spPr>
          <a:xfrm>
            <a:off x="6446520" y="1335024"/>
            <a:ext cx="4937760" cy="292608"/>
          </a:xfrm>
          <a:prstGeom prst="rect">
            <a:avLst/>
          </a:prstGeom>
          <a:noFill/>
          <a:ln/>
        </p:spPr>
        <p:txBody>
          <a:bodyPr wrap="square" lIns="0" tIns="0" rIns="0" bIns="0" rtlCol="0" anchor="ctr"/>
          <a:lstStyle/>
          <a:p>
            <a:pPr indent="0" marL="0">
              <a:buNone/>
            </a:pPr>
            <a:r>
              <a:rPr lang="en-US" sz="1300" b="1" dirty="0">
                <a:solidFill>
                  <a:srgbClr val="C25A2E"/>
                </a:solidFill>
                <a:latin typeface="Calibri" pitchFamily="34" charset="0"/>
                <a:ea typeface="Calibri" pitchFamily="34" charset="-122"/>
                <a:cs typeface="Calibri" pitchFamily="34" charset="-120"/>
              </a:rPr>
              <a:t>Part B — violate each premise, measure divergence</a:t>
            </a:r>
            <a:endParaRPr lang="en-US" sz="1300" dirty="0"/>
          </a:p>
        </p:txBody>
      </p:sp>
      <p:sp>
        <p:nvSpPr>
          <p:cNvPr id="10" name="Text 8"/>
          <p:cNvSpPr/>
          <p:nvPr/>
        </p:nvSpPr>
        <p:spPr>
          <a:xfrm>
            <a:off x="6446520" y="1700784"/>
            <a:ext cx="4937760" cy="1645920"/>
          </a:xfrm>
          <a:prstGeom prst="rect">
            <a:avLst/>
          </a:prstGeom>
          <a:noFill/>
          <a:ln/>
        </p:spPr>
        <p:txBody>
          <a:bodyPr wrap="square" lIns="0" tIns="0" rIns="0" bIns="0" rtlCol="0" anchor="ctr"/>
          <a:lstStyle/>
          <a:p>
            <a:pPr marL="342900" indent="-342900">
              <a:lnSpc>
                <a:spcPts val="1600"/>
              </a:lnSpc>
              <a:spcAft>
                <a:spcPts val="600"/>
              </a:spcAft>
              <a:buSzPct val="100000"/>
              <a:buChar char="•"/>
            </a:pPr>
            <a:r>
              <a:rPr lang="en-US" sz="1200" b="1" dirty="0">
                <a:solidFill>
                  <a:srgbClr val="22282E"/>
                </a:solidFill>
                <a:latin typeface="Calibri" pitchFamily="34" charset="0"/>
                <a:ea typeface="Calibri" pitchFamily="34" charset="-122"/>
                <a:cs typeface="Calibri" pitchFamily="34" charset="-120"/>
              </a:rPr>
              <a:t>Redundant nuisance paths  ← highest value</a:t>
            </a:r>
            <a:endParaRPr lang="en-US" sz="1200" dirty="0"/>
          </a:p>
          <a:p>
            <a:pPr marL="342900" indent="-342900">
              <a:lnSpc>
                <a:spcPts val="1600"/>
              </a:lnSpc>
              <a:spcAft>
                <a:spcPts val="600"/>
              </a:spcAft>
              <a:buSzPct val="100000"/>
              <a:buChar char="•"/>
            </a:pPr>
            <a:r>
              <a:rPr lang="en-US" sz="1200" dirty="0">
                <a:solidFill>
                  <a:srgbClr val="22282E"/>
                </a:solidFill>
                <a:latin typeface="Calibri" pitchFamily="34" charset="0"/>
                <a:ea typeface="Calibri" pitchFamily="34" charset="-122"/>
                <a:cs typeface="Calibri" pitchFamily="34" charset="-120"/>
              </a:rPr>
              <a:t>Co-active / overlapping mechanisms</a:t>
            </a:r>
            <a:endParaRPr lang="en-US" sz="1200" dirty="0"/>
          </a:p>
          <a:p>
            <a:pPr marL="342900" indent="-342900">
              <a:lnSpc>
                <a:spcPts val="1600"/>
              </a:lnSpc>
              <a:spcAft>
                <a:spcPts val="600"/>
              </a:spcAft>
              <a:buSzPct val="100000"/>
              <a:buChar char="•"/>
            </a:pPr>
            <a:r>
              <a:rPr lang="en-US" sz="1200" dirty="0">
                <a:solidFill>
                  <a:srgbClr val="22282E"/>
                </a:solidFill>
                <a:latin typeface="Calibri" pitchFamily="34" charset="0"/>
                <a:ea typeface="Calibri" pitchFamily="34" charset="-122"/>
                <a:cs typeface="Calibri" pitchFamily="34" charset="-120"/>
              </a:rPr>
              <a:t>K = 3 and K = 4</a:t>
            </a:r>
            <a:endParaRPr lang="en-US" sz="1200" dirty="0"/>
          </a:p>
          <a:p>
            <a:pPr marL="342900" indent="-342900">
              <a:lnSpc>
                <a:spcPts val="1600"/>
              </a:lnSpc>
              <a:spcAft>
                <a:spcPts val="600"/>
              </a:spcAft>
              <a:buSzPct val="100000"/>
              <a:buChar char="•"/>
            </a:pPr>
            <a:r>
              <a:rPr lang="en-US" sz="1200" dirty="0">
                <a:solidFill>
                  <a:srgbClr val="22282E"/>
                </a:solidFill>
                <a:latin typeface="Calibri" pitchFamily="34" charset="0"/>
                <a:ea typeface="Calibri" pitchFamily="34" charset="-122"/>
                <a:cs typeface="Calibri" pitchFamily="34" charset="-120"/>
              </a:rPr>
              <a:t>Mechanism-dependent missingness</a:t>
            </a:r>
            <a:endParaRPr lang="en-US" sz="1200" dirty="0"/>
          </a:p>
          <a:p>
            <a:pPr marL="342900" indent="-342900">
              <a:lnSpc>
                <a:spcPts val="1600"/>
              </a:lnSpc>
              <a:buSzPct val="100000"/>
              <a:buChar char="•"/>
            </a:pPr>
            <a:r>
              <a:rPr lang="en-US" sz="1200" dirty="0">
                <a:solidFill>
                  <a:srgbClr val="22282E"/>
                </a:solidFill>
                <a:latin typeface="Calibri" pitchFamily="34" charset="0"/>
                <a:ea typeface="Calibri" pitchFamily="34" charset="-122"/>
                <a:cs typeface="Calibri" pitchFamily="34" charset="-120"/>
              </a:rPr>
              <a:t>Heteroscedastic noise (lowest expected yield)</a:t>
            </a:r>
            <a:endParaRPr lang="en-US" sz="1200" dirty="0"/>
          </a:p>
        </p:txBody>
      </p:sp>
      <p:sp>
        <p:nvSpPr>
          <p:cNvPr id="11" name="Shape 9"/>
          <p:cNvSpPr/>
          <p:nvPr/>
        </p:nvSpPr>
        <p:spPr>
          <a:xfrm>
            <a:off x="548640" y="3703320"/>
            <a:ext cx="11064240" cy="1554480"/>
          </a:xfrm>
          <a:prstGeom prst="roundRect">
            <a:avLst>
              <a:gd name="adj" fmla="val 3529"/>
            </a:avLst>
          </a:prstGeom>
          <a:solidFill>
            <a:srgbClr val="F0F5F3"/>
          </a:solidFill>
          <a:ln w="12700">
            <a:solidFill>
              <a:srgbClr val="2A7F7F"/>
            </a:solidFill>
            <a:prstDash val="solid"/>
          </a:ln>
        </p:spPr>
      </p:sp>
      <p:sp>
        <p:nvSpPr>
          <p:cNvPr id="12" name="Text 10"/>
          <p:cNvSpPr/>
          <p:nvPr/>
        </p:nvSpPr>
        <p:spPr>
          <a:xfrm>
            <a:off x="868680" y="3840480"/>
            <a:ext cx="10424160" cy="292608"/>
          </a:xfrm>
          <a:prstGeom prst="rect">
            <a:avLst/>
          </a:prstGeom>
          <a:noFill/>
          <a:ln/>
        </p:spPr>
        <p:txBody>
          <a:bodyPr wrap="square" lIns="0" tIns="0" rIns="0" bIns="0" rtlCol="0" anchor="ctr"/>
          <a:lstStyle/>
          <a:p>
            <a:pPr indent="0" marL="0">
              <a:buNone/>
            </a:pPr>
            <a:r>
              <a:rPr lang="en-US" sz="1300" b="1" dirty="0">
                <a:solidFill>
                  <a:srgbClr val="2A7F7F"/>
                </a:solidFill>
                <a:latin typeface="Calibri" pitchFamily="34" charset="0"/>
                <a:ea typeface="Calibri" pitchFamily="34" charset="-122"/>
                <a:cs typeface="Calibri" pitchFamily="34" charset="-120"/>
              </a:rPr>
              <a:t>Why redundant nuisance paths first — this is the NT-proBNP problem stated in code</a:t>
            </a:r>
            <a:endParaRPr lang="en-US" sz="1300" dirty="0"/>
          </a:p>
        </p:txBody>
      </p:sp>
      <p:sp>
        <p:nvSpPr>
          <p:cNvPr id="13" name="Text 11"/>
          <p:cNvSpPr/>
          <p:nvPr/>
        </p:nvSpPr>
        <p:spPr>
          <a:xfrm>
            <a:off x="868680" y="4169664"/>
            <a:ext cx="10424160" cy="960120"/>
          </a:xfrm>
          <a:prstGeom prst="rect">
            <a:avLst/>
          </a:prstGeom>
          <a:noFill/>
          <a:ln/>
        </p:spPr>
        <p:txBody>
          <a:bodyPr wrap="square" lIns="0" tIns="0" rIns="0" bIns="0" rtlCol="0" anchor="ctr"/>
          <a:lstStyle/>
          <a:p>
            <a:pPr indent="0" marL="0">
              <a:lnSpc>
                <a:spcPts val="1800"/>
              </a:lnSpc>
              <a:buNone/>
            </a:pPr>
            <a:r>
              <a:rPr lang="en-US" sz="1300" dirty="0">
                <a:solidFill>
                  <a:srgbClr val="22282E"/>
                </a:solidFill>
                <a:latin typeface="Calibri" pitchFamily="34" charset="0"/>
                <a:ea typeface="Calibri" pitchFamily="34" charset="-122"/>
                <a:cs typeface="Calibri" pitchFamily="34" charset="-120"/>
              </a:rPr>
              <a:t>Let renal AND heart failure load on the same markers as the atrial gate. Now disable the atrial mechanism: the NT-proBNP is still high (kidneys), the electrical marker is still abnormal (heart failure). The evidence survives — high posterior, low disablement. That is redundancy, and it is exactly the patient where anticoagulation would be the wrong call.</a:t>
            </a:r>
            <a:endParaRPr lang="en-US" sz="1300" dirty="0"/>
          </a:p>
        </p:txBody>
      </p:sp>
      <p:sp>
        <p:nvSpPr>
          <p:cNvPr id="14" name="Shape 12"/>
          <p:cNvSpPr/>
          <p:nvPr/>
        </p:nvSpPr>
        <p:spPr>
          <a:xfrm>
            <a:off x="548640" y="5440680"/>
            <a:ext cx="11064240" cy="685800"/>
          </a:xfrm>
          <a:prstGeom prst="roundRect">
            <a:avLst>
              <a:gd name="adj" fmla="val 8000"/>
            </a:avLst>
          </a:prstGeom>
          <a:solidFill>
            <a:srgbClr val="FBF3EC"/>
          </a:solidFill>
          <a:ln w="15875">
            <a:solidFill>
              <a:srgbClr val="C25A2E"/>
            </a:solidFill>
            <a:prstDash val="dash"/>
          </a:ln>
        </p:spPr>
      </p:sp>
      <p:sp>
        <p:nvSpPr>
          <p:cNvPr id="15" name="Text 13"/>
          <p:cNvSpPr/>
          <p:nvPr/>
        </p:nvSpPr>
        <p:spPr>
          <a:xfrm>
            <a:off x="731520" y="5440680"/>
            <a:ext cx="10698480" cy="685800"/>
          </a:xfrm>
          <a:prstGeom prst="rect">
            <a:avLst/>
          </a:prstGeom>
          <a:noFill/>
          <a:ln/>
        </p:spPr>
        <p:txBody>
          <a:bodyPr wrap="square" lIns="0" tIns="0" rIns="0" bIns="0" rtlCol="0" anchor="ctr"/>
          <a:lstStyle/>
          <a:p>
            <a:pPr algn="ctr" indent="0" marL="0">
              <a:lnSpc>
                <a:spcPts val="1700"/>
              </a:lnSpc>
              <a:buNone/>
            </a:pPr>
            <a:r>
              <a:rPr lang="en-US" sz="1200" b="1" dirty="0">
                <a:solidFill>
                  <a:srgbClr val="C25A2E"/>
                </a:solidFill>
                <a:latin typeface="Calibri" pitchFamily="34" charset="0"/>
                <a:ea typeface="Calibri" pitchFamily="34" charset="-122"/>
                <a:cs typeface="Calibri" pitchFamily="34" charset="-120"/>
              </a:rPr>
              <a:t>PLACEHOLDER — E1a redundancy quadrant figure: joint distribution of sufficiency vs disablement by subgroup (uncomplicated / single nuisance / redundant)</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11064240" cy="256032"/>
          </a:xfrm>
          <a:prstGeom prst="rect">
            <a:avLst/>
          </a:prstGeom>
          <a:noFill/>
          <a:ln/>
        </p:spPr>
        <p:txBody>
          <a:bodyPr wrap="square" lIns="0" tIns="0" rIns="0" bIns="0" rtlCol="0" anchor="ctr"/>
          <a:lstStyle/>
          <a:p>
            <a:pPr indent="0" marL="0">
              <a:buNone/>
            </a:pPr>
            <a:r>
              <a:rPr lang="en-US" sz="1100" b="1" spc="200" kern="0" dirty="0">
                <a:solidFill>
                  <a:srgbClr val="C25A2E"/>
                </a:solidFill>
                <a:latin typeface="Calibri" pitchFamily="34" charset="0"/>
                <a:ea typeface="Calibri" pitchFamily="34" charset="-122"/>
                <a:cs typeface="Calibri" pitchFamily="34" charset="-120"/>
              </a:rPr>
              <a:t>ASK 4  ·  REMAINING GAPS</a:t>
            </a:r>
            <a:endParaRPr lang="en-US" sz="1100" dirty="0"/>
          </a:p>
        </p:txBody>
      </p:sp>
      <p:sp>
        <p:nvSpPr>
          <p:cNvPr id="3" name="Text 1"/>
          <p:cNvSpPr/>
          <p:nvPr/>
        </p:nvSpPr>
        <p:spPr>
          <a:xfrm>
            <a:off x="548640" y="585216"/>
            <a:ext cx="11064240" cy="566928"/>
          </a:xfrm>
          <a:prstGeom prst="rect">
            <a:avLst/>
          </a:prstGeom>
          <a:noFill/>
          <a:ln/>
        </p:spPr>
        <p:txBody>
          <a:bodyPr wrap="square" lIns="0" tIns="0" rIns="0" bIns="0" rtlCol="0" anchor="ctr"/>
          <a:lstStyle/>
          <a:p>
            <a:pPr indent="0" marL="0">
              <a:buNone/>
            </a:pPr>
            <a:r>
              <a:rPr lang="en-US" sz="2900" b="1" dirty="0">
                <a:solidFill>
                  <a:srgbClr val="1C3F5F"/>
                </a:solidFill>
                <a:latin typeface="Cambria" pitchFamily="34" charset="0"/>
                <a:ea typeface="Cambria" pitchFamily="34" charset="-122"/>
                <a:cs typeface="Cambria" pitchFamily="34" charset="-120"/>
              </a:rPr>
              <a:t>Gap register — what is claimed but not yet built</a:t>
            </a:r>
            <a:endParaRPr lang="en-US" sz="29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1234440"/>
          <a:ext cx="11064240" cy="914400"/>
        </p:xfrm>
        <a:graphic>
          <a:graphicData uri="http://schemas.openxmlformats.org/drawingml/2006/table">
            <a:tbl>
              <a:tblPr/>
              <a:tblGrid>
                <a:gridCol w="3200400"/>
                <a:gridCol w="3657600"/>
                <a:gridCol w="4206240"/>
              </a:tblGrid>
              <a:tr h="457200">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Capability</a:t>
                      </a:r>
                      <a:endParaRPr lang="en-US" sz="1150" dirty="0">
                        <a:latin typeface="Calibri" charset="0"/>
                        <a:ea typeface="Calibri" charset="0"/>
                        <a:cs typeface="Calibri" charset="0"/>
                      </a:endParaRPr>
                    </a:p>
                  </a:txBody>
                  <a:tcPr marL="91440" marR="91440" marT="45720" marB="45720"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solidFill>
                      <a:srgbClr val="1C3F5F"/>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Claimed in</a:t>
                      </a:r>
                      <a:endParaRPr lang="en-US" sz="1150" dirty="0">
                        <a:latin typeface="Calibri" charset="0"/>
                        <a:ea typeface="Calibri" charset="0"/>
                        <a:cs typeface="Calibri" charset="0"/>
                      </a:endParaRPr>
                    </a:p>
                  </a:txBody>
                  <a:tcPr marL="91440" marR="91440" marT="45720" marB="45720"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solidFill>
                      <a:srgbClr val="1C3F5F"/>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Status</a:t>
                      </a:r>
                      <a:endParaRPr lang="en-US" sz="1150" dirty="0">
                        <a:latin typeface="Calibri" charset="0"/>
                        <a:ea typeface="Calibri" charset="0"/>
                        <a:cs typeface="Calibri" charset="0"/>
                      </a:endParaRPr>
                    </a:p>
                  </a:txBody>
                  <a:tcPr marL="91440" marR="91440" marT="45720" marB="45720"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solidFill>
                      <a:srgbClr val="1C3F5F"/>
                    </a:solidFill>
                  </a:tcPr>
                </a:tc>
              </a:tr>
              <a:tr h="457200">
                <a:tc>
                  <a:txBody>
                    <a:bodyPr/>
                    <a:lstStyle/>
                    <a:p>
                      <a:pPr indent="0" marL="0">
                        <a:buNone/>
                      </a:pPr>
                      <a:r>
                        <a:rPr lang="en-US" sz="1100" b="1" dirty="0">
                          <a:solidFill>
                            <a:srgbClr val="C25A2E"/>
                          </a:solidFill>
                          <a:latin typeface="Calibri" pitchFamily="34" charset="0"/>
                          <a:ea typeface="Calibri" pitchFamily="34" charset="-122"/>
                          <a:cs typeface="Calibri" pitchFamily="34" charset="-120"/>
                        </a:rPr>
                        <a:t>Abstention rules</a:t>
                      </a:r>
                      <a:endParaRPr lang="en-US" sz="1100" dirty="0">
                        <a:latin typeface="Calibri" charset="0"/>
                        <a:ea typeface="Calibri" charset="0"/>
                        <a:cs typeface="Calibri" charset="0"/>
                      </a:endParaRPr>
                    </a:p>
                  </a:txBody>
                  <a:tcPr marL="91440" marR="91440" marT="45720" marB="45720"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c>
                  <a:txBody>
                    <a:bodyPr/>
                    <a:lstStyle/>
                    <a:p>
                      <a:pPr indent="0" marL="0">
                        <a:buNone/>
                      </a:pPr>
                      <a:r>
                        <a:rPr lang="en-US" sz="1100" dirty="0">
                          <a:solidFill>
                            <a:srgbClr val="22282E"/>
                          </a:solidFill>
                          <a:latin typeface="Calibri" pitchFamily="34" charset="0"/>
                          <a:ea typeface="Calibri" pitchFamily="34" charset="-122"/>
                          <a:cs typeface="Calibri" pitchFamily="34" charset="-120"/>
                        </a:rPr>
                        <a:t>Framework §4.4, Figure 1, R01 Aims 1 and 3</a:t>
                      </a:r>
                      <a:endParaRPr lang="en-US" sz="1100" dirty="0">
                        <a:latin typeface="Calibri" charset="0"/>
                        <a:ea typeface="Calibri" charset="0"/>
                        <a:cs typeface="Calibri" charset="0"/>
                      </a:endParaRPr>
                    </a:p>
                  </a:txBody>
                  <a:tcPr marL="91440" marR="91440" marT="45720" marB="45720"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c>
                  <a:txBody>
                    <a:bodyPr/>
                    <a:lstStyle/>
                    <a:p>
                      <a:pPr indent="0" marL="0">
                        <a:buNone/>
                      </a:pPr>
                      <a:r>
                        <a:rPr lang="en-US" sz="1100" b="1" dirty="0">
                          <a:solidFill>
                            <a:srgbClr val="C25A2E"/>
                          </a:solidFill>
                          <a:latin typeface="Calibri" pitchFamily="34" charset="0"/>
                          <a:ea typeface="Calibri" pitchFamily="34" charset="-122"/>
                          <a:cs typeface="Calibri" pitchFamily="34" charset="-120"/>
                        </a:rPr>
                        <a:t>NOT IMPLEMENTED ANYWHERE</a:t>
                      </a:r>
                      <a:endParaRPr lang="en-US" sz="1100" dirty="0">
                        <a:latin typeface="Calibri" charset="0"/>
                        <a:ea typeface="Calibri" charset="0"/>
                        <a:cs typeface="Calibri" charset="0"/>
                      </a:endParaRPr>
                    </a:p>
                  </a:txBody>
                  <a:tcPr marL="91440" marR="91440" marT="45720" marB="45720"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r>
              <a:tr h="457200">
                <a:tc>
                  <a:txBody>
                    <a:bodyPr/>
                    <a:lstStyle/>
                    <a:p>
                      <a:pPr indent="0" marL="0">
                        <a:buNone/>
                      </a:pPr>
                      <a:r>
                        <a:rPr lang="en-US" sz="1100" dirty="0">
                          <a:solidFill>
                            <a:srgbClr val="22282E"/>
                          </a:solidFill>
                          <a:latin typeface="Calibri" pitchFamily="34" charset="0"/>
                          <a:ea typeface="Calibri" pitchFamily="34" charset="-122"/>
                          <a:cs typeface="Calibri" pitchFamily="34" charset="-120"/>
                        </a:rPr>
                        <a:t>M0–M5 source-of-gain ablation</a:t>
                      </a:r>
                      <a:endParaRPr lang="en-US" sz="1100" dirty="0">
                        <a:latin typeface="Calibri" charset="0"/>
                        <a:ea typeface="Calibri" charset="0"/>
                        <a:cs typeface="Calibri" charset="0"/>
                      </a:endParaRPr>
                    </a:p>
                  </a:txBody>
                  <a:tcPr marL="91440" marR="91440" marT="45720" marB="45720"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c>
                  <a:txBody>
                    <a:bodyPr/>
                    <a:lstStyle/>
                    <a:p>
                      <a:pPr indent="0" marL="0">
                        <a:buNone/>
                      </a:pPr>
                      <a:r>
                        <a:rPr lang="en-US" sz="1100" dirty="0">
                          <a:solidFill>
                            <a:srgbClr val="22282E"/>
                          </a:solidFill>
                          <a:latin typeface="Calibri" pitchFamily="34" charset="0"/>
                          <a:ea typeface="Calibri" pitchFamily="34" charset="-122"/>
                          <a:cs typeface="Calibri" pitchFamily="34" charset="-120"/>
                        </a:rPr>
                        <a:t>Aim 1 core experiment</a:t>
                      </a:r>
                      <a:endParaRPr lang="en-US" sz="1100" dirty="0">
                        <a:latin typeface="Calibri" charset="0"/>
                        <a:ea typeface="Calibri" charset="0"/>
                        <a:cs typeface="Calibri" charset="0"/>
                      </a:endParaRPr>
                    </a:p>
                  </a:txBody>
                  <a:tcPr marL="91440" marR="91440" marT="45720" marB="45720"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c>
                  <a:txBody>
                    <a:bodyPr/>
                    <a:lstStyle/>
                    <a:p>
                      <a:pPr indent="0" marL="0">
                        <a:buNone/>
                      </a:pPr>
                      <a:r>
                        <a:rPr lang="en-US" sz="1100" dirty="0">
                          <a:solidFill>
                            <a:srgbClr val="C25A2E"/>
                          </a:solidFill>
                          <a:latin typeface="Calibri" pitchFamily="34" charset="0"/>
                          <a:ea typeface="Calibri" pitchFamily="34" charset="-122"/>
                          <a:cs typeface="Calibri" pitchFamily="34" charset="-120"/>
                        </a:rPr>
                        <a:t>Rows 1–5 exist, not on paired seeds; rows 6–8 are new code</a:t>
                      </a:r>
                      <a:endParaRPr lang="en-US" sz="1100" dirty="0">
                        <a:latin typeface="Calibri" charset="0"/>
                        <a:ea typeface="Calibri" charset="0"/>
                        <a:cs typeface="Calibri" charset="0"/>
                      </a:endParaRPr>
                    </a:p>
                  </a:txBody>
                  <a:tcPr marL="91440" marR="91440" marT="45720" marB="45720"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r>
              <a:tr h="457200">
                <a:tc>
                  <a:txBody>
                    <a:bodyPr/>
                    <a:lstStyle/>
                    <a:p>
                      <a:pPr indent="0" marL="0">
                        <a:buNone/>
                      </a:pPr>
                      <a:r>
                        <a:rPr lang="en-US" sz="1100" dirty="0">
                          <a:solidFill>
                            <a:srgbClr val="22282E"/>
                          </a:solidFill>
                          <a:latin typeface="Calibri" pitchFamily="34" charset="0"/>
                          <a:ea typeface="Calibri" pitchFamily="34" charset="-122"/>
                          <a:cs typeface="Calibri" pitchFamily="34" charset="-120"/>
                        </a:rPr>
                        <a:t>Overlapping / co-active mechanisms</a:t>
                      </a:r>
                      <a:endParaRPr lang="en-US" sz="1100" dirty="0">
                        <a:latin typeface="Calibri" charset="0"/>
                        <a:ea typeface="Calibri" charset="0"/>
                        <a:cs typeface="Calibri" charset="0"/>
                      </a:endParaRPr>
                    </a:p>
                  </a:txBody>
                  <a:tcPr marL="91440" marR="91440" marT="45720" marB="45720"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c>
                  <a:txBody>
                    <a:bodyPr/>
                    <a:lstStyle/>
                    <a:p>
                      <a:pPr indent="0" marL="0">
                        <a:buNone/>
                      </a:pPr>
                      <a:r>
                        <a:rPr lang="en-US" sz="1100" dirty="0">
                          <a:solidFill>
                            <a:srgbClr val="22282E"/>
                          </a:solidFill>
                          <a:latin typeface="Calibri" pitchFamily="34" charset="0"/>
                          <a:ea typeface="Calibri" pitchFamily="34" charset="-122"/>
                          <a:cs typeface="Calibri" pitchFamily="34" charset="-120"/>
                        </a:rPr>
                        <a:t>Aim 1 primary outcome</a:t>
                      </a:r>
                      <a:endParaRPr lang="en-US" sz="1100" dirty="0">
                        <a:latin typeface="Calibri" charset="0"/>
                        <a:ea typeface="Calibri" charset="0"/>
                        <a:cs typeface="Calibri" charset="0"/>
                      </a:endParaRPr>
                    </a:p>
                  </a:txBody>
                  <a:tcPr marL="91440" marR="91440" marT="45720" marB="45720"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c>
                  <a:txBody>
                    <a:bodyPr/>
                    <a:lstStyle/>
                    <a:p>
                      <a:pPr indent="0" marL="0">
                        <a:buNone/>
                      </a:pPr>
                      <a:r>
                        <a:rPr lang="en-US" sz="1100" dirty="0">
                          <a:solidFill>
                            <a:srgbClr val="C25A2E"/>
                          </a:solidFill>
                          <a:latin typeface="Calibri" pitchFamily="34" charset="0"/>
                          <a:ea typeface="Calibri" pitchFamily="34" charset="-122"/>
                          <a:cs typeface="Calibri" pitchFamily="34" charset="-120"/>
                        </a:rPr>
                        <a:t>Not implemented</a:t>
                      </a:r>
                      <a:endParaRPr lang="en-US" sz="1100" dirty="0">
                        <a:latin typeface="Calibri" charset="0"/>
                        <a:ea typeface="Calibri" charset="0"/>
                        <a:cs typeface="Calibri" charset="0"/>
                      </a:endParaRPr>
                    </a:p>
                  </a:txBody>
                  <a:tcPr marL="91440" marR="91440" marT="45720" marB="45720"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r>
              <a:tr h="457200">
                <a:tc>
                  <a:txBody>
                    <a:bodyPr/>
                    <a:lstStyle/>
                    <a:p>
                      <a:pPr indent="0" marL="0">
                        <a:buNone/>
                      </a:pPr>
                      <a:r>
                        <a:rPr lang="en-US" sz="1100" dirty="0">
                          <a:solidFill>
                            <a:srgbClr val="22282E"/>
                          </a:solidFill>
                          <a:latin typeface="Calibri" pitchFamily="34" charset="0"/>
                          <a:ea typeface="Calibri" pitchFamily="34" charset="-122"/>
                          <a:cs typeface="Calibri" pitchFamily="34" charset="-120"/>
                        </a:rPr>
                        <a:t>K ≠ 2 (K = 1, 3, 4)</a:t>
                      </a:r>
                      <a:endParaRPr lang="en-US" sz="1100" dirty="0">
                        <a:latin typeface="Calibri" charset="0"/>
                        <a:ea typeface="Calibri" charset="0"/>
                        <a:cs typeface="Calibri" charset="0"/>
                      </a:endParaRPr>
                    </a:p>
                  </a:txBody>
                  <a:tcPr marL="91440" marR="91440" marT="45720" marB="45720"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c>
                  <a:txBody>
                    <a:bodyPr/>
                    <a:lstStyle/>
                    <a:p>
                      <a:pPr indent="0" marL="0">
                        <a:buNone/>
                      </a:pPr>
                      <a:r>
                        <a:rPr lang="en-US" sz="1100" dirty="0">
                          <a:solidFill>
                            <a:srgbClr val="22282E"/>
                          </a:solidFill>
                          <a:latin typeface="Calibri" pitchFamily="34" charset="0"/>
                          <a:ea typeface="Calibri" pitchFamily="34" charset="-122"/>
                          <a:cs typeface="Calibri" pitchFamily="34" charset="-120"/>
                        </a:rPr>
                        <a:t>Aim 1, Aim 2 model ladder</a:t>
                      </a:r>
                      <a:endParaRPr lang="en-US" sz="1100" dirty="0">
                        <a:latin typeface="Calibri" charset="0"/>
                        <a:ea typeface="Calibri" charset="0"/>
                        <a:cs typeface="Calibri" charset="0"/>
                      </a:endParaRPr>
                    </a:p>
                  </a:txBody>
                  <a:tcPr marL="91440" marR="91440" marT="45720" marB="45720"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c>
                  <a:txBody>
                    <a:bodyPr/>
                    <a:lstStyle/>
                    <a:p>
                      <a:pPr indent="0" marL="0">
                        <a:buNone/>
                      </a:pPr>
                      <a:r>
                        <a:rPr lang="en-US" sz="1100" dirty="0">
                          <a:solidFill>
                            <a:srgbClr val="B8860B"/>
                          </a:solidFill>
                          <a:latin typeface="Calibri" pitchFamily="34" charset="0"/>
                          <a:ea typeface="Calibri" pitchFamily="34" charset="-122"/>
                          <a:cs typeface="Calibri" pitchFamily="34" charset="-120"/>
                        </a:rPr>
                        <a:t>K = 1 null done; K = 3/4 not implemented</a:t>
                      </a:r>
                      <a:endParaRPr lang="en-US" sz="1100" dirty="0">
                        <a:latin typeface="Calibri" charset="0"/>
                        <a:ea typeface="Calibri" charset="0"/>
                        <a:cs typeface="Calibri" charset="0"/>
                      </a:endParaRPr>
                    </a:p>
                  </a:txBody>
                  <a:tcPr marL="91440" marR="91440" marT="45720" marB="45720"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r>
              <a:tr h="457200">
                <a:tc>
                  <a:txBody>
                    <a:bodyPr/>
                    <a:lstStyle/>
                    <a:p>
                      <a:pPr indent="0" marL="0">
                        <a:buNone/>
                      </a:pPr>
                      <a:r>
                        <a:rPr lang="en-US" sz="1100" dirty="0">
                          <a:solidFill>
                            <a:srgbClr val="22282E"/>
                          </a:solidFill>
                          <a:latin typeface="Calibri" pitchFamily="34" charset="0"/>
                          <a:ea typeface="Calibri" pitchFamily="34" charset="-122"/>
                          <a:cs typeface="Calibri" pitchFamily="34" charset="-120"/>
                        </a:rPr>
                        <a:t>MCAR / MAR / MNAR comparison</a:t>
                      </a:r>
                      <a:endParaRPr lang="en-US" sz="1100" dirty="0">
                        <a:latin typeface="Calibri" charset="0"/>
                        <a:ea typeface="Calibri" charset="0"/>
                        <a:cs typeface="Calibri" charset="0"/>
                      </a:endParaRPr>
                    </a:p>
                  </a:txBody>
                  <a:tcPr marL="91440" marR="91440" marT="45720" marB="45720"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c>
                  <a:txBody>
                    <a:bodyPr/>
                    <a:lstStyle/>
                    <a:p>
                      <a:pPr indent="0" marL="0">
                        <a:buNone/>
                      </a:pPr>
                      <a:r>
                        <a:rPr lang="en-US" sz="1100" dirty="0">
                          <a:solidFill>
                            <a:srgbClr val="22282E"/>
                          </a:solidFill>
                          <a:latin typeface="Calibri" pitchFamily="34" charset="0"/>
                          <a:ea typeface="Calibri" pitchFamily="34" charset="-122"/>
                          <a:cs typeface="Calibri" pitchFamily="34" charset="-120"/>
                        </a:rPr>
                        <a:t>Aim 1 experiment A1.3</a:t>
                      </a:r>
                      <a:endParaRPr lang="en-US" sz="1100" dirty="0">
                        <a:latin typeface="Calibri" charset="0"/>
                        <a:ea typeface="Calibri" charset="0"/>
                        <a:cs typeface="Calibri" charset="0"/>
                      </a:endParaRPr>
                    </a:p>
                  </a:txBody>
                  <a:tcPr marL="91440" marR="91440" marT="45720" marB="45720"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c>
                  <a:txBody>
                    <a:bodyPr/>
                    <a:lstStyle/>
                    <a:p>
                      <a:pPr indent="0" marL="0">
                        <a:buNone/>
                      </a:pPr>
                      <a:r>
                        <a:rPr lang="en-US" sz="1100" dirty="0">
                          <a:solidFill>
                            <a:srgbClr val="B8860B"/>
                          </a:solidFill>
                          <a:latin typeface="Calibri" pitchFamily="34" charset="0"/>
                          <a:ea typeface="Calibri" pitchFamily="34" charset="-122"/>
                          <a:cs typeface="Calibri" pitchFamily="34" charset="-120"/>
                        </a:rPr>
                        <a:t>One MAR-style process only</a:t>
                      </a:r>
                      <a:endParaRPr lang="en-US" sz="1100" dirty="0">
                        <a:latin typeface="Calibri" charset="0"/>
                        <a:ea typeface="Calibri" charset="0"/>
                        <a:cs typeface="Calibri" charset="0"/>
                      </a:endParaRPr>
                    </a:p>
                  </a:txBody>
                  <a:tcPr marL="91440" marR="91440" marT="45720" marB="45720"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r>
              <a:tr h="457200">
                <a:tc>
                  <a:txBody>
                    <a:bodyPr/>
                    <a:lstStyle/>
                    <a:p>
                      <a:pPr indent="0" marL="0">
                        <a:buNone/>
                      </a:pPr>
                      <a:r>
                        <a:rPr lang="en-US" sz="1100" dirty="0">
                          <a:solidFill>
                            <a:srgbClr val="22282E"/>
                          </a:solidFill>
                          <a:latin typeface="Calibri" pitchFamily="34" charset="0"/>
                          <a:ea typeface="Calibri" pitchFamily="34" charset="-122"/>
                          <a:cs typeface="Calibri" pitchFamily="34" charset="-120"/>
                        </a:rPr>
                        <a:t>Alternative-DAG sensitivity</a:t>
                      </a:r>
                      <a:endParaRPr lang="en-US" sz="1100" dirty="0">
                        <a:latin typeface="Calibri" charset="0"/>
                        <a:ea typeface="Calibri" charset="0"/>
                        <a:cs typeface="Calibri" charset="0"/>
                      </a:endParaRPr>
                    </a:p>
                  </a:txBody>
                  <a:tcPr marL="91440" marR="91440" marT="45720" marB="45720"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c>
                  <a:txBody>
                    <a:bodyPr/>
                    <a:lstStyle/>
                    <a:p>
                      <a:pPr indent="0" marL="0">
                        <a:buNone/>
                      </a:pPr>
                      <a:r>
                        <a:rPr lang="en-US" sz="1100" dirty="0">
                          <a:solidFill>
                            <a:srgbClr val="22282E"/>
                          </a:solidFill>
                          <a:latin typeface="Calibri" pitchFamily="34" charset="0"/>
                          <a:ea typeface="Calibri" pitchFamily="34" charset="-122"/>
                          <a:cs typeface="Calibri" pitchFamily="34" charset="-120"/>
                        </a:rPr>
                        <a:t>Aim 1 experiment A1.6</a:t>
                      </a:r>
                      <a:endParaRPr lang="en-US" sz="1100" dirty="0">
                        <a:latin typeface="Calibri" charset="0"/>
                        <a:ea typeface="Calibri" charset="0"/>
                        <a:cs typeface="Calibri" charset="0"/>
                      </a:endParaRPr>
                    </a:p>
                  </a:txBody>
                  <a:tcPr marL="91440" marR="91440" marT="45720" marB="45720"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c>
                  <a:txBody>
                    <a:bodyPr/>
                    <a:lstStyle/>
                    <a:p>
                      <a:pPr indent="0" marL="0">
                        <a:buNone/>
                      </a:pPr>
                      <a:r>
                        <a:rPr lang="en-US" sz="1100" dirty="0">
                          <a:solidFill>
                            <a:srgbClr val="C25A2E"/>
                          </a:solidFill>
                          <a:latin typeface="Calibri" pitchFamily="34" charset="0"/>
                          <a:ea typeface="Calibri" pitchFamily="34" charset="-122"/>
                          <a:cs typeface="Calibri" pitchFamily="34" charset="-120"/>
                        </a:rPr>
                        <a:t>Not implemented</a:t>
                      </a:r>
                      <a:endParaRPr lang="en-US" sz="1100" dirty="0">
                        <a:latin typeface="Calibri" charset="0"/>
                        <a:ea typeface="Calibri" charset="0"/>
                        <a:cs typeface="Calibri" charset="0"/>
                      </a:endParaRPr>
                    </a:p>
                  </a:txBody>
                  <a:tcPr marL="91440" marR="91440" marT="45720" marB="45720"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r>
              <a:tr h="457200">
                <a:tc>
                  <a:txBody>
                    <a:bodyPr/>
                    <a:lstStyle/>
                    <a:p>
                      <a:pPr indent="0" marL="0">
                        <a:buNone/>
                      </a:pPr>
                      <a:r>
                        <a:rPr lang="en-US" sz="1100" dirty="0">
                          <a:solidFill>
                            <a:srgbClr val="22282E"/>
                          </a:solidFill>
                          <a:latin typeface="Calibri" pitchFamily="34" charset="0"/>
                          <a:ea typeface="Calibri" pitchFamily="34" charset="-122"/>
                          <a:cs typeface="Calibri" pitchFamily="34" charset="-120"/>
                        </a:rPr>
                        <a:t>Interval coverage</a:t>
                      </a:r>
                      <a:endParaRPr lang="en-US" sz="1100" dirty="0">
                        <a:latin typeface="Calibri" charset="0"/>
                        <a:ea typeface="Calibri" charset="0"/>
                        <a:cs typeface="Calibri" charset="0"/>
                      </a:endParaRPr>
                    </a:p>
                  </a:txBody>
                  <a:tcPr marL="91440" marR="91440" marT="45720" marB="45720"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c>
                  <a:txBody>
                    <a:bodyPr/>
                    <a:lstStyle/>
                    <a:p>
                      <a:pPr indent="0" marL="0">
                        <a:buNone/>
                      </a:pPr>
                      <a:r>
                        <a:rPr lang="en-US" sz="1100" dirty="0">
                          <a:solidFill>
                            <a:srgbClr val="22282E"/>
                          </a:solidFill>
                          <a:latin typeface="Calibri" pitchFamily="34" charset="0"/>
                          <a:ea typeface="Calibri" pitchFamily="34" charset="-122"/>
                          <a:cs typeface="Calibri" pitchFamily="34" charset="-120"/>
                        </a:rPr>
                        <a:t>Aim 1 success criterion (≥90%)</a:t>
                      </a:r>
                      <a:endParaRPr lang="en-US" sz="1100" dirty="0">
                        <a:latin typeface="Calibri" charset="0"/>
                        <a:ea typeface="Calibri" charset="0"/>
                        <a:cs typeface="Calibri" charset="0"/>
                      </a:endParaRPr>
                    </a:p>
                  </a:txBody>
                  <a:tcPr marL="91440" marR="91440" marT="45720" marB="45720"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c>
                  <a:txBody>
                    <a:bodyPr/>
                    <a:lstStyle/>
                    <a:p>
                      <a:pPr indent="0" marL="0">
                        <a:buNone/>
                      </a:pPr>
                      <a:r>
                        <a:rPr lang="en-US" sz="1100" dirty="0">
                          <a:solidFill>
                            <a:srgbClr val="C25A2E"/>
                          </a:solidFill>
                          <a:latin typeface="Calibri" pitchFamily="34" charset="0"/>
                          <a:ea typeface="Calibri" pitchFamily="34" charset="-122"/>
                          <a:cs typeface="Calibri" pitchFamily="34" charset="-120"/>
                        </a:rPr>
                        <a:t>Not measured</a:t>
                      </a:r>
                      <a:endParaRPr lang="en-US" sz="1100" dirty="0">
                        <a:latin typeface="Calibri" charset="0"/>
                        <a:ea typeface="Calibri" charset="0"/>
                        <a:cs typeface="Calibri" charset="0"/>
                      </a:endParaRPr>
                    </a:p>
                  </a:txBody>
                  <a:tcPr marL="91440" marR="91440" marT="45720" marB="45720"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r>
              <a:tr h="457200">
                <a:tc>
                  <a:txBody>
                    <a:bodyPr/>
                    <a:lstStyle/>
                    <a:p>
                      <a:pPr indent="0" marL="0">
                        <a:buNone/>
                      </a:pPr>
                      <a:r>
                        <a:rPr lang="en-US" sz="1100" dirty="0">
                          <a:solidFill>
                            <a:srgbClr val="22282E"/>
                          </a:solidFill>
                          <a:latin typeface="Calibri" pitchFamily="34" charset="0"/>
                          <a:ea typeface="Calibri" pitchFamily="34" charset="-122"/>
                          <a:cs typeface="Calibri" pitchFamily="34" charset="-120"/>
                        </a:rPr>
                        <a:t>ARCADIA coverage / Model 0/1</a:t>
                      </a:r>
                      <a:endParaRPr lang="en-US" sz="1100" dirty="0">
                        <a:latin typeface="Calibri" charset="0"/>
                        <a:ea typeface="Calibri" charset="0"/>
                        <a:cs typeface="Calibri" charset="0"/>
                      </a:endParaRPr>
                    </a:p>
                  </a:txBody>
                  <a:tcPr marL="91440" marR="91440" marT="45720" marB="45720"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c>
                  <a:txBody>
                    <a:bodyPr/>
                    <a:lstStyle/>
                    <a:p>
                      <a:pPr indent="0" marL="0">
                        <a:buNone/>
                      </a:pPr>
                      <a:r>
                        <a:rPr lang="en-US" sz="1100" dirty="0">
                          <a:solidFill>
                            <a:srgbClr val="22282E"/>
                          </a:solidFill>
                          <a:latin typeface="Calibri" pitchFamily="34" charset="0"/>
                          <a:ea typeface="Calibri" pitchFamily="34" charset="-122"/>
                          <a:cs typeface="Calibri" pitchFamily="34" charset="-120"/>
                        </a:rPr>
                        <a:t>Aim 2, Research Strategy C.2.c</a:t>
                      </a:r>
                      <a:endParaRPr lang="en-US" sz="1100" dirty="0">
                        <a:latin typeface="Calibri" charset="0"/>
                        <a:ea typeface="Calibri" charset="0"/>
                        <a:cs typeface="Calibri" charset="0"/>
                      </a:endParaRPr>
                    </a:p>
                  </a:txBody>
                  <a:tcPr marL="91440" marR="91440" marT="45720" marB="45720"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c>
                  <a:txBody>
                    <a:bodyPr/>
                    <a:lstStyle/>
                    <a:p>
                      <a:pPr indent="0" marL="0">
                        <a:buNone/>
                      </a:pPr>
                      <a:r>
                        <a:rPr lang="en-US" sz="1100" dirty="0">
                          <a:solidFill>
                            <a:srgbClr val="B8860B"/>
                          </a:solidFill>
                          <a:latin typeface="Calibri" pitchFamily="34" charset="0"/>
                          <a:ea typeface="Calibri" pitchFamily="34" charset="-122"/>
                          <a:cs typeface="Calibri" pitchFamily="34" charset="-120"/>
                        </a:rPr>
                        <a:t>Placeholder — variable map starting</a:t>
                      </a:r>
                      <a:endParaRPr lang="en-US" sz="1100" dirty="0">
                        <a:latin typeface="Calibri" charset="0"/>
                        <a:ea typeface="Calibri" charset="0"/>
                        <a:cs typeface="Calibri" charset="0"/>
                      </a:endParaRPr>
                    </a:p>
                  </a:txBody>
                  <a:tcPr marL="91440" marR="91440" marT="45720" marB="45720"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r>
            </a:tbl>
          </a:graphicData>
        </a:graphic>
      </p:graphicFrame>
      <p:sp>
        <p:nvSpPr>
          <p:cNvPr id="5" name="Shape 2"/>
          <p:cNvSpPr/>
          <p:nvPr/>
        </p:nvSpPr>
        <p:spPr>
          <a:xfrm>
            <a:off x="548640" y="5468112"/>
            <a:ext cx="11064240" cy="685800"/>
          </a:xfrm>
          <a:prstGeom prst="roundRect">
            <a:avLst>
              <a:gd name="adj" fmla="val 8000"/>
            </a:avLst>
          </a:prstGeom>
          <a:solidFill>
            <a:srgbClr val="FDF6F2"/>
          </a:solidFill>
          <a:ln w="12700">
            <a:solidFill>
              <a:srgbClr val="C25A2E"/>
            </a:solidFill>
            <a:prstDash val="solid"/>
          </a:ln>
        </p:spPr>
      </p:sp>
      <p:sp>
        <p:nvSpPr>
          <p:cNvPr id="6" name="Text 3"/>
          <p:cNvSpPr/>
          <p:nvPr/>
        </p:nvSpPr>
        <p:spPr>
          <a:xfrm>
            <a:off x="868680" y="5541264"/>
            <a:ext cx="10424160" cy="548640"/>
          </a:xfrm>
          <a:prstGeom prst="rect">
            <a:avLst/>
          </a:prstGeom>
          <a:noFill/>
          <a:ln/>
        </p:spPr>
        <p:txBody>
          <a:bodyPr wrap="square" lIns="0" tIns="0" rIns="0" bIns="0" rtlCol="0" anchor="ctr"/>
          <a:lstStyle/>
          <a:p>
            <a:pPr indent="0" marL="0">
              <a:buNone/>
            </a:pPr>
            <a:r>
              <a:rPr lang="en-US" sz="1250" b="1" dirty="0">
                <a:solidFill>
                  <a:srgbClr val="1C3F5F"/>
                </a:solidFill>
                <a:latin typeface="Calibri" pitchFamily="34" charset="0"/>
                <a:ea typeface="Calibri" pitchFamily="34" charset="-122"/>
                <a:cs typeface="Calibri" pitchFamily="34" charset="-120"/>
              </a:rPr>
              <a:t>Abstention is the largest silent gap. It appears in the paper, in Figure 1, and in two R01 aims — and there is no such code. Better we surface it now than a reviewer in October.</a:t>
            </a:r>
            <a:endParaRPr lang="en-US" sz="12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11064240" cy="256032"/>
          </a:xfrm>
          <a:prstGeom prst="rect">
            <a:avLst/>
          </a:prstGeom>
          <a:noFill/>
          <a:ln/>
        </p:spPr>
        <p:txBody>
          <a:bodyPr wrap="square" lIns="0" tIns="0" rIns="0" bIns="0" rtlCol="0" anchor="ctr"/>
          <a:lstStyle/>
          <a:p>
            <a:pPr indent="0" marL="0">
              <a:buNone/>
            </a:pPr>
            <a:r>
              <a:rPr lang="en-US" sz="1100" b="1" spc="200" kern="0" dirty="0">
                <a:solidFill>
                  <a:srgbClr val="C25A2E"/>
                </a:solidFill>
                <a:latin typeface="Calibri" pitchFamily="34" charset="0"/>
                <a:ea typeface="Calibri" pitchFamily="34" charset="-122"/>
                <a:cs typeface="Calibri" pitchFamily="34" charset="-120"/>
              </a:rPr>
              <a:t>ASK 4  ·  PROPOSED BUILD PLAN</a:t>
            </a:r>
            <a:endParaRPr lang="en-US" sz="1100" dirty="0"/>
          </a:p>
        </p:txBody>
      </p:sp>
      <p:sp>
        <p:nvSpPr>
          <p:cNvPr id="3" name="Text 1"/>
          <p:cNvSpPr/>
          <p:nvPr/>
        </p:nvSpPr>
        <p:spPr>
          <a:xfrm>
            <a:off x="548640" y="585216"/>
            <a:ext cx="11064240" cy="566928"/>
          </a:xfrm>
          <a:prstGeom prst="rect">
            <a:avLst/>
          </a:prstGeom>
          <a:noFill/>
          <a:ln/>
        </p:spPr>
        <p:txBody>
          <a:bodyPr wrap="square" lIns="0" tIns="0" rIns="0" bIns="0" rtlCol="0" anchor="ctr"/>
          <a:lstStyle/>
          <a:p>
            <a:pPr indent="0" marL="0">
              <a:buNone/>
            </a:pPr>
            <a:r>
              <a:rPr lang="en-US" sz="2900" b="1" dirty="0">
                <a:solidFill>
                  <a:srgbClr val="1C3F5F"/>
                </a:solidFill>
                <a:latin typeface="Cambria" pitchFamily="34" charset="0"/>
                <a:ea typeface="Cambria" pitchFamily="34" charset="-122"/>
                <a:cs typeface="Cambria" pitchFamily="34" charset="-120"/>
              </a:rPr>
              <a:t>What I would build, in what order</a:t>
            </a:r>
            <a:endParaRPr lang="en-US" sz="29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48640" y="1234440"/>
          <a:ext cx="11064240" cy="914400"/>
        </p:xfrm>
        <a:graphic>
          <a:graphicData uri="http://schemas.openxmlformats.org/drawingml/2006/table">
            <a:tbl>
              <a:tblPr/>
              <a:tblGrid>
                <a:gridCol w="457200"/>
                <a:gridCol w="5120640"/>
                <a:gridCol w="1280160"/>
                <a:gridCol w="1280160"/>
                <a:gridCol w="2926080"/>
              </a:tblGrid>
              <a:tr h="365760">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91440" marR="91440" marT="45720" marB="45720"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solidFill>
                      <a:srgbClr val="1C3F5F"/>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Item</a:t>
                      </a:r>
                      <a:endParaRPr lang="en-US" sz="1150" dirty="0">
                        <a:latin typeface="Calibri" charset="0"/>
                        <a:ea typeface="Calibri" charset="0"/>
                        <a:cs typeface="Calibri" charset="0"/>
                      </a:endParaRPr>
                    </a:p>
                  </a:txBody>
                  <a:tcPr marL="91440" marR="91440" marT="45720" marB="45720"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solidFill>
                      <a:srgbClr val="1C3F5F"/>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Build</a:t>
                      </a:r>
                      <a:endParaRPr lang="en-US" sz="1150" dirty="0">
                        <a:latin typeface="Calibri" charset="0"/>
                        <a:ea typeface="Calibri" charset="0"/>
                        <a:cs typeface="Calibri" charset="0"/>
                      </a:endParaRPr>
                    </a:p>
                  </a:txBody>
                  <a:tcPr marL="91440" marR="91440" marT="45720" marB="45720"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solidFill>
                      <a:srgbClr val="1C3F5F"/>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Compute</a:t>
                      </a:r>
                      <a:endParaRPr lang="en-US" sz="1150" dirty="0">
                        <a:latin typeface="Calibri" charset="0"/>
                        <a:ea typeface="Calibri" charset="0"/>
                        <a:cs typeface="Calibri" charset="0"/>
                      </a:endParaRPr>
                    </a:p>
                  </a:txBody>
                  <a:tcPr marL="91440" marR="91440" marT="45720" marB="45720"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solidFill>
                      <a:srgbClr val="1C3F5F"/>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Unlocks</a:t>
                      </a:r>
                      <a:endParaRPr lang="en-US" sz="1150" dirty="0">
                        <a:latin typeface="Calibri" charset="0"/>
                        <a:ea typeface="Calibri" charset="0"/>
                        <a:cs typeface="Calibri" charset="0"/>
                      </a:endParaRPr>
                    </a:p>
                  </a:txBody>
                  <a:tcPr marL="91440" marR="91440" marT="45720" marB="45720"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solidFill>
                      <a:srgbClr val="1C3F5F"/>
                    </a:solidFill>
                  </a:tcPr>
                </a:tc>
              </a:tr>
              <a:tr h="365760">
                <a:tc>
                  <a:txBody>
                    <a:bodyPr/>
                    <a:lstStyle/>
                    <a:p>
                      <a:pPr indent="0" marL="0">
                        <a:buNone/>
                      </a:pPr>
                      <a:r>
                        <a:rPr lang="en-US" sz="1050" dirty="0">
                          <a:solidFill>
                            <a:srgbClr val="22282E"/>
                          </a:solidFill>
                          <a:latin typeface="Calibri" pitchFamily="34" charset="0"/>
                          <a:ea typeface="Calibri" pitchFamily="34" charset="-122"/>
                          <a:cs typeface="Calibri" pitchFamily="34" charset="-120"/>
                        </a:rPr>
                        <a:t>0</a:t>
                      </a:r>
                      <a:endParaRPr lang="en-US" sz="1050" dirty="0">
                        <a:latin typeface="Calibri" charset="0"/>
                        <a:ea typeface="Calibri" charset="0"/>
                        <a:cs typeface="Calibri" charset="0"/>
                      </a:endParaRPr>
                    </a:p>
                  </a:txBody>
                  <a:tcPr marL="91440" marR="91440" marT="45720" marB="45720"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c>
                  <a:txBody>
                    <a:bodyPr/>
                    <a:lstStyle/>
                    <a:p>
                      <a:pPr indent="0" marL="0">
                        <a:buNone/>
                      </a:pPr>
                      <a:r>
                        <a:rPr lang="en-US" sz="1050" dirty="0">
                          <a:solidFill>
                            <a:srgbClr val="22282E"/>
                          </a:solidFill>
                          <a:latin typeface="Calibri" pitchFamily="34" charset="0"/>
                          <a:ea typeface="Calibri" pitchFamily="34" charset="-122"/>
                          <a:cs typeface="Calibri" pitchFamily="34" charset="-120"/>
                        </a:rPr>
                        <a:t>Clean environment, lockfile, one-command runner, tidy result schema</a:t>
                      </a:r>
                      <a:endParaRPr lang="en-US" sz="1050" dirty="0">
                        <a:latin typeface="Calibri" charset="0"/>
                        <a:ea typeface="Calibri" charset="0"/>
                        <a:cs typeface="Calibri" charset="0"/>
                      </a:endParaRPr>
                    </a:p>
                  </a:txBody>
                  <a:tcPr marL="91440" marR="91440" marT="45720" marB="45720"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c>
                  <a:txBody>
                    <a:bodyPr/>
                    <a:lstStyle/>
                    <a:p>
                      <a:pPr indent="0" marL="0">
                        <a:buNone/>
                      </a:pPr>
                      <a:r>
                        <a:rPr lang="en-US" sz="1050" dirty="0">
                          <a:solidFill>
                            <a:srgbClr val="22282E"/>
                          </a:solidFill>
                          <a:latin typeface="Calibri" pitchFamily="34" charset="0"/>
                          <a:ea typeface="Calibri" pitchFamily="34" charset="-122"/>
                          <a:cs typeface="Calibri" pitchFamily="34" charset="-120"/>
                        </a:rPr>
                        <a:t>10 h</a:t>
                      </a:r>
                      <a:endParaRPr lang="en-US" sz="1050" dirty="0">
                        <a:latin typeface="Calibri" charset="0"/>
                        <a:ea typeface="Calibri" charset="0"/>
                        <a:cs typeface="Calibri" charset="0"/>
                      </a:endParaRPr>
                    </a:p>
                  </a:txBody>
                  <a:tcPr marL="91440" marR="91440" marT="45720" marB="45720"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c>
                  <a:txBody>
                    <a:bodyPr/>
                    <a:lstStyle/>
                    <a:p>
                      <a:pPr indent="0" marL="0">
                        <a:buNone/>
                      </a:pPr>
                      <a:r>
                        <a:rPr lang="en-US" sz="1050" dirty="0">
                          <a:solidFill>
                            <a:srgbClr val="22282E"/>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91440" marR="91440" marT="45720" marB="45720"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c>
                  <a:txBody>
                    <a:bodyPr/>
                    <a:lstStyle/>
                    <a:p>
                      <a:pPr indent="0" marL="0">
                        <a:buNone/>
                      </a:pPr>
                      <a:r>
                        <a:rPr lang="en-US" sz="1050" dirty="0">
                          <a:solidFill>
                            <a:srgbClr val="22282E"/>
                          </a:solidFill>
                          <a:latin typeface="Calibri" pitchFamily="34" charset="0"/>
                          <a:ea typeface="Calibri" pitchFamily="34" charset="-122"/>
                          <a:cs typeface="Calibri" pitchFamily="34" charset="-120"/>
                        </a:rPr>
                        <a:t>everything</a:t>
                      </a:r>
                      <a:endParaRPr lang="en-US" sz="1050" dirty="0">
                        <a:latin typeface="Calibri" charset="0"/>
                        <a:ea typeface="Calibri" charset="0"/>
                        <a:cs typeface="Calibri" charset="0"/>
                      </a:endParaRPr>
                    </a:p>
                  </a:txBody>
                  <a:tcPr marL="91440" marR="91440" marT="45720" marB="45720"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r>
              <a:tr h="365760">
                <a:tc>
                  <a:txBody>
                    <a:bodyPr/>
                    <a:lstStyle/>
                    <a:p>
                      <a:pPr indent="0" marL="0">
                        <a:buNone/>
                      </a:pPr>
                      <a:r>
                        <a:rPr lang="en-US" sz="1050" dirty="0">
                          <a:solidFill>
                            <a:srgbClr val="22282E"/>
                          </a:solidFill>
                          <a:latin typeface="Calibri" pitchFamily="34" charset="0"/>
                          <a:ea typeface="Calibri" pitchFamily="34" charset="-122"/>
                          <a:cs typeface="Calibri" pitchFamily="34" charset="-120"/>
                        </a:rPr>
                        <a:t>1</a:t>
                      </a:r>
                      <a:endParaRPr lang="en-US" sz="1050" dirty="0">
                        <a:latin typeface="Calibri" charset="0"/>
                        <a:ea typeface="Calibri" charset="0"/>
                        <a:cs typeface="Calibri" charset="0"/>
                      </a:endParaRPr>
                    </a:p>
                  </a:txBody>
                  <a:tcPr marL="91440" marR="91440" marT="45720" marB="45720"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c>
                  <a:txBody>
                    <a:bodyPr/>
                    <a:lstStyle/>
                    <a:p>
                      <a:pPr indent="0" marL="0">
                        <a:buNone/>
                      </a:pPr>
                      <a:r>
                        <a:rPr lang="en-US" sz="1050" dirty="0">
                          <a:solidFill>
                            <a:srgbClr val="22282E"/>
                          </a:solidFill>
                          <a:latin typeface="Calibri" pitchFamily="34" charset="0"/>
                          <a:ea typeface="Calibri" pitchFamily="34" charset="-122"/>
                          <a:cs typeface="Calibri" pitchFamily="34" charset="-120"/>
                        </a:rPr>
                        <a:t>Collapse proposition (analytic — no compute)</a:t>
                      </a:r>
                      <a:endParaRPr lang="en-US" sz="1050" dirty="0">
                        <a:latin typeface="Calibri" charset="0"/>
                        <a:ea typeface="Calibri" charset="0"/>
                        <a:cs typeface="Calibri" charset="0"/>
                      </a:endParaRPr>
                    </a:p>
                  </a:txBody>
                  <a:tcPr marL="91440" marR="91440" marT="45720" marB="45720"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c>
                  <a:txBody>
                    <a:bodyPr/>
                    <a:lstStyle/>
                    <a:p>
                      <a:pPr indent="0" marL="0">
                        <a:buNone/>
                      </a:pPr>
                      <a:r>
                        <a:rPr lang="en-US" sz="1050" dirty="0">
                          <a:solidFill>
                            <a:srgbClr val="22282E"/>
                          </a:solidFill>
                          <a:latin typeface="Calibri" pitchFamily="34" charset="0"/>
                          <a:ea typeface="Calibri" pitchFamily="34" charset="-122"/>
                          <a:cs typeface="Calibri" pitchFamily="34" charset="-120"/>
                        </a:rPr>
                        <a:t>4 h</a:t>
                      </a:r>
                      <a:endParaRPr lang="en-US" sz="1050" dirty="0">
                        <a:latin typeface="Calibri" charset="0"/>
                        <a:ea typeface="Calibri" charset="0"/>
                        <a:cs typeface="Calibri" charset="0"/>
                      </a:endParaRPr>
                    </a:p>
                  </a:txBody>
                  <a:tcPr marL="91440" marR="91440" marT="45720" marB="45720"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c>
                  <a:txBody>
                    <a:bodyPr/>
                    <a:lstStyle/>
                    <a:p>
                      <a:pPr indent="0" marL="0">
                        <a:buNone/>
                      </a:pPr>
                      <a:r>
                        <a:rPr lang="en-US" sz="1050" dirty="0">
                          <a:solidFill>
                            <a:srgbClr val="22282E"/>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91440" marR="91440" marT="45720" marB="45720"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c>
                  <a:txBody>
                    <a:bodyPr/>
                    <a:lstStyle/>
                    <a:p>
                      <a:pPr indent="0" marL="0">
                        <a:buNone/>
                      </a:pPr>
                      <a:r>
                        <a:rPr lang="en-US" sz="1050" dirty="0">
                          <a:solidFill>
                            <a:srgbClr val="22282E"/>
                          </a:solidFill>
                          <a:latin typeface="Calibri" pitchFamily="34" charset="0"/>
                          <a:ea typeface="Calibri" pitchFamily="34" charset="-122"/>
                          <a:cs typeface="Calibri" pitchFamily="34" charset="-120"/>
                        </a:rPr>
                        <a:t>the framing</a:t>
                      </a:r>
                      <a:endParaRPr lang="en-US" sz="1050" dirty="0">
                        <a:latin typeface="Calibri" charset="0"/>
                        <a:ea typeface="Calibri" charset="0"/>
                        <a:cs typeface="Calibri" charset="0"/>
                      </a:endParaRPr>
                    </a:p>
                  </a:txBody>
                  <a:tcPr marL="91440" marR="91440" marT="45720" marB="45720"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r>
              <a:tr h="365760">
                <a:tc>
                  <a:txBody>
                    <a:bodyPr/>
                    <a:lstStyle/>
                    <a:p>
                      <a:pPr indent="0" marL="0">
                        <a:buNone/>
                      </a:pPr>
                      <a:r>
                        <a:rPr lang="en-US" sz="1050" b="1" dirty="0">
                          <a:solidFill>
                            <a:srgbClr val="22282E"/>
                          </a:solidFill>
                          <a:latin typeface="Calibri" pitchFamily="34" charset="0"/>
                          <a:ea typeface="Calibri" pitchFamily="34" charset="-122"/>
                          <a:cs typeface="Calibri" pitchFamily="34" charset="-120"/>
                        </a:rPr>
                        <a:t>2</a:t>
                      </a:r>
                      <a:endParaRPr lang="en-US" sz="1050" dirty="0">
                        <a:latin typeface="Calibri" charset="0"/>
                        <a:ea typeface="Calibri" charset="0"/>
                        <a:cs typeface="Calibri" charset="0"/>
                      </a:endParaRPr>
                    </a:p>
                  </a:txBody>
                  <a:tcPr marL="91440" marR="91440" marT="45720" marB="45720"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c>
                  <a:txBody>
                    <a:bodyPr/>
                    <a:lstStyle/>
                    <a:p>
                      <a:pPr indent="0" marL="0">
                        <a:buNone/>
                      </a:pPr>
                      <a:r>
                        <a:rPr lang="en-US" sz="1050" b="1" dirty="0">
                          <a:solidFill>
                            <a:srgbClr val="1C3F5F"/>
                          </a:solidFill>
                          <a:latin typeface="Calibri" pitchFamily="34" charset="0"/>
                          <a:ea typeface="Calibri" pitchFamily="34" charset="-122"/>
                          <a:cs typeface="Calibri" pitchFamily="34" charset="-120"/>
                        </a:rPr>
                        <a:t>E1a — redundant nuisance paths</a:t>
                      </a:r>
                      <a:endParaRPr lang="en-US" sz="1050" dirty="0">
                        <a:latin typeface="Calibri" charset="0"/>
                        <a:ea typeface="Calibri" charset="0"/>
                        <a:cs typeface="Calibri" charset="0"/>
                      </a:endParaRPr>
                    </a:p>
                  </a:txBody>
                  <a:tcPr marL="91440" marR="91440" marT="45720" marB="45720"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c>
                  <a:txBody>
                    <a:bodyPr/>
                    <a:lstStyle/>
                    <a:p>
                      <a:pPr indent="0" marL="0">
                        <a:buNone/>
                      </a:pPr>
                      <a:r>
                        <a:rPr lang="en-US" sz="1050" b="1" dirty="0">
                          <a:solidFill>
                            <a:srgbClr val="22282E"/>
                          </a:solidFill>
                          <a:latin typeface="Calibri" pitchFamily="34" charset="0"/>
                          <a:ea typeface="Calibri" pitchFamily="34" charset="-122"/>
                          <a:cs typeface="Calibri" pitchFamily="34" charset="-120"/>
                        </a:rPr>
                        <a:t>14 h</a:t>
                      </a:r>
                      <a:endParaRPr lang="en-US" sz="1050" dirty="0">
                        <a:latin typeface="Calibri" charset="0"/>
                        <a:ea typeface="Calibri" charset="0"/>
                        <a:cs typeface="Calibri" charset="0"/>
                      </a:endParaRPr>
                    </a:p>
                  </a:txBody>
                  <a:tcPr marL="91440" marR="91440" marT="45720" marB="45720"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c>
                  <a:txBody>
                    <a:bodyPr/>
                    <a:lstStyle/>
                    <a:p>
                      <a:pPr indent="0" marL="0">
                        <a:buNone/>
                      </a:pPr>
                      <a:r>
                        <a:rPr lang="en-US" sz="1050" b="1" dirty="0">
                          <a:solidFill>
                            <a:srgbClr val="22282E"/>
                          </a:solidFill>
                          <a:latin typeface="Calibri" pitchFamily="34" charset="0"/>
                          <a:ea typeface="Calibri" pitchFamily="34" charset="-122"/>
                          <a:cs typeface="Calibri" pitchFamily="34" charset="-120"/>
                        </a:rPr>
                        <a:t>4 h</a:t>
                      </a:r>
                      <a:endParaRPr lang="en-US" sz="1050" dirty="0">
                        <a:latin typeface="Calibri" charset="0"/>
                        <a:ea typeface="Calibri" charset="0"/>
                        <a:cs typeface="Calibri" charset="0"/>
                      </a:endParaRPr>
                    </a:p>
                  </a:txBody>
                  <a:tcPr marL="91440" marR="91440" marT="45720" marB="45720"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c>
                  <a:txBody>
                    <a:bodyPr/>
                    <a:lstStyle/>
                    <a:p>
                      <a:pPr indent="0" marL="0">
                        <a:buNone/>
                      </a:pPr>
                      <a:r>
                        <a:rPr lang="en-US" sz="1050" b="1" dirty="0">
                          <a:solidFill>
                            <a:srgbClr val="C25A2E"/>
                          </a:solidFill>
                          <a:latin typeface="Calibri" pitchFamily="34" charset="0"/>
                          <a:ea typeface="Calibri" pitchFamily="34" charset="-122"/>
                          <a:cs typeface="Calibri" pitchFamily="34" charset="-120"/>
                        </a:rPr>
                        <a:t>decides the paper</a:t>
                      </a:r>
                      <a:endParaRPr lang="en-US" sz="1050" dirty="0">
                        <a:latin typeface="Calibri" charset="0"/>
                        <a:ea typeface="Calibri" charset="0"/>
                        <a:cs typeface="Calibri" charset="0"/>
                      </a:endParaRPr>
                    </a:p>
                  </a:txBody>
                  <a:tcPr marL="91440" marR="91440" marT="45720" marB="45720"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r>
              <a:tr h="365760">
                <a:tc>
                  <a:txBody>
                    <a:bodyPr/>
                    <a:lstStyle/>
                    <a:p>
                      <a:pPr indent="0" marL="0">
                        <a:buNone/>
                      </a:pPr>
                      <a:r>
                        <a:rPr lang="en-US" sz="1050" dirty="0">
                          <a:solidFill>
                            <a:srgbClr val="22282E"/>
                          </a:solidFill>
                          <a:latin typeface="Calibri" pitchFamily="34" charset="0"/>
                          <a:ea typeface="Calibri" pitchFamily="34" charset="-122"/>
                          <a:cs typeface="Calibri" pitchFamily="34" charset="-120"/>
                        </a:rPr>
                        <a:t>3</a:t>
                      </a:r>
                      <a:endParaRPr lang="en-US" sz="1050" dirty="0">
                        <a:latin typeface="Calibri" charset="0"/>
                        <a:ea typeface="Calibri" charset="0"/>
                        <a:cs typeface="Calibri" charset="0"/>
                      </a:endParaRPr>
                    </a:p>
                  </a:txBody>
                  <a:tcPr marL="91440" marR="91440" marT="45720" marB="45720"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c>
                  <a:txBody>
                    <a:bodyPr/>
                    <a:lstStyle/>
                    <a:p>
                      <a:pPr indent="0" marL="0">
                        <a:buNone/>
                      </a:pPr>
                      <a:r>
                        <a:rPr lang="en-US" sz="1050" dirty="0">
                          <a:solidFill>
                            <a:srgbClr val="22282E"/>
                          </a:solidFill>
                          <a:latin typeface="Calibri" pitchFamily="34" charset="0"/>
                          <a:ea typeface="Calibri" pitchFamily="34" charset="-122"/>
                          <a:cs typeface="Calibri" pitchFamily="34" charset="-120"/>
                        </a:rPr>
                        <a:t>Abstention rule + risk–coverage curves</a:t>
                      </a:r>
                      <a:endParaRPr lang="en-US" sz="1050" dirty="0">
                        <a:latin typeface="Calibri" charset="0"/>
                        <a:ea typeface="Calibri" charset="0"/>
                        <a:cs typeface="Calibri" charset="0"/>
                      </a:endParaRPr>
                    </a:p>
                  </a:txBody>
                  <a:tcPr marL="91440" marR="91440" marT="45720" marB="45720"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c>
                  <a:txBody>
                    <a:bodyPr/>
                    <a:lstStyle/>
                    <a:p>
                      <a:pPr indent="0" marL="0">
                        <a:buNone/>
                      </a:pPr>
                      <a:r>
                        <a:rPr lang="en-US" sz="1050" dirty="0">
                          <a:solidFill>
                            <a:srgbClr val="22282E"/>
                          </a:solidFill>
                          <a:latin typeface="Calibri" pitchFamily="34" charset="0"/>
                          <a:ea typeface="Calibri" pitchFamily="34" charset="-122"/>
                          <a:cs typeface="Calibri" pitchFamily="34" charset="-120"/>
                        </a:rPr>
                        <a:t>12 h</a:t>
                      </a:r>
                      <a:endParaRPr lang="en-US" sz="1050" dirty="0">
                        <a:latin typeface="Calibri" charset="0"/>
                        <a:ea typeface="Calibri" charset="0"/>
                        <a:cs typeface="Calibri" charset="0"/>
                      </a:endParaRPr>
                    </a:p>
                  </a:txBody>
                  <a:tcPr marL="91440" marR="91440" marT="45720" marB="45720"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c>
                  <a:txBody>
                    <a:bodyPr/>
                    <a:lstStyle/>
                    <a:p>
                      <a:pPr indent="0" marL="0">
                        <a:buNone/>
                      </a:pPr>
                      <a:r>
                        <a:rPr lang="en-US" sz="1050" dirty="0">
                          <a:solidFill>
                            <a:srgbClr val="22282E"/>
                          </a:solidFill>
                          <a:latin typeface="Calibri" pitchFamily="34" charset="0"/>
                          <a:ea typeface="Calibri" pitchFamily="34" charset="-122"/>
                          <a:cs typeface="Calibri" pitchFamily="34" charset="-120"/>
                        </a:rPr>
                        <a:t>3 h</a:t>
                      </a:r>
                      <a:endParaRPr lang="en-US" sz="1050" dirty="0">
                        <a:latin typeface="Calibri" charset="0"/>
                        <a:ea typeface="Calibri" charset="0"/>
                        <a:cs typeface="Calibri" charset="0"/>
                      </a:endParaRPr>
                    </a:p>
                  </a:txBody>
                  <a:tcPr marL="91440" marR="91440" marT="45720" marB="45720"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c>
                  <a:txBody>
                    <a:bodyPr/>
                    <a:lstStyle/>
                    <a:p>
                      <a:pPr indent="0" marL="0">
                        <a:buNone/>
                      </a:pPr>
                      <a:r>
                        <a:rPr lang="en-US" sz="1050" dirty="0">
                          <a:solidFill>
                            <a:srgbClr val="22282E"/>
                          </a:solidFill>
                          <a:latin typeface="Calibri" pitchFamily="34" charset="0"/>
                          <a:ea typeface="Calibri" pitchFamily="34" charset="-122"/>
                          <a:cs typeface="Calibri" pitchFamily="34" charset="-120"/>
                        </a:rPr>
                        <a:t>M7 ablation row</a:t>
                      </a:r>
                      <a:endParaRPr lang="en-US" sz="1050" dirty="0">
                        <a:latin typeface="Calibri" charset="0"/>
                        <a:ea typeface="Calibri" charset="0"/>
                        <a:cs typeface="Calibri" charset="0"/>
                      </a:endParaRPr>
                    </a:p>
                  </a:txBody>
                  <a:tcPr marL="91440" marR="91440" marT="45720" marB="45720"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r>
              <a:tr h="365760">
                <a:tc>
                  <a:txBody>
                    <a:bodyPr/>
                    <a:lstStyle/>
                    <a:p>
                      <a:pPr indent="0" marL="0">
                        <a:buNone/>
                      </a:pPr>
                      <a:r>
                        <a:rPr lang="en-US" sz="1050" dirty="0">
                          <a:solidFill>
                            <a:srgbClr val="22282E"/>
                          </a:solidFill>
                          <a:latin typeface="Calibri" pitchFamily="34" charset="0"/>
                          <a:ea typeface="Calibri" pitchFamily="34" charset="-122"/>
                          <a:cs typeface="Calibri" pitchFamily="34" charset="-120"/>
                        </a:rPr>
                        <a:t>4</a:t>
                      </a:r>
                      <a:endParaRPr lang="en-US" sz="1050" dirty="0">
                        <a:latin typeface="Calibri" charset="0"/>
                        <a:ea typeface="Calibri" charset="0"/>
                        <a:cs typeface="Calibri" charset="0"/>
                      </a:endParaRPr>
                    </a:p>
                  </a:txBody>
                  <a:tcPr marL="91440" marR="91440" marT="45720" marB="45720"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c>
                  <a:txBody>
                    <a:bodyPr/>
                    <a:lstStyle/>
                    <a:p>
                      <a:pPr indent="0" marL="0">
                        <a:buNone/>
                      </a:pPr>
                      <a:r>
                        <a:rPr lang="en-US" sz="1050" dirty="0">
                          <a:solidFill>
                            <a:srgbClr val="22282E"/>
                          </a:solidFill>
                          <a:latin typeface="Calibri" pitchFamily="34" charset="0"/>
                          <a:ea typeface="Calibri" pitchFamily="34" charset="-122"/>
                          <a:cs typeface="Calibri" pitchFamily="34" charset="-120"/>
                        </a:rPr>
                        <a:t>Mechanism-dependent missingness (MCAR/MAR/MNAR)</a:t>
                      </a:r>
                      <a:endParaRPr lang="en-US" sz="1050" dirty="0">
                        <a:latin typeface="Calibri" charset="0"/>
                        <a:ea typeface="Calibri" charset="0"/>
                        <a:cs typeface="Calibri" charset="0"/>
                      </a:endParaRPr>
                    </a:p>
                  </a:txBody>
                  <a:tcPr marL="91440" marR="91440" marT="45720" marB="45720"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c>
                  <a:txBody>
                    <a:bodyPr/>
                    <a:lstStyle/>
                    <a:p>
                      <a:pPr indent="0" marL="0">
                        <a:buNone/>
                      </a:pPr>
                      <a:r>
                        <a:rPr lang="en-US" sz="1050" dirty="0">
                          <a:solidFill>
                            <a:srgbClr val="22282E"/>
                          </a:solidFill>
                          <a:latin typeface="Calibri" pitchFamily="34" charset="0"/>
                          <a:ea typeface="Calibri" pitchFamily="34" charset="-122"/>
                          <a:cs typeface="Calibri" pitchFamily="34" charset="-120"/>
                        </a:rPr>
                        <a:t>8 h</a:t>
                      </a:r>
                      <a:endParaRPr lang="en-US" sz="1050" dirty="0">
                        <a:latin typeface="Calibri" charset="0"/>
                        <a:ea typeface="Calibri" charset="0"/>
                        <a:cs typeface="Calibri" charset="0"/>
                      </a:endParaRPr>
                    </a:p>
                  </a:txBody>
                  <a:tcPr marL="91440" marR="91440" marT="45720" marB="45720"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c>
                  <a:txBody>
                    <a:bodyPr/>
                    <a:lstStyle/>
                    <a:p>
                      <a:pPr indent="0" marL="0">
                        <a:buNone/>
                      </a:pPr>
                      <a:r>
                        <a:rPr lang="en-US" sz="1050" dirty="0">
                          <a:solidFill>
                            <a:srgbClr val="22282E"/>
                          </a:solidFill>
                          <a:latin typeface="Calibri" pitchFamily="34" charset="0"/>
                          <a:ea typeface="Calibri" pitchFamily="34" charset="-122"/>
                          <a:cs typeface="Calibri" pitchFamily="34" charset="-120"/>
                        </a:rPr>
                        <a:t>3 h</a:t>
                      </a:r>
                      <a:endParaRPr lang="en-US" sz="1050" dirty="0">
                        <a:latin typeface="Calibri" charset="0"/>
                        <a:ea typeface="Calibri" charset="0"/>
                        <a:cs typeface="Calibri" charset="0"/>
                      </a:endParaRPr>
                    </a:p>
                  </a:txBody>
                  <a:tcPr marL="91440" marR="91440" marT="45720" marB="45720"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c>
                  <a:txBody>
                    <a:bodyPr/>
                    <a:lstStyle/>
                    <a:p>
                      <a:pPr indent="0" marL="0">
                        <a:buNone/>
                      </a:pPr>
                      <a:r>
                        <a:rPr lang="en-US" sz="1050" dirty="0">
                          <a:solidFill>
                            <a:srgbClr val="22282E"/>
                          </a:solidFill>
                          <a:latin typeface="Calibri" pitchFamily="34" charset="0"/>
                          <a:ea typeface="Calibri" pitchFamily="34" charset="-122"/>
                          <a:cs typeface="Calibri" pitchFamily="34" charset="-120"/>
                        </a:rPr>
                        <a:t>robustness arm</a:t>
                      </a:r>
                      <a:endParaRPr lang="en-US" sz="1050" dirty="0">
                        <a:latin typeface="Calibri" charset="0"/>
                        <a:ea typeface="Calibri" charset="0"/>
                        <a:cs typeface="Calibri" charset="0"/>
                      </a:endParaRPr>
                    </a:p>
                  </a:txBody>
                  <a:tcPr marL="91440" marR="91440" marT="45720" marB="45720"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r>
              <a:tr h="365760">
                <a:tc>
                  <a:txBody>
                    <a:bodyPr/>
                    <a:lstStyle/>
                    <a:p>
                      <a:pPr indent="0" marL="0">
                        <a:buNone/>
                      </a:pPr>
                      <a:r>
                        <a:rPr lang="en-US" sz="1050" dirty="0">
                          <a:solidFill>
                            <a:srgbClr val="22282E"/>
                          </a:solidFill>
                          <a:latin typeface="Calibri" pitchFamily="34" charset="0"/>
                          <a:ea typeface="Calibri" pitchFamily="34" charset="-122"/>
                          <a:cs typeface="Calibri" pitchFamily="34" charset="-120"/>
                        </a:rPr>
                        <a:t>5</a:t>
                      </a:r>
                      <a:endParaRPr lang="en-US" sz="1050" dirty="0">
                        <a:latin typeface="Calibri" charset="0"/>
                        <a:ea typeface="Calibri" charset="0"/>
                        <a:cs typeface="Calibri" charset="0"/>
                      </a:endParaRPr>
                    </a:p>
                  </a:txBody>
                  <a:tcPr marL="91440" marR="91440" marT="45720" marB="45720"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c>
                  <a:txBody>
                    <a:bodyPr/>
                    <a:lstStyle/>
                    <a:p>
                      <a:pPr indent="0" marL="0">
                        <a:buNone/>
                      </a:pPr>
                      <a:r>
                        <a:rPr lang="en-US" sz="1050" dirty="0">
                          <a:solidFill>
                            <a:srgbClr val="22282E"/>
                          </a:solidFill>
                          <a:latin typeface="Calibri" pitchFamily="34" charset="0"/>
                          <a:ea typeface="Calibri" pitchFamily="34" charset="-122"/>
                          <a:cs typeface="Calibri" pitchFamily="34" charset="-120"/>
                        </a:rPr>
                        <a:t>K = 3 / K = 4</a:t>
                      </a:r>
                      <a:endParaRPr lang="en-US" sz="1050" dirty="0">
                        <a:latin typeface="Calibri" charset="0"/>
                        <a:ea typeface="Calibri" charset="0"/>
                        <a:cs typeface="Calibri" charset="0"/>
                      </a:endParaRPr>
                    </a:p>
                  </a:txBody>
                  <a:tcPr marL="91440" marR="91440" marT="45720" marB="45720"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c>
                  <a:txBody>
                    <a:bodyPr/>
                    <a:lstStyle/>
                    <a:p>
                      <a:pPr indent="0" marL="0">
                        <a:buNone/>
                      </a:pPr>
                      <a:r>
                        <a:rPr lang="en-US" sz="1050" dirty="0">
                          <a:solidFill>
                            <a:srgbClr val="22282E"/>
                          </a:solidFill>
                          <a:latin typeface="Calibri" pitchFamily="34" charset="0"/>
                          <a:ea typeface="Calibri" pitchFamily="34" charset="-122"/>
                          <a:cs typeface="Calibri" pitchFamily="34" charset="-120"/>
                        </a:rPr>
                        <a:t>12 h</a:t>
                      </a:r>
                      <a:endParaRPr lang="en-US" sz="1050" dirty="0">
                        <a:latin typeface="Calibri" charset="0"/>
                        <a:ea typeface="Calibri" charset="0"/>
                        <a:cs typeface="Calibri" charset="0"/>
                      </a:endParaRPr>
                    </a:p>
                  </a:txBody>
                  <a:tcPr marL="91440" marR="91440" marT="45720" marB="45720"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c>
                  <a:txBody>
                    <a:bodyPr/>
                    <a:lstStyle/>
                    <a:p>
                      <a:pPr indent="0" marL="0">
                        <a:buNone/>
                      </a:pPr>
                      <a:r>
                        <a:rPr lang="en-US" sz="1050" dirty="0">
                          <a:solidFill>
                            <a:srgbClr val="22282E"/>
                          </a:solidFill>
                          <a:latin typeface="Calibri" pitchFamily="34" charset="0"/>
                          <a:ea typeface="Calibri" pitchFamily="34" charset="-122"/>
                          <a:cs typeface="Calibri" pitchFamily="34" charset="-120"/>
                        </a:rPr>
                        <a:t>4 h</a:t>
                      </a:r>
                      <a:endParaRPr lang="en-US" sz="1050" dirty="0">
                        <a:latin typeface="Calibri" charset="0"/>
                        <a:ea typeface="Calibri" charset="0"/>
                        <a:cs typeface="Calibri" charset="0"/>
                      </a:endParaRPr>
                    </a:p>
                  </a:txBody>
                  <a:tcPr marL="91440" marR="91440" marT="45720" marB="45720"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c>
                  <a:txBody>
                    <a:bodyPr/>
                    <a:lstStyle/>
                    <a:p>
                      <a:pPr indent="0" marL="0">
                        <a:buNone/>
                      </a:pPr>
                      <a:r>
                        <a:rPr lang="en-US" sz="1050" dirty="0">
                          <a:solidFill>
                            <a:srgbClr val="22282E"/>
                          </a:solidFill>
                          <a:latin typeface="Calibri" pitchFamily="34" charset="0"/>
                          <a:ea typeface="Calibri" pitchFamily="34" charset="-122"/>
                          <a:cs typeface="Calibri" pitchFamily="34" charset="-120"/>
                        </a:rPr>
                        <a:t>K-selection arm</a:t>
                      </a:r>
                      <a:endParaRPr lang="en-US" sz="1050" dirty="0">
                        <a:latin typeface="Calibri" charset="0"/>
                        <a:ea typeface="Calibri" charset="0"/>
                        <a:cs typeface="Calibri" charset="0"/>
                      </a:endParaRPr>
                    </a:p>
                  </a:txBody>
                  <a:tcPr marL="91440" marR="91440" marT="45720" marB="45720"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r>
              <a:tr h="365760">
                <a:tc>
                  <a:txBody>
                    <a:bodyPr/>
                    <a:lstStyle/>
                    <a:p>
                      <a:pPr indent="0" marL="0">
                        <a:buNone/>
                      </a:pPr>
                      <a:r>
                        <a:rPr lang="en-US" sz="1050" dirty="0">
                          <a:solidFill>
                            <a:srgbClr val="22282E"/>
                          </a:solidFill>
                          <a:latin typeface="Calibri" pitchFamily="34" charset="0"/>
                          <a:ea typeface="Calibri" pitchFamily="34" charset="-122"/>
                          <a:cs typeface="Calibri" pitchFamily="34" charset="-120"/>
                        </a:rPr>
                        <a:t>6</a:t>
                      </a:r>
                      <a:endParaRPr lang="en-US" sz="1050" dirty="0">
                        <a:latin typeface="Calibri" charset="0"/>
                        <a:ea typeface="Calibri" charset="0"/>
                        <a:cs typeface="Calibri" charset="0"/>
                      </a:endParaRPr>
                    </a:p>
                  </a:txBody>
                  <a:tcPr marL="91440" marR="91440" marT="45720" marB="45720"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c>
                  <a:txBody>
                    <a:bodyPr/>
                    <a:lstStyle/>
                    <a:p>
                      <a:pPr indent="0" marL="0">
                        <a:buNone/>
                      </a:pPr>
                      <a:r>
                        <a:rPr lang="en-US" sz="1050" dirty="0">
                          <a:solidFill>
                            <a:srgbClr val="22282E"/>
                          </a:solidFill>
                          <a:latin typeface="Calibri" pitchFamily="34" charset="0"/>
                          <a:ea typeface="Calibri" pitchFamily="34" charset="-122"/>
                          <a:cs typeface="Calibri" pitchFamily="34" charset="-120"/>
                        </a:rPr>
                        <a:t>Co-active mechanisms</a:t>
                      </a:r>
                      <a:endParaRPr lang="en-US" sz="1050" dirty="0">
                        <a:latin typeface="Calibri" charset="0"/>
                        <a:ea typeface="Calibri" charset="0"/>
                        <a:cs typeface="Calibri" charset="0"/>
                      </a:endParaRPr>
                    </a:p>
                  </a:txBody>
                  <a:tcPr marL="91440" marR="91440" marT="45720" marB="45720"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c>
                  <a:txBody>
                    <a:bodyPr/>
                    <a:lstStyle/>
                    <a:p>
                      <a:pPr indent="0" marL="0">
                        <a:buNone/>
                      </a:pPr>
                      <a:r>
                        <a:rPr lang="en-US" sz="1050" dirty="0">
                          <a:solidFill>
                            <a:srgbClr val="22282E"/>
                          </a:solidFill>
                          <a:latin typeface="Calibri" pitchFamily="34" charset="0"/>
                          <a:ea typeface="Calibri" pitchFamily="34" charset="-122"/>
                          <a:cs typeface="Calibri" pitchFamily="34" charset="-120"/>
                        </a:rPr>
                        <a:t>10 h</a:t>
                      </a:r>
                      <a:endParaRPr lang="en-US" sz="1050" dirty="0">
                        <a:latin typeface="Calibri" charset="0"/>
                        <a:ea typeface="Calibri" charset="0"/>
                        <a:cs typeface="Calibri" charset="0"/>
                      </a:endParaRPr>
                    </a:p>
                  </a:txBody>
                  <a:tcPr marL="91440" marR="91440" marT="45720" marB="45720"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c>
                  <a:txBody>
                    <a:bodyPr/>
                    <a:lstStyle/>
                    <a:p>
                      <a:pPr indent="0" marL="0">
                        <a:buNone/>
                      </a:pPr>
                      <a:r>
                        <a:rPr lang="en-US" sz="1050" dirty="0">
                          <a:solidFill>
                            <a:srgbClr val="22282E"/>
                          </a:solidFill>
                          <a:latin typeface="Calibri" pitchFamily="34" charset="0"/>
                          <a:ea typeface="Calibri" pitchFamily="34" charset="-122"/>
                          <a:cs typeface="Calibri" pitchFamily="34" charset="-120"/>
                        </a:rPr>
                        <a:t>3 h</a:t>
                      </a:r>
                      <a:endParaRPr lang="en-US" sz="1050" dirty="0">
                        <a:latin typeface="Calibri" charset="0"/>
                        <a:ea typeface="Calibri" charset="0"/>
                        <a:cs typeface="Calibri" charset="0"/>
                      </a:endParaRPr>
                    </a:p>
                  </a:txBody>
                  <a:tcPr marL="91440" marR="91440" marT="45720" marB="45720"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c>
                  <a:txBody>
                    <a:bodyPr/>
                    <a:lstStyle/>
                    <a:p>
                      <a:pPr indent="0" marL="0">
                        <a:buNone/>
                      </a:pPr>
                      <a:r>
                        <a:rPr lang="en-US" sz="1050" dirty="0">
                          <a:solidFill>
                            <a:srgbClr val="22282E"/>
                          </a:solidFill>
                          <a:latin typeface="Calibri" pitchFamily="34" charset="0"/>
                          <a:ea typeface="Calibri" pitchFamily="34" charset="-122"/>
                          <a:cs typeface="Calibri" pitchFamily="34" charset="-120"/>
                        </a:rPr>
                        <a:t>overlap arm</a:t>
                      </a:r>
                      <a:endParaRPr lang="en-US" sz="1050" dirty="0">
                        <a:latin typeface="Calibri" charset="0"/>
                        <a:ea typeface="Calibri" charset="0"/>
                        <a:cs typeface="Calibri" charset="0"/>
                      </a:endParaRPr>
                    </a:p>
                  </a:txBody>
                  <a:tcPr marL="91440" marR="91440" marT="45720" marB="45720"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r>
              <a:tr h="365760">
                <a:tc>
                  <a:txBody>
                    <a:bodyPr/>
                    <a:lstStyle/>
                    <a:p>
                      <a:pPr indent="0" marL="0">
                        <a:buNone/>
                      </a:pPr>
                      <a:r>
                        <a:rPr lang="en-US" sz="1050" dirty="0">
                          <a:solidFill>
                            <a:srgbClr val="22282E"/>
                          </a:solidFill>
                          <a:latin typeface="Calibri" pitchFamily="34" charset="0"/>
                          <a:ea typeface="Calibri" pitchFamily="34" charset="-122"/>
                          <a:cs typeface="Calibri" pitchFamily="34" charset="-120"/>
                        </a:rPr>
                        <a:t>7</a:t>
                      </a:r>
                      <a:endParaRPr lang="en-US" sz="1050" dirty="0">
                        <a:latin typeface="Calibri" charset="0"/>
                        <a:ea typeface="Calibri" charset="0"/>
                        <a:cs typeface="Calibri" charset="0"/>
                      </a:endParaRPr>
                    </a:p>
                  </a:txBody>
                  <a:tcPr marL="91440" marR="91440" marT="45720" marB="45720"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c>
                  <a:txBody>
                    <a:bodyPr/>
                    <a:lstStyle/>
                    <a:p>
                      <a:pPr indent="0" marL="0">
                        <a:buNone/>
                      </a:pPr>
                      <a:r>
                        <a:rPr lang="en-US" sz="1050" dirty="0">
                          <a:solidFill>
                            <a:srgbClr val="22282E"/>
                          </a:solidFill>
                          <a:latin typeface="Calibri" pitchFamily="34" charset="0"/>
                          <a:ea typeface="Calibri" pitchFamily="34" charset="-122"/>
                          <a:cs typeface="Calibri" pitchFamily="34" charset="-120"/>
                        </a:rPr>
                        <a:t>M0–M7 ablation, paired seeds, both settings</a:t>
                      </a:r>
                      <a:endParaRPr lang="en-US" sz="1050" dirty="0">
                        <a:latin typeface="Calibri" charset="0"/>
                        <a:ea typeface="Calibri" charset="0"/>
                        <a:cs typeface="Calibri" charset="0"/>
                      </a:endParaRPr>
                    </a:p>
                  </a:txBody>
                  <a:tcPr marL="91440" marR="91440" marT="45720" marB="45720"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c>
                  <a:txBody>
                    <a:bodyPr/>
                    <a:lstStyle/>
                    <a:p>
                      <a:pPr indent="0" marL="0">
                        <a:buNone/>
                      </a:pPr>
                      <a:r>
                        <a:rPr lang="en-US" sz="1050" dirty="0">
                          <a:solidFill>
                            <a:srgbClr val="22282E"/>
                          </a:solidFill>
                          <a:latin typeface="Calibri" pitchFamily="34" charset="0"/>
                          <a:ea typeface="Calibri" pitchFamily="34" charset="-122"/>
                          <a:cs typeface="Calibri" pitchFamily="34" charset="-120"/>
                        </a:rPr>
                        <a:t>16 h</a:t>
                      </a:r>
                      <a:endParaRPr lang="en-US" sz="1050" dirty="0">
                        <a:latin typeface="Calibri" charset="0"/>
                        <a:ea typeface="Calibri" charset="0"/>
                        <a:cs typeface="Calibri" charset="0"/>
                      </a:endParaRPr>
                    </a:p>
                  </a:txBody>
                  <a:tcPr marL="91440" marR="91440" marT="45720" marB="45720"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c>
                  <a:txBody>
                    <a:bodyPr/>
                    <a:lstStyle/>
                    <a:p>
                      <a:pPr indent="0" marL="0">
                        <a:buNone/>
                      </a:pPr>
                      <a:r>
                        <a:rPr lang="en-US" sz="1050" dirty="0">
                          <a:solidFill>
                            <a:srgbClr val="22282E"/>
                          </a:solidFill>
                          <a:latin typeface="Calibri" pitchFamily="34" charset="0"/>
                          <a:ea typeface="Calibri" pitchFamily="34" charset="-122"/>
                          <a:cs typeface="Calibri" pitchFamily="34" charset="-120"/>
                        </a:rPr>
                        <a:t>8 h</a:t>
                      </a:r>
                      <a:endParaRPr lang="en-US" sz="1050" dirty="0">
                        <a:latin typeface="Calibri" charset="0"/>
                        <a:ea typeface="Calibri" charset="0"/>
                        <a:cs typeface="Calibri" charset="0"/>
                      </a:endParaRPr>
                    </a:p>
                  </a:txBody>
                  <a:tcPr marL="91440" marR="91440" marT="45720" marB="45720"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c>
                  <a:txBody>
                    <a:bodyPr/>
                    <a:lstStyle/>
                    <a:p>
                      <a:pPr indent="0" marL="0">
                        <a:buNone/>
                      </a:pPr>
                      <a:r>
                        <a:rPr lang="en-US" sz="1050" dirty="0">
                          <a:solidFill>
                            <a:srgbClr val="22282E"/>
                          </a:solidFill>
                          <a:latin typeface="Calibri" pitchFamily="34" charset="0"/>
                          <a:ea typeface="Calibri" pitchFamily="34" charset="-122"/>
                          <a:cs typeface="Calibri" pitchFamily="34" charset="-120"/>
                        </a:rPr>
                        <a:t>Aim 1 headline figure</a:t>
                      </a:r>
                      <a:endParaRPr lang="en-US" sz="1050" dirty="0">
                        <a:latin typeface="Calibri" charset="0"/>
                        <a:ea typeface="Calibri" charset="0"/>
                        <a:cs typeface="Calibri" charset="0"/>
                      </a:endParaRPr>
                    </a:p>
                  </a:txBody>
                  <a:tcPr marL="91440" marR="91440" marT="45720" marB="45720"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r>
              <a:tr h="365760">
                <a:tc>
                  <a:txBody>
                    <a:bodyPr/>
                    <a:lstStyle/>
                    <a:p>
                      <a:pPr indent="0" marL="0">
                        <a:buNone/>
                      </a:pPr>
                      <a:r>
                        <a:rPr lang="en-US" sz="1050" dirty="0">
                          <a:solidFill>
                            <a:srgbClr val="22282E"/>
                          </a:solidFill>
                          <a:latin typeface="Calibri" pitchFamily="34" charset="0"/>
                          <a:ea typeface="Calibri" pitchFamily="34" charset="-122"/>
                          <a:cs typeface="Calibri" pitchFamily="34" charset="-120"/>
                        </a:rPr>
                        <a:t>8</a:t>
                      </a:r>
                      <a:endParaRPr lang="en-US" sz="1050" dirty="0">
                        <a:latin typeface="Calibri" charset="0"/>
                        <a:ea typeface="Calibri" charset="0"/>
                        <a:cs typeface="Calibri" charset="0"/>
                      </a:endParaRPr>
                    </a:p>
                  </a:txBody>
                  <a:tcPr marL="91440" marR="91440" marT="45720" marB="45720"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c>
                  <a:txBody>
                    <a:bodyPr/>
                    <a:lstStyle/>
                    <a:p>
                      <a:pPr indent="0" marL="0">
                        <a:buNone/>
                      </a:pPr>
                      <a:r>
                        <a:rPr lang="en-US" sz="1050" dirty="0">
                          <a:solidFill>
                            <a:srgbClr val="22282E"/>
                          </a:solidFill>
                          <a:latin typeface="Calibri" pitchFamily="34" charset="0"/>
                          <a:ea typeface="Calibri" pitchFamily="34" charset="-122"/>
                          <a:cs typeface="Calibri" pitchFamily="34" charset="-120"/>
                        </a:rPr>
                        <a:t>Graph sensitivity and interval coverage</a:t>
                      </a:r>
                      <a:endParaRPr lang="en-US" sz="1050" dirty="0">
                        <a:latin typeface="Calibri" charset="0"/>
                        <a:ea typeface="Calibri" charset="0"/>
                        <a:cs typeface="Calibri" charset="0"/>
                      </a:endParaRPr>
                    </a:p>
                  </a:txBody>
                  <a:tcPr marL="91440" marR="91440" marT="45720" marB="45720"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c>
                  <a:txBody>
                    <a:bodyPr/>
                    <a:lstStyle/>
                    <a:p>
                      <a:pPr indent="0" marL="0">
                        <a:buNone/>
                      </a:pPr>
                      <a:r>
                        <a:rPr lang="en-US" sz="1050" dirty="0">
                          <a:solidFill>
                            <a:srgbClr val="22282E"/>
                          </a:solidFill>
                          <a:latin typeface="Calibri" pitchFamily="34" charset="0"/>
                          <a:ea typeface="Calibri" pitchFamily="34" charset="-122"/>
                          <a:cs typeface="Calibri" pitchFamily="34" charset="-120"/>
                        </a:rPr>
                        <a:t>11 h</a:t>
                      </a:r>
                      <a:endParaRPr lang="en-US" sz="1050" dirty="0">
                        <a:latin typeface="Calibri" charset="0"/>
                        <a:ea typeface="Calibri" charset="0"/>
                        <a:cs typeface="Calibri" charset="0"/>
                      </a:endParaRPr>
                    </a:p>
                  </a:txBody>
                  <a:tcPr marL="91440" marR="91440" marT="45720" marB="45720"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c>
                  <a:txBody>
                    <a:bodyPr/>
                    <a:lstStyle/>
                    <a:p>
                      <a:pPr indent="0" marL="0">
                        <a:buNone/>
                      </a:pPr>
                      <a:r>
                        <a:rPr lang="en-US" sz="1050" dirty="0">
                          <a:solidFill>
                            <a:srgbClr val="22282E"/>
                          </a:solidFill>
                          <a:latin typeface="Calibri" pitchFamily="34" charset="0"/>
                          <a:ea typeface="Calibri" pitchFamily="34" charset="-122"/>
                          <a:cs typeface="Calibri" pitchFamily="34" charset="-120"/>
                        </a:rPr>
                        <a:t>5 h</a:t>
                      </a:r>
                      <a:endParaRPr lang="en-US" sz="1050" dirty="0">
                        <a:latin typeface="Calibri" charset="0"/>
                        <a:ea typeface="Calibri" charset="0"/>
                        <a:cs typeface="Calibri" charset="0"/>
                      </a:endParaRPr>
                    </a:p>
                  </a:txBody>
                  <a:tcPr marL="91440" marR="91440" marT="45720" marB="45720"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c>
                  <a:txBody>
                    <a:bodyPr/>
                    <a:lstStyle/>
                    <a:p>
                      <a:pPr indent="0" marL="0">
                        <a:buNone/>
                      </a:pPr>
                      <a:r>
                        <a:rPr lang="en-US" sz="1050" dirty="0">
                          <a:solidFill>
                            <a:srgbClr val="22282E"/>
                          </a:solidFill>
                          <a:latin typeface="Calibri" pitchFamily="34" charset="0"/>
                          <a:ea typeface="Calibri" pitchFamily="34" charset="-122"/>
                          <a:cs typeface="Calibri" pitchFamily="34" charset="-120"/>
                        </a:rPr>
                        <a:t>refutation suite</a:t>
                      </a:r>
                      <a:endParaRPr lang="en-US" sz="1050" dirty="0">
                        <a:latin typeface="Calibri" charset="0"/>
                        <a:ea typeface="Calibri" charset="0"/>
                        <a:cs typeface="Calibri" charset="0"/>
                      </a:endParaRPr>
                    </a:p>
                  </a:txBody>
                  <a:tcPr marL="91440" marR="91440" marT="45720" marB="45720"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r>
              <a:tr h="365760">
                <a:tc>
                  <a:txBody>
                    <a:bodyPr/>
                    <a:lstStyle/>
                    <a:p>
                      <a:pPr indent="0" marL="0">
                        <a:buNone/>
                      </a:pPr>
                      <a:endParaRPr lang="en-US" sz="1050" dirty="0">
                        <a:latin typeface="Calibri" charset="0"/>
                        <a:ea typeface="Calibri" charset="0"/>
                        <a:cs typeface="Calibri" charset="0"/>
                      </a:endParaRPr>
                    </a:p>
                  </a:txBody>
                  <a:tcPr marL="91440" marR="91440" marT="45720" marB="45720"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solidFill>
                      <a:srgbClr val="F5F7F9"/>
                    </a:solidFill>
                  </a:tcPr>
                </a:tc>
                <a:tc>
                  <a:txBody>
                    <a:bodyPr/>
                    <a:lstStyle/>
                    <a:p>
                      <a:pPr indent="0" marL="0">
                        <a:buNone/>
                      </a:pPr>
                      <a:r>
                        <a:rPr lang="en-US" sz="1050" b="1" dirty="0">
                          <a:solidFill>
                            <a:srgbClr val="22282E"/>
                          </a:solidFill>
                          <a:latin typeface="Calibri" pitchFamily="34" charset="0"/>
                          <a:ea typeface="Calibri" pitchFamily="34" charset="-122"/>
                          <a:cs typeface="Calibri" pitchFamily="34" charset="-120"/>
                        </a:rPr>
                        <a:t>TOTAL</a:t>
                      </a:r>
                      <a:endParaRPr lang="en-US" sz="1050" dirty="0">
                        <a:latin typeface="Calibri" charset="0"/>
                        <a:ea typeface="Calibri" charset="0"/>
                        <a:cs typeface="Calibri" charset="0"/>
                      </a:endParaRPr>
                    </a:p>
                  </a:txBody>
                  <a:tcPr marL="91440" marR="91440" marT="45720" marB="45720"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solidFill>
                      <a:srgbClr val="F5F7F9"/>
                    </a:solidFill>
                  </a:tcPr>
                </a:tc>
                <a:tc>
                  <a:txBody>
                    <a:bodyPr/>
                    <a:lstStyle/>
                    <a:p>
                      <a:pPr indent="0" marL="0">
                        <a:buNone/>
                      </a:pPr>
                      <a:r>
                        <a:rPr lang="en-US" sz="1050" b="1" dirty="0">
                          <a:solidFill>
                            <a:srgbClr val="1C3F5F"/>
                          </a:solidFill>
                          <a:latin typeface="Calibri" pitchFamily="34" charset="0"/>
                          <a:ea typeface="Calibri" pitchFamily="34" charset="-122"/>
                          <a:cs typeface="Calibri" pitchFamily="34" charset="-120"/>
                        </a:rPr>
                        <a:t>~102 h</a:t>
                      </a:r>
                      <a:endParaRPr lang="en-US" sz="1050" dirty="0">
                        <a:latin typeface="Calibri" charset="0"/>
                        <a:ea typeface="Calibri" charset="0"/>
                        <a:cs typeface="Calibri" charset="0"/>
                      </a:endParaRPr>
                    </a:p>
                  </a:txBody>
                  <a:tcPr marL="91440" marR="91440" marT="45720" marB="45720"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solidFill>
                      <a:srgbClr val="F5F7F9"/>
                    </a:solidFill>
                  </a:tcPr>
                </a:tc>
                <a:tc>
                  <a:txBody>
                    <a:bodyPr/>
                    <a:lstStyle/>
                    <a:p>
                      <a:pPr indent="0" marL="0">
                        <a:buNone/>
                      </a:pPr>
                      <a:r>
                        <a:rPr lang="en-US" sz="1050" b="1" dirty="0">
                          <a:solidFill>
                            <a:srgbClr val="1C3F5F"/>
                          </a:solidFill>
                          <a:latin typeface="Calibri" pitchFamily="34" charset="0"/>
                          <a:ea typeface="Calibri" pitchFamily="34" charset="-122"/>
                          <a:cs typeface="Calibri" pitchFamily="34" charset="-120"/>
                        </a:rPr>
                        <a:t>~32 h</a:t>
                      </a:r>
                      <a:endParaRPr lang="en-US" sz="1050" dirty="0">
                        <a:latin typeface="Calibri" charset="0"/>
                        <a:ea typeface="Calibri" charset="0"/>
                        <a:cs typeface="Calibri" charset="0"/>
                      </a:endParaRPr>
                    </a:p>
                  </a:txBody>
                  <a:tcPr marL="91440" marR="91440" marT="45720" marB="45720"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solidFill>
                      <a:srgbClr val="F5F7F9"/>
                    </a:solidFill>
                  </a:tcPr>
                </a:tc>
                <a:tc>
                  <a:txBody>
                    <a:bodyPr/>
                    <a:lstStyle/>
                    <a:p>
                      <a:pPr indent="0" marL="0">
                        <a:buNone/>
                      </a:pPr>
                      <a:endParaRPr lang="en-US" sz="1050" dirty="0">
                        <a:latin typeface="Calibri" charset="0"/>
                        <a:ea typeface="Calibri" charset="0"/>
                        <a:cs typeface="Calibri" charset="0"/>
                      </a:endParaRPr>
                    </a:p>
                  </a:txBody>
                  <a:tcPr marL="91440" marR="91440" marT="45720" marB="45720"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solidFill>
                      <a:srgbClr val="F5F7F9"/>
                    </a:solidFill>
                  </a:tcPr>
                </a:tc>
              </a:tr>
            </a:tbl>
          </a:graphicData>
        </a:graphic>
      </p:graphicFrame>
      <p:sp>
        <p:nvSpPr>
          <p:cNvPr id="5" name="Shape 2"/>
          <p:cNvSpPr/>
          <p:nvPr/>
        </p:nvSpPr>
        <p:spPr>
          <a:xfrm>
            <a:off x="548640" y="5376672"/>
            <a:ext cx="5394960" cy="786384"/>
          </a:xfrm>
          <a:prstGeom prst="roundRect">
            <a:avLst>
              <a:gd name="adj" fmla="val 6977"/>
            </a:avLst>
          </a:prstGeom>
          <a:solidFill>
            <a:srgbClr val="F0F5F3"/>
          </a:solidFill>
          <a:ln w="12700">
            <a:solidFill>
              <a:srgbClr val="2A7F7F"/>
            </a:solidFill>
            <a:prstDash val="solid"/>
          </a:ln>
        </p:spPr>
      </p:sp>
      <p:sp>
        <p:nvSpPr>
          <p:cNvPr id="6" name="Text 3"/>
          <p:cNvSpPr/>
          <p:nvPr/>
        </p:nvSpPr>
        <p:spPr>
          <a:xfrm>
            <a:off x="822960" y="5431536"/>
            <a:ext cx="4846320" cy="676656"/>
          </a:xfrm>
          <a:prstGeom prst="rect">
            <a:avLst/>
          </a:prstGeom>
          <a:noFill/>
          <a:ln/>
        </p:spPr>
        <p:txBody>
          <a:bodyPr wrap="square" lIns="0" tIns="0" rIns="0" bIns="0" rtlCol="0" anchor="ctr"/>
          <a:lstStyle/>
          <a:p>
            <a:pPr indent="0" marL="0">
              <a:lnSpc>
                <a:spcPts val="1400"/>
              </a:lnSpc>
              <a:buNone/>
            </a:pPr>
            <a:r>
              <a:rPr lang="en-US" sz="1100" dirty="0">
                <a:solidFill>
                  <a:srgbClr val="22282E"/>
                </a:solidFill>
                <a:latin typeface="Calibri" pitchFamily="34" charset="0"/>
                <a:ea typeface="Calibri" pitchFamily="34" charset="-122"/>
                <a:cs typeface="Calibri" pitchFamily="34" charset="-120"/>
              </a:rPr>
              <a:t>Minimum decisive path: items 0 + 1 + 2 ≈ 28 h. That alone determines whether this is a counterfactual paper or a framework-and-boundary paper.</a:t>
            </a:r>
            <a:endParaRPr lang="en-US" sz="1100" dirty="0"/>
          </a:p>
        </p:txBody>
      </p:sp>
      <p:sp>
        <p:nvSpPr>
          <p:cNvPr id="7" name="Shape 4"/>
          <p:cNvSpPr/>
          <p:nvPr/>
        </p:nvSpPr>
        <p:spPr>
          <a:xfrm>
            <a:off x="6172200" y="5376672"/>
            <a:ext cx="5440680" cy="786384"/>
          </a:xfrm>
          <a:prstGeom prst="roundRect">
            <a:avLst>
              <a:gd name="adj" fmla="val 6977"/>
            </a:avLst>
          </a:prstGeom>
          <a:solidFill>
            <a:srgbClr val="FDF6F2"/>
          </a:solidFill>
          <a:ln w="12700">
            <a:solidFill>
              <a:srgbClr val="C25A2E"/>
            </a:solidFill>
            <a:prstDash val="solid"/>
          </a:ln>
        </p:spPr>
      </p:sp>
      <p:sp>
        <p:nvSpPr>
          <p:cNvPr id="8" name="Text 5"/>
          <p:cNvSpPr/>
          <p:nvPr/>
        </p:nvSpPr>
        <p:spPr>
          <a:xfrm>
            <a:off x="6446520" y="5431536"/>
            <a:ext cx="4937760" cy="676656"/>
          </a:xfrm>
          <a:prstGeom prst="rect">
            <a:avLst/>
          </a:prstGeom>
          <a:noFill/>
          <a:ln/>
        </p:spPr>
        <p:txBody>
          <a:bodyPr wrap="square" lIns="0" tIns="0" rIns="0" bIns="0" rtlCol="0" anchor="ctr"/>
          <a:lstStyle/>
          <a:p>
            <a:pPr indent="0" marL="0">
              <a:lnSpc>
                <a:spcPts val="1400"/>
              </a:lnSpc>
              <a:buNone/>
            </a:pPr>
            <a:r>
              <a:rPr lang="en-US" sz="1100" dirty="0">
                <a:solidFill>
                  <a:srgbClr val="22282E"/>
                </a:solidFill>
                <a:latin typeface="Calibri" pitchFamily="34" charset="0"/>
                <a:ea typeface="Calibri" pitchFamily="34" charset="-122"/>
                <a:cs typeface="Calibri" pitchFamily="34" charset="-120"/>
              </a:rPr>
              <a:t>At the 8 h/week currently budgeted, 102 h is three months. Compute runs unattended — the binding constraint is build time.</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11064240" cy="256032"/>
          </a:xfrm>
          <a:prstGeom prst="rect">
            <a:avLst/>
          </a:prstGeom>
          <a:noFill/>
          <a:ln/>
        </p:spPr>
        <p:txBody>
          <a:bodyPr wrap="square" lIns="0" tIns="0" rIns="0" bIns="0" rtlCol="0" anchor="ctr"/>
          <a:lstStyle/>
          <a:p>
            <a:pPr indent="0" marL="0">
              <a:buNone/>
            </a:pPr>
            <a:r>
              <a:rPr lang="en-US" sz="1100" b="1" spc="200" kern="0" dirty="0">
                <a:solidFill>
                  <a:srgbClr val="C25A2E"/>
                </a:solidFill>
                <a:latin typeface="Calibri" pitchFamily="34" charset="0"/>
                <a:ea typeface="Calibri" pitchFamily="34" charset="-122"/>
                <a:cs typeface="Calibri" pitchFamily="34" charset="-120"/>
              </a:rPr>
              <a:t>CLOSING  ·  FOR DR. BUKHARI</a:t>
            </a:r>
            <a:endParaRPr lang="en-US" sz="1100" dirty="0"/>
          </a:p>
        </p:txBody>
      </p:sp>
      <p:sp>
        <p:nvSpPr>
          <p:cNvPr id="3" name="Text 1"/>
          <p:cNvSpPr/>
          <p:nvPr/>
        </p:nvSpPr>
        <p:spPr>
          <a:xfrm>
            <a:off x="548640" y="585216"/>
            <a:ext cx="11064240" cy="566928"/>
          </a:xfrm>
          <a:prstGeom prst="rect">
            <a:avLst/>
          </a:prstGeom>
          <a:noFill/>
          <a:ln/>
        </p:spPr>
        <p:txBody>
          <a:bodyPr wrap="square" lIns="0" tIns="0" rIns="0" bIns="0" rtlCol="0" anchor="ctr"/>
          <a:lstStyle/>
          <a:p>
            <a:pPr indent="0" marL="0">
              <a:buNone/>
            </a:pPr>
            <a:r>
              <a:rPr lang="en-US" sz="2900" b="1" dirty="0">
                <a:solidFill>
                  <a:srgbClr val="1C3F5F"/>
                </a:solidFill>
                <a:latin typeface="Cambria" pitchFamily="34" charset="0"/>
                <a:ea typeface="Cambria" pitchFamily="34" charset="-122"/>
                <a:cs typeface="Cambria" pitchFamily="34" charset="-120"/>
              </a:rPr>
              <a:t>Decisions I need from you today</a:t>
            </a:r>
            <a:endParaRPr lang="en-US" sz="2900" dirty="0"/>
          </a:p>
        </p:txBody>
      </p:sp>
      <p:sp>
        <p:nvSpPr>
          <p:cNvPr id="4" name="Shape 2"/>
          <p:cNvSpPr/>
          <p:nvPr/>
        </p:nvSpPr>
        <p:spPr>
          <a:xfrm>
            <a:off x="548640" y="1234440"/>
            <a:ext cx="11064240" cy="713232"/>
          </a:xfrm>
          <a:prstGeom prst="roundRect">
            <a:avLst>
              <a:gd name="adj" fmla="val 7692"/>
            </a:avLst>
          </a:prstGeom>
          <a:solidFill>
            <a:srgbClr val="F5F7F9"/>
          </a:solidFill>
          <a:ln w="9525">
            <a:solidFill>
              <a:srgbClr val="D8DEE4"/>
            </a:solidFill>
            <a:prstDash val="solid"/>
          </a:ln>
        </p:spPr>
      </p:sp>
      <p:sp>
        <p:nvSpPr>
          <p:cNvPr id="5" name="Text 3"/>
          <p:cNvSpPr/>
          <p:nvPr/>
        </p:nvSpPr>
        <p:spPr>
          <a:xfrm>
            <a:off x="868680" y="1289304"/>
            <a:ext cx="1737360" cy="603504"/>
          </a:xfrm>
          <a:prstGeom prst="rect">
            <a:avLst/>
          </a:prstGeom>
          <a:noFill/>
          <a:ln/>
        </p:spPr>
        <p:txBody>
          <a:bodyPr wrap="square" lIns="0" tIns="0" rIns="0" bIns="0" rtlCol="0" anchor="ctr"/>
          <a:lstStyle/>
          <a:p>
            <a:pPr indent="0" marL="0">
              <a:buNone/>
            </a:pPr>
            <a:r>
              <a:rPr lang="en-US" sz="1300" b="1" dirty="0">
                <a:solidFill>
                  <a:srgbClr val="1C3F5F"/>
                </a:solidFill>
                <a:latin typeface="Calibri" pitchFamily="34" charset="0"/>
                <a:ea typeface="Calibri" pitchFamily="34" charset="-122"/>
                <a:cs typeface="Calibri" pitchFamily="34" charset="-120"/>
              </a:rPr>
              <a:t>Scope</a:t>
            </a:r>
            <a:endParaRPr lang="en-US" sz="1300" dirty="0"/>
          </a:p>
        </p:txBody>
      </p:sp>
      <p:sp>
        <p:nvSpPr>
          <p:cNvPr id="6" name="Text 4"/>
          <p:cNvSpPr/>
          <p:nvPr/>
        </p:nvSpPr>
        <p:spPr>
          <a:xfrm>
            <a:off x="2743200" y="1289304"/>
            <a:ext cx="8595360" cy="603504"/>
          </a:xfrm>
          <a:prstGeom prst="rect">
            <a:avLst/>
          </a:prstGeom>
          <a:noFill/>
          <a:ln/>
        </p:spPr>
        <p:txBody>
          <a:bodyPr wrap="square" lIns="0" tIns="0" rIns="0" bIns="0" rtlCol="0" anchor="ctr"/>
          <a:lstStyle/>
          <a:p>
            <a:pPr indent="0" marL="0">
              <a:lnSpc>
                <a:spcPts val="1500"/>
              </a:lnSpc>
              <a:buNone/>
            </a:pPr>
            <a:r>
              <a:rPr lang="en-US" sz="1200" dirty="0">
                <a:solidFill>
                  <a:srgbClr val="22282E"/>
                </a:solidFill>
                <a:latin typeface="Calibri" pitchFamily="34" charset="0"/>
                <a:ea typeface="Calibri" pitchFamily="34" charset="-122"/>
                <a:cs typeface="Calibri" pitchFamily="34" charset="-120"/>
              </a:rPr>
              <a:t>Minimum decisive path (28 h) first, reassess at the Aug 17 gate — or commit to the full 102 h now?</a:t>
            </a:r>
            <a:endParaRPr lang="en-US" sz="1200" dirty="0"/>
          </a:p>
        </p:txBody>
      </p:sp>
      <p:sp>
        <p:nvSpPr>
          <p:cNvPr id="7" name="Shape 5"/>
          <p:cNvSpPr/>
          <p:nvPr/>
        </p:nvSpPr>
        <p:spPr>
          <a:xfrm>
            <a:off x="548640" y="2048256"/>
            <a:ext cx="11064240" cy="713232"/>
          </a:xfrm>
          <a:prstGeom prst="roundRect">
            <a:avLst>
              <a:gd name="adj" fmla="val 7692"/>
            </a:avLst>
          </a:prstGeom>
          <a:solidFill>
            <a:srgbClr val="F5F7F9"/>
          </a:solidFill>
          <a:ln w="9525">
            <a:solidFill>
              <a:srgbClr val="D8DEE4"/>
            </a:solidFill>
            <a:prstDash val="solid"/>
          </a:ln>
        </p:spPr>
      </p:sp>
      <p:sp>
        <p:nvSpPr>
          <p:cNvPr id="8" name="Text 6"/>
          <p:cNvSpPr/>
          <p:nvPr/>
        </p:nvSpPr>
        <p:spPr>
          <a:xfrm>
            <a:off x="868680" y="2103120"/>
            <a:ext cx="1737360" cy="603504"/>
          </a:xfrm>
          <a:prstGeom prst="rect">
            <a:avLst/>
          </a:prstGeom>
          <a:noFill/>
          <a:ln/>
        </p:spPr>
        <p:txBody>
          <a:bodyPr wrap="square" lIns="0" tIns="0" rIns="0" bIns="0" rtlCol="0" anchor="ctr"/>
          <a:lstStyle/>
          <a:p>
            <a:pPr indent="0" marL="0">
              <a:buNone/>
            </a:pPr>
            <a:r>
              <a:rPr lang="en-US" sz="1300" b="1" dirty="0">
                <a:solidFill>
                  <a:srgbClr val="1C3F5F"/>
                </a:solidFill>
                <a:latin typeface="Calibri" pitchFamily="34" charset="0"/>
                <a:ea typeface="Calibri" pitchFamily="34" charset="-122"/>
                <a:cs typeface="Calibri" pitchFamily="34" charset="-120"/>
              </a:rPr>
              <a:t>Hours</a:t>
            </a:r>
            <a:endParaRPr lang="en-US" sz="1300" dirty="0"/>
          </a:p>
        </p:txBody>
      </p:sp>
      <p:sp>
        <p:nvSpPr>
          <p:cNvPr id="9" name="Text 7"/>
          <p:cNvSpPr/>
          <p:nvPr/>
        </p:nvSpPr>
        <p:spPr>
          <a:xfrm>
            <a:off x="2743200" y="2103120"/>
            <a:ext cx="8595360" cy="603504"/>
          </a:xfrm>
          <a:prstGeom prst="rect">
            <a:avLst/>
          </a:prstGeom>
          <a:noFill/>
          <a:ln/>
        </p:spPr>
        <p:txBody>
          <a:bodyPr wrap="square" lIns="0" tIns="0" rIns="0" bIns="0" rtlCol="0" anchor="ctr"/>
          <a:lstStyle/>
          <a:p>
            <a:pPr indent="0" marL="0">
              <a:lnSpc>
                <a:spcPts val="1500"/>
              </a:lnSpc>
              <a:buNone/>
            </a:pPr>
            <a:r>
              <a:rPr lang="en-US" sz="1200" dirty="0">
                <a:solidFill>
                  <a:srgbClr val="22282E"/>
                </a:solidFill>
                <a:latin typeface="Calibri" pitchFamily="34" charset="0"/>
                <a:ea typeface="Calibri" pitchFamily="34" charset="-122"/>
                <a:cs typeface="Calibri" pitchFamily="34" charset="-120"/>
              </a:rPr>
              <a:t>Currently budgeted at 8 h/week. The build needs roughly 20. Can that change?</a:t>
            </a:r>
            <a:endParaRPr lang="en-US" sz="1200" dirty="0"/>
          </a:p>
        </p:txBody>
      </p:sp>
      <p:sp>
        <p:nvSpPr>
          <p:cNvPr id="10" name="Shape 8"/>
          <p:cNvSpPr/>
          <p:nvPr/>
        </p:nvSpPr>
        <p:spPr>
          <a:xfrm>
            <a:off x="548640" y="2862072"/>
            <a:ext cx="11064240" cy="713232"/>
          </a:xfrm>
          <a:prstGeom prst="roundRect">
            <a:avLst>
              <a:gd name="adj" fmla="val 7692"/>
            </a:avLst>
          </a:prstGeom>
          <a:solidFill>
            <a:srgbClr val="F5F7F9"/>
          </a:solidFill>
          <a:ln w="9525">
            <a:solidFill>
              <a:srgbClr val="D8DEE4"/>
            </a:solidFill>
            <a:prstDash val="solid"/>
          </a:ln>
        </p:spPr>
      </p:sp>
      <p:sp>
        <p:nvSpPr>
          <p:cNvPr id="11" name="Text 9"/>
          <p:cNvSpPr/>
          <p:nvPr/>
        </p:nvSpPr>
        <p:spPr>
          <a:xfrm>
            <a:off x="868680" y="2916936"/>
            <a:ext cx="1737360" cy="603504"/>
          </a:xfrm>
          <a:prstGeom prst="rect">
            <a:avLst/>
          </a:prstGeom>
          <a:noFill/>
          <a:ln/>
        </p:spPr>
        <p:txBody>
          <a:bodyPr wrap="square" lIns="0" tIns="0" rIns="0" bIns="0" rtlCol="0" anchor="ctr"/>
          <a:lstStyle/>
          <a:p>
            <a:pPr indent="0" marL="0">
              <a:buNone/>
            </a:pPr>
            <a:r>
              <a:rPr lang="en-US" sz="1300" b="1" dirty="0">
                <a:solidFill>
                  <a:srgbClr val="1C3F5F"/>
                </a:solidFill>
                <a:latin typeface="Calibri" pitchFamily="34" charset="0"/>
                <a:ea typeface="Calibri" pitchFamily="34" charset="-122"/>
                <a:cs typeface="Calibri" pitchFamily="34" charset="-120"/>
              </a:rPr>
              <a:t>Compute</a:t>
            </a:r>
            <a:endParaRPr lang="en-US" sz="1300" dirty="0"/>
          </a:p>
        </p:txBody>
      </p:sp>
      <p:sp>
        <p:nvSpPr>
          <p:cNvPr id="12" name="Text 10"/>
          <p:cNvSpPr/>
          <p:nvPr/>
        </p:nvSpPr>
        <p:spPr>
          <a:xfrm>
            <a:off x="2743200" y="2916936"/>
            <a:ext cx="8595360" cy="603504"/>
          </a:xfrm>
          <a:prstGeom prst="rect">
            <a:avLst/>
          </a:prstGeom>
          <a:noFill/>
          <a:ln/>
        </p:spPr>
        <p:txBody>
          <a:bodyPr wrap="square" lIns="0" tIns="0" rIns="0" bIns="0" rtlCol="0" anchor="ctr"/>
          <a:lstStyle/>
          <a:p>
            <a:pPr indent="0" marL="0">
              <a:lnSpc>
                <a:spcPts val="1500"/>
              </a:lnSpc>
              <a:buNone/>
            </a:pPr>
            <a:r>
              <a:rPr lang="en-US" sz="1200" dirty="0">
                <a:solidFill>
                  <a:srgbClr val="22282E"/>
                </a:solidFill>
                <a:latin typeface="Calibri" pitchFamily="34" charset="0"/>
                <a:ea typeface="Calibri" pitchFamily="34" charset="-122"/>
                <a:cs typeface="Calibri" pitchFamily="34" charset="-120"/>
              </a:rPr>
              <a:t>Does the M0–M7 run need an allocation? Long lead time if so.</a:t>
            </a:r>
            <a:endParaRPr lang="en-US" sz="1200" dirty="0"/>
          </a:p>
        </p:txBody>
      </p:sp>
      <p:sp>
        <p:nvSpPr>
          <p:cNvPr id="13" name="Shape 11"/>
          <p:cNvSpPr/>
          <p:nvPr/>
        </p:nvSpPr>
        <p:spPr>
          <a:xfrm>
            <a:off x="548640" y="3675888"/>
            <a:ext cx="11064240" cy="713232"/>
          </a:xfrm>
          <a:prstGeom prst="roundRect">
            <a:avLst>
              <a:gd name="adj" fmla="val 7692"/>
            </a:avLst>
          </a:prstGeom>
          <a:solidFill>
            <a:srgbClr val="F5F7F9"/>
          </a:solidFill>
          <a:ln w="9525">
            <a:solidFill>
              <a:srgbClr val="D8DEE4"/>
            </a:solidFill>
            <a:prstDash val="solid"/>
          </a:ln>
        </p:spPr>
      </p:sp>
      <p:sp>
        <p:nvSpPr>
          <p:cNvPr id="14" name="Text 12"/>
          <p:cNvSpPr/>
          <p:nvPr/>
        </p:nvSpPr>
        <p:spPr>
          <a:xfrm>
            <a:off x="868680" y="3730752"/>
            <a:ext cx="1737360" cy="603504"/>
          </a:xfrm>
          <a:prstGeom prst="rect">
            <a:avLst/>
          </a:prstGeom>
          <a:noFill/>
          <a:ln/>
        </p:spPr>
        <p:txBody>
          <a:bodyPr wrap="square" lIns="0" tIns="0" rIns="0" bIns="0" rtlCol="0" anchor="ctr"/>
          <a:lstStyle/>
          <a:p>
            <a:pPr indent="0" marL="0">
              <a:buNone/>
            </a:pPr>
            <a:r>
              <a:rPr lang="en-US" sz="1300" b="1" dirty="0">
                <a:solidFill>
                  <a:srgbClr val="1C3F5F"/>
                </a:solidFill>
                <a:latin typeface="Calibri" pitchFamily="34" charset="0"/>
                <a:ea typeface="Calibri" pitchFamily="34" charset="-122"/>
                <a:cs typeface="Calibri" pitchFamily="34" charset="-120"/>
              </a:rPr>
              <a:t>Fallback</a:t>
            </a:r>
            <a:endParaRPr lang="en-US" sz="1300" dirty="0"/>
          </a:p>
        </p:txBody>
      </p:sp>
      <p:sp>
        <p:nvSpPr>
          <p:cNvPr id="15" name="Text 13"/>
          <p:cNvSpPr/>
          <p:nvPr/>
        </p:nvSpPr>
        <p:spPr>
          <a:xfrm>
            <a:off x="2743200" y="3730752"/>
            <a:ext cx="8595360" cy="603504"/>
          </a:xfrm>
          <a:prstGeom prst="rect">
            <a:avLst/>
          </a:prstGeom>
          <a:noFill/>
          <a:ln/>
        </p:spPr>
        <p:txBody>
          <a:bodyPr wrap="square" lIns="0" tIns="0" rIns="0" bIns="0" rtlCol="0" anchor="ctr"/>
          <a:lstStyle/>
          <a:p>
            <a:pPr indent="0" marL="0">
              <a:lnSpc>
                <a:spcPts val="1500"/>
              </a:lnSpc>
              <a:buNone/>
            </a:pPr>
            <a:r>
              <a:rPr lang="en-US" sz="1200" dirty="0">
                <a:solidFill>
                  <a:srgbClr val="22282E"/>
                </a:solidFill>
                <a:latin typeface="Calibri" pitchFamily="34" charset="0"/>
                <a:ea typeface="Calibri" pitchFamily="34" charset="-122"/>
                <a:cs typeface="Calibri" pitchFamily="34" charset="-120"/>
              </a:rPr>
              <a:t>If E1a shows no divergence anywhere, do we drop the counterfactual from the title and pivot to a framework + boundary paper? I would like this answer before the experiment, not after.</a:t>
            </a:r>
            <a:endParaRPr lang="en-US" sz="1200" dirty="0"/>
          </a:p>
        </p:txBody>
      </p:sp>
      <p:sp>
        <p:nvSpPr>
          <p:cNvPr id="16" name="Shape 14"/>
          <p:cNvSpPr/>
          <p:nvPr/>
        </p:nvSpPr>
        <p:spPr>
          <a:xfrm>
            <a:off x="548640" y="4489704"/>
            <a:ext cx="11064240" cy="713232"/>
          </a:xfrm>
          <a:prstGeom prst="roundRect">
            <a:avLst>
              <a:gd name="adj" fmla="val 7692"/>
            </a:avLst>
          </a:prstGeom>
          <a:solidFill>
            <a:srgbClr val="F5F7F9"/>
          </a:solidFill>
          <a:ln w="9525">
            <a:solidFill>
              <a:srgbClr val="D8DEE4"/>
            </a:solidFill>
            <a:prstDash val="solid"/>
          </a:ln>
        </p:spPr>
      </p:sp>
      <p:sp>
        <p:nvSpPr>
          <p:cNvPr id="17" name="Text 15"/>
          <p:cNvSpPr/>
          <p:nvPr/>
        </p:nvSpPr>
        <p:spPr>
          <a:xfrm>
            <a:off x="868680" y="4544568"/>
            <a:ext cx="1737360" cy="603504"/>
          </a:xfrm>
          <a:prstGeom prst="rect">
            <a:avLst/>
          </a:prstGeom>
          <a:noFill/>
          <a:ln/>
        </p:spPr>
        <p:txBody>
          <a:bodyPr wrap="square" lIns="0" tIns="0" rIns="0" bIns="0" rtlCol="0" anchor="ctr"/>
          <a:lstStyle/>
          <a:p>
            <a:pPr indent="0" marL="0">
              <a:buNone/>
            </a:pPr>
            <a:r>
              <a:rPr lang="en-US" sz="1300" b="1" dirty="0">
                <a:solidFill>
                  <a:srgbClr val="1C3F5F"/>
                </a:solidFill>
                <a:latin typeface="Calibri" pitchFamily="34" charset="0"/>
                <a:ea typeface="Calibri" pitchFamily="34" charset="-122"/>
                <a:cs typeface="Calibri" pitchFamily="34" charset="-120"/>
              </a:rPr>
              <a:t>Aim 1 framing</a:t>
            </a:r>
            <a:endParaRPr lang="en-US" sz="1300" dirty="0"/>
          </a:p>
        </p:txBody>
      </p:sp>
      <p:sp>
        <p:nvSpPr>
          <p:cNvPr id="18" name="Text 16"/>
          <p:cNvSpPr/>
          <p:nvPr/>
        </p:nvSpPr>
        <p:spPr>
          <a:xfrm>
            <a:off x="2743200" y="4544568"/>
            <a:ext cx="8595360" cy="603504"/>
          </a:xfrm>
          <a:prstGeom prst="rect">
            <a:avLst/>
          </a:prstGeom>
          <a:noFill/>
          <a:ln/>
        </p:spPr>
        <p:txBody>
          <a:bodyPr wrap="square" lIns="0" tIns="0" rIns="0" bIns="0" rtlCol="0" anchor="ctr"/>
          <a:lstStyle/>
          <a:p>
            <a:pPr indent="0" marL="0">
              <a:lnSpc>
                <a:spcPts val="1500"/>
              </a:lnSpc>
              <a:buNone/>
            </a:pPr>
            <a:r>
              <a:rPr lang="en-US" sz="1200" dirty="0">
                <a:solidFill>
                  <a:srgbClr val="22282E"/>
                </a:solidFill>
                <a:latin typeface="Calibri" pitchFamily="34" charset="0"/>
                <a:ea typeface="Calibri" pitchFamily="34" charset="-122"/>
                <a:cs typeface="Calibri" pitchFamily="34" charset="-120"/>
              </a:rPr>
              <a:t>M1 says develop the methodology; Aim 1 as written evaluates components. Do you accept reframing Aim 1 around a named methodological object?</a:t>
            </a:r>
            <a:endParaRPr lang="en-US" sz="1200" dirty="0"/>
          </a:p>
        </p:txBody>
      </p:sp>
      <p:sp>
        <p:nvSpPr>
          <p:cNvPr id="19" name="Shape 17"/>
          <p:cNvSpPr/>
          <p:nvPr/>
        </p:nvSpPr>
        <p:spPr>
          <a:xfrm>
            <a:off x="548640" y="5303520"/>
            <a:ext cx="11064240" cy="713232"/>
          </a:xfrm>
          <a:prstGeom prst="roundRect">
            <a:avLst>
              <a:gd name="adj" fmla="val 7692"/>
            </a:avLst>
          </a:prstGeom>
          <a:solidFill>
            <a:srgbClr val="F5F7F9"/>
          </a:solidFill>
          <a:ln w="9525">
            <a:solidFill>
              <a:srgbClr val="D8DEE4"/>
            </a:solidFill>
            <a:prstDash val="solid"/>
          </a:ln>
        </p:spPr>
      </p:sp>
      <p:sp>
        <p:nvSpPr>
          <p:cNvPr id="20" name="Text 18"/>
          <p:cNvSpPr/>
          <p:nvPr/>
        </p:nvSpPr>
        <p:spPr>
          <a:xfrm>
            <a:off x="868680" y="5358384"/>
            <a:ext cx="1737360" cy="603504"/>
          </a:xfrm>
          <a:prstGeom prst="rect">
            <a:avLst/>
          </a:prstGeom>
          <a:noFill/>
          <a:ln/>
        </p:spPr>
        <p:txBody>
          <a:bodyPr wrap="square" lIns="0" tIns="0" rIns="0" bIns="0" rtlCol="0" anchor="ctr"/>
          <a:lstStyle/>
          <a:p>
            <a:pPr indent="0" marL="0">
              <a:buNone/>
            </a:pPr>
            <a:r>
              <a:rPr lang="en-US" sz="1300" b="1" dirty="0">
                <a:solidFill>
                  <a:srgbClr val="1C3F5F"/>
                </a:solidFill>
                <a:latin typeface="Calibri" pitchFamily="34" charset="0"/>
                <a:ea typeface="Calibri" pitchFamily="34" charset="-122"/>
                <a:cs typeface="Calibri" pitchFamily="34" charset="-120"/>
              </a:rPr>
              <a:t>Dates</a:t>
            </a:r>
            <a:endParaRPr lang="en-US" sz="1300" dirty="0"/>
          </a:p>
        </p:txBody>
      </p:sp>
      <p:sp>
        <p:nvSpPr>
          <p:cNvPr id="21" name="Text 19"/>
          <p:cNvSpPr/>
          <p:nvPr/>
        </p:nvSpPr>
        <p:spPr>
          <a:xfrm>
            <a:off x="2743200" y="5358384"/>
            <a:ext cx="8595360" cy="603504"/>
          </a:xfrm>
          <a:prstGeom prst="rect">
            <a:avLst/>
          </a:prstGeom>
          <a:noFill/>
          <a:ln/>
        </p:spPr>
        <p:txBody>
          <a:bodyPr wrap="square" lIns="0" tIns="0" rIns="0" bIns="0" rtlCol="0" anchor="ctr"/>
          <a:lstStyle/>
          <a:p>
            <a:pPr indent="0" marL="0">
              <a:lnSpc>
                <a:spcPts val="1500"/>
              </a:lnSpc>
              <a:buNone/>
            </a:pPr>
            <a:r>
              <a:rPr lang="en-US" sz="1200" dirty="0">
                <a:solidFill>
                  <a:srgbClr val="22282E"/>
                </a:solidFill>
                <a:latin typeface="Calibri" pitchFamily="34" charset="0"/>
                <a:ea typeface="Calibri" pitchFamily="34" charset="-122"/>
                <a:cs typeface="Calibri" pitchFamily="34" charset="-120"/>
              </a:rPr>
              <a:t>Is ML4H (Sep 9) still in play? And is the R01 receipt date Oct 5 or Oct 7?</a:t>
            </a:r>
            <a:endParaRPr lang="en-US" sz="1200" dirty="0"/>
          </a:p>
        </p:txBody>
      </p:sp>
      <p:sp>
        <p:nvSpPr>
          <p:cNvPr id="22" name="Text 20"/>
          <p:cNvSpPr/>
          <p:nvPr/>
        </p:nvSpPr>
        <p:spPr>
          <a:xfrm>
            <a:off x="548640" y="6144768"/>
            <a:ext cx="11064240" cy="365760"/>
          </a:xfrm>
          <a:prstGeom prst="rect">
            <a:avLst/>
          </a:prstGeom>
          <a:noFill/>
          <a:ln/>
        </p:spPr>
        <p:txBody>
          <a:bodyPr wrap="square" lIns="0" tIns="0" rIns="0" bIns="0" rtlCol="0" anchor="ctr"/>
          <a:lstStyle/>
          <a:p>
            <a:pPr indent="0" marL="0">
              <a:buNone/>
            </a:pPr>
            <a:r>
              <a:rPr lang="en-US" sz="1150" i="1" dirty="0">
                <a:solidFill>
                  <a:srgbClr val="6B7885"/>
                </a:solidFill>
                <a:latin typeface="Calibri" pitchFamily="34" charset="0"/>
                <a:ea typeface="Calibri" pitchFamily="34" charset="-122"/>
                <a:cs typeface="Calibri" pitchFamily="34" charset="-120"/>
              </a:rPr>
              <a:t>Also for confirmation: the IRB route — AI/tool-centric framing versus submitting the application.</a:t>
            </a:r>
            <a:endParaRPr lang="en-US" sz="11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11064240" cy="256032"/>
          </a:xfrm>
          <a:prstGeom prst="rect">
            <a:avLst/>
          </a:prstGeom>
          <a:noFill/>
          <a:ln/>
        </p:spPr>
        <p:txBody>
          <a:bodyPr wrap="square" lIns="0" tIns="0" rIns="0" bIns="0" rtlCol="0" anchor="ctr"/>
          <a:lstStyle/>
          <a:p>
            <a:pPr indent="0" marL="0">
              <a:buNone/>
            </a:pPr>
            <a:r>
              <a:rPr lang="en-US" sz="1100" b="1" spc="200" kern="0" dirty="0">
                <a:solidFill>
                  <a:srgbClr val="C25A2E"/>
                </a:solidFill>
                <a:latin typeface="Calibri" pitchFamily="34" charset="0"/>
                <a:ea typeface="Calibri" pitchFamily="34" charset="-122"/>
                <a:cs typeface="Calibri" pitchFamily="34" charset="-120"/>
              </a:rPr>
              <a:t>CLOSING  ·  CLINICAL INPUT NEEDED</a:t>
            </a:r>
            <a:endParaRPr lang="en-US" sz="1100" dirty="0"/>
          </a:p>
        </p:txBody>
      </p:sp>
      <p:sp>
        <p:nvSpPr>
          <p:cNvPr id="3" name="Text 1"/>
          <p:cNvSpPr/>
          <p:nvPr/>
        </p:nvSpPr>
        <p:spPr>
          <a:xfrm>
            <a:off x="548640" y="585216"/>
            <a:ext cx="11064240" cy="566928"/>
          </a:xfrm>
          <a:prstGeom prst="rect">
            <a:avLst/>
          </a:prstGeom>
          <a:noFill/>
          <a:ln/>
        </p:spPr>
        <p:txBody>
          <a:bodyPr wrap="square" lIns="0" tIns="0" rIns="0" bIns="0" rtlCol="0" anchor="ctr"/>
          <a:lstStyle/>
          <a:p>
            <a:pPr indent="0" marL="0">
              <a:buNone/>
            </a:pPr>
            <a:r>
              <a:rPr lang="en-US" sz="2900" b="1" dirty="0">
                <a:solidFill>
                  <a:srgbClr val="1C3F5F"/>
                </a:solidFill>
                <a:latin typeface="Cambria" pitchFamily="34" charset="0"/>
                <a:ea typeface="Cambria" pitchFamily="34" charset="-122"/>
                <a:cs typeface="Cambria" pitchFamily="34" charset="-120"/>
              </a:rPr>
              <a:t>Questions for Dr. Khan</a:t>
            </a:r>
            <a:endParaRPr lang="en-US" sz="2900" dirty="0"/>
          </a:p>
        </p:txBody>
      </p:sp>
      <p:sp>
        <p:nvSpPr>
          <p:cNvPr id="4" name="Text 2"/>
          <p:cNvSpPr/>
          <p:nvPr/>
        </p:nvSpPr>
        <p:spPr>
          <a:xfrm>
            <a:off x="548640" y="1188720"/>
            <a:ext cx="5394960" cy="320040"/>
          </a:xfrm>
          <a:prstGeom prst="rect">
            <a:avLst/>
          </a:prstGeom>
          <a:noFill/>
          <a:ln/>
        </p:spPr>
        <p:txBody>
          <a:bodyPr wrap="square" lIns="0" tIns="0" rIns="0" bIns="0" rtlCol="0" anchor="ctr"/>
          <a:lstStyle/>
          <a:p>
            <a:pPr indent="0" marL="0">
              <a:buNone/>
            </a:pPr>
            <a:r>
              <a:rPr lang="en-US" sz="1350" b="1" dirty="0">
                <a:solidFill>
                  <a:srgbClr val="2A7F7F"/>
                </a:solidFill>
                <a:latin typeface="Calibri" pitchFamily="34" charset="0"/>
                <a:ea typeface="Calibri" pitchFamily="34" charset="-122"/>
                <a:cs typeface="Calibri" pitchFamily="34" charset="-120"/>
              </a:rPr>
              <a:t>Clinical — these unblock the decisive experiment</a:t>
            </a:r>
            <a:endParaRPr lang="en-US" sz="1350" dirty="0"/>
          </a:p>
        </p:txBody>
      </p:sp>
      <p:sp>
        <p:nvSpPr>
          <p:cNvPr id="5" name="Shape 3"/>
          <p:cNvSpPr/>
          <p:nvPr/>
        </p:nvSpPr>
        <p:spPr>
          <a:xfrm>
            <a:off x="548640" y="1572768"/>
            <a:ext cx="5394960" cy="3108960"/>
          </a:xfrm>
          <a:prstGeom prst="roundRect">
            <a:avLst>
              <a:gd name="adj" fmla="val 1765"/>
            </a:avLst>
          </a:prstGeom>
          <a:solidFill>
            <a:srgbClr val="F0F5F3"/>
          </a:solidFill>
          <a:ln w="12700">
            <a:solidFill>
              <a:srgbClr val="2A7F7F"/>
            </a:solidFill>
            <a:prstDash val="solid"/>
          </a:ln>
        </p:spPr>
      </p:sp>
      <p:sp>
        <p:nvSpPr>
          <p:cNvPr id="6" name="Text 4"/>
          <p:cNvSpPr/>
          <p:nvPr/>
        </p:nvSpPr>
        <p:spPr>
          <a:xfrm>
            <a:off x="868680" y="1737360"/>
            <a:ext cx="4800600" cy="2788920"/>
          </a:xfrm>
          <a:prstGeom prst="rect">
            <a:avLst/>
          </a:prstGeom>
          <a:noFill/>
          <a:ln/>
        </p:spPr>
        <p:txBody>
          <a:bodyPr wrap="square" lIns="0" tIns="0" rIns="0" bIns="0" rtlCol="0" anchor="ctr"/>
          <a:lstStyle/>
          <a:p>
            <a:pPr marL="342900" indent="-342900">
              <a:lnSpc>
                <a:spcPts val="1600"/>
              </a:lnSpc>
              <a:spcAft>
                <a:spcPts val="1000"/>
              </a:spcAft>
              <a:buSzPct val="100000"/>
              <a:buChar char="•"/>
            </a:pPr>
            <a:r>
              <a:rPr lang="en-US" sz="1200" dirty="0">
                <a:solidFill>
                  <a:srgbClr val="22282E"/>
                </a:solidFill>
                <a:latin typeface="Calibri" pitchFamily="34" charset="0"/>
                <a:ea typeface="Calibri" pitchFamily="34" charset="-122"/>
                <a:cs typeface="Calibri" pitchFamily="34" charset="-120"/>
              </a:rPr>
              <a:t>Can heart failure plausibly elevate PTFV1 / the atrial electrical marker? If not, what is the right redundant pair — age, LA size, chronic hemodynamic load?</a:t>
            </a:r>
            <a:endParaRPr lang="en-US" sz="1200" dirty="0"/>
          </a:p>
          <a:p>
            <a:pPr marL="342900" indent="-342900">
              <a:lnSpc>
                <a:spcPts val="1600"/>
              </a:lnSpc>
              <a:spcAft>
                <a:spcPts val="1000"/>
              </a:spcAft>
              <a:buSzPct val="100000"/>
              <a:buChar char="•"/>
            </a:pPr>
            <a:r>
              <a:rPr lang="en-US" sz="1200" dirty="0">
                <a:solidFill>
                  <a:srgbClr val="22282E"/>
                </a:solidFill>
                <a:latin typeface="Calibri" pitchFamily="34" charset="0"/>
                <a:ea typeface="Calibri" pitchFamily="34" charset="-122"/>
                <a:cs typeface="Calibri" pitchFamily="34" charset="-120"/>
              </a:rPr>
              <a:t>Which nuisance causes should be explicit nodes? Currently renal only. Are renal, HF and inflammation the right three?</a:t>
            </a:r>
            <a:endParaRPr lang="en-US" sz="1200" dirty="0"/>
          </a:p>
          <a:p>
            <a:pPr marL="342900" indent="-342900">
              <a:lnSpc>
                <a:spcPts val="1600"/>
              </a:lnSpc>
              <a:spcAft>
                <a:spcPts val="1000"/>
              </a:spcAft>
              <a:buSzPct val="100000"/>
              <a:buChar char="•"/>
            </a:pPr>
            <a:r>
              <a:rPr lang="en-US" sz="1200" dirty="0">
                <a:solidFill>
                  <a:srgbClr val="22282E"/>
                </a:solidFill>
                <a:latin typeface="Calibri" pitchFamily="34" charset="0"/>
                <a:ea typeface="Calibri" pitchFamily="34" charset="-122"/>
                <a:cs typeface="Calibri" pitchFamily="34" charset="-120"/>
              </a:rPr>
              <a:t>Realistic effect magnitudes for renal → NT-proBNP and HF → NT-proBNP, in standardized units.</a:t>
            </a:r>
            <a:endParaRPr lang="en-US" sz="1200" dirty="0"/>
          </a:p>
          <a:p>
            <a:pPr marL="342900" indent="-342900">
              <a:lnSpc>
                <a:spcPts val="1600"/>
              </a:lnSpc>
              <a:buSzPct val="100000"/>
              <a:buChar char="•"/>
            </a:pPr>
            <a:r>
              <a:rPr lang="en-US" sz="1200" dirty="0">
                <a:solidFill>
                  <a:srgbClr val="22282E"/>
                </a:solidFill>
                <a:latin typeface="Calibri" pitchFamily="34" charset="0"/>
                <a:ea typeface="Calibri" pitchFamily="34" charset="-122"/>
                <a:cs typeface="Calibri" pitchFamily="34" charset="-120"/>
              </a:rPr>
              <a:t>Clinically, when should the model abstain? Which marker combinations would make you say “I can't call this one”?</a:t>
            </a:r>
            <a:endParaRPr lang="en-US" sz="1200" dirty="0"/>
          </a:p>
        </p:txBody>
      </p:sp>
      <p:sp>
        <p:nvSpPr>
          <p:cNvPr id="7" name="Text 5"/>
          <p:cNvSpPr/>
          <p:nvPr/>
        </p:nvSpPr>
        <p:spPr>
          <a:xfrm>
            <a:off x="6172200" y="1188720"/>
            <a:ext cx="5440680" cy="320040"/>
          </a:xfrm>
          <a:prstGeom prst="rect">
            <a:avLst/>
          </a:prstGeom>
          <a:noFill/>
          <a:ln/>
        </p:spPr>
        <p:txBody>
          <a:bodyPr wrap="square" lIns="0" tIns="0" rIns="0" bIns="0" rtlCol="0" anchor="ctr"/>
          <a:lstStyle/>
          <a:p>
            <a:pPr indent="0" marL="0">
              <a:buNone/>
            </a:pPr>
            <a:r>
              <a:rPr lang="en-US" sz="1350" b="1" dirty="0">
                <a:solidFill>
                  <a:srgbClr val="C25A2E"/>
                </a:solidFill>
                <a:latin typeface="Calibri" pitchFamily="34" charset="0"/>
                <a:ea typeface="Calibri" pitchFamily="34" charset="-122"/>
                <a:cs typeface="Calibri" pitchFamily="34" charset="-120"/>
              </a:rPr>
              <a:t>Access — these are R01 submission gates</a:t>
            </a:r>
            <a:endParaRPr lang="en-US" sz="1350" dirty="0"/>
          </a:p>
        </p:txBody>
      </p:sp>
      <p:sp>
        <p:nvSpPr>
          <p:cNvPr id="8" name="Shape 6"/>
          <p:cNvSpPr/>
          <p:nvPr/>
        </p:nvSpPr>
        <p:spPr>
          <a:xfrm>
            <a:off x="6172200" y="1572768"/>
            <a:ext cx="5440680" cy="3108960"/>
          </a:xfrm>
          <a:prstGeom prst="roundRect">
            <a:avLst>
              <a:gd name="adj" fmla="val 1765"/>
            </a:avLst>
          </a:prstGeom>
          <a:solidFill>
            <a:srgbClr val="FDF6F2"/>
          </a:solidFill>
          <a:ln w="12700">
            <a:solidFill>
              <a:srgbClr val="C25A2E"/>
            </a:solidFill>
            <a:prstDash val="solid"/>
          </a:ln>
        </p:spPr>
      </p:sp>
      <p:sp>
        <p:nvSpPr>
          <p:cNvPr id="9" name="Text 7"/>
          <p:cNvSpPr/>
          <p:nvPr/>
        </p:nvSpPr>
        <p:spPr>
          <a:xfrm>
            <a:off x="6492240" y="1737360"/>
            <a:ext cx="4846320" cy="2788920"/>
          </a:xfrm>
          <a:prstGeom prst="rect">
            <a:avLst/>
          </a:prstGeom>
          <a:noFill/>
          <a:ln/>
        </p:spPr>
        <p:txBody>
          <a:bodyPr wrap="square" lIns="0" tIns="0" rIns="0" bIns="0" rtlCol="0" anchor="ctr"/>
          <a:lstStyle/>
          <a:p>
            <a:pPr marL="342900" indent="-342900">
              <a:lnSpc>
                <a:spcPts val="1600"/>
              </a:lnSpc>
              <a:spcAft>
                <a:spcPts val="1000"/>
              </a:spcAft>
              <a:buSzPct val="100000"/>
              <a:buChar char="•"/>
            </a:pPr>
            <a:r>
              <a:rPr lang="en-US" sz="1200" dirty="0">
                <a:solidFill>
                  <a:srgbClr val="22282E"/>
                </a:solidFill>
                <a:latin typeface="Calibri" pitchFamily="34" charset="0"/>
                <a:ea typeface="Calibri" pitchFamily="34" charset="-122"/>
                <a:cs typeface="Calibri" pitchFamily="34" charset="-120"/>
              </a:rPr>
              <a:t>Name the Aim 3 external cohort: custodian, sites, N, markers, outcomes, DUA/IRB status, timeline.</a:t>
            </a:r>
            <a:endParaRPr lang="en-US" sz="1200" dirty="0"/>
          </a:p>
          <a:p>
            <a:pPr marL="342900" indent="-342900">
              <a:lnSpc>
                <a:spcPts val="1600"/>
              </a:lnSpc>
              <a:spcAft>
                <a:spcPts val="1000"/>
              </a:spcAft>
              <a:buSzPct val="100000"/>
              <a:buChar char="•"/>
            </a:pPr>
            <a:r>
              <a:rPr lang="en-US" sz="1200" dirty="0">
                <a:solidFill>
                  <a:srgbClr val="22282E"/>
                </a:solidFill>
                <a:latin typeface="Calibri" pitchFamily="34" charset="0"/>
                <a:ea typeface="Calibri" pitchFamily="34" charset="-122"/>
                <a:cs typeface="Calibri" pitchFamily="34" charset="-120"/>
              </a:rPr>
              <a:t>StrokeNet — letters of cooperation or a formal DUA? What is the timeline?</a:t>
            </a:r>
            <a:endParaRPr lang="en-US" sz="1200" dirty="0"/>
          </a:p>
          <a:p>
            <a:pPr marL="342900" indent="-342900">
              <a:lnSpc>
                <a:spcPts val="1600"/>
              </a:lnSpc>
              <a:spcAft>
                <a:spcPts val="1000"/>
              </a:spcAft>
              <a:buSzPct val="100000"/>
              <a:buChar char="•"/>
            </a:pPr>
            <a:r>
              <a:rPr lang="en-US" sz="1200" dirty="0">
                <a:solidFill>
                  <a:srgbClr val="22282E"/>
                </a:solidFill>
                <a:latin typeface="Calibri" pitchFamily="34" charset="0"/>
                <a:ea typeface="Calibri" pitchFamily="34" charset="-122"/>
                <a:cs typeface="Calibri" pitchFamily="34" charset="-120"/>
              </a:rPr>
              <a:t>ARCADIA DUA — can aggregate output appear in a preprint, or does that need clearance first?</a:t>
            </a:r>
            <a:endParaRPr lang="en-US" sz="1200" dirty="0"/>
          </a:p>
          <a:p>
            <a:pPr marL="342900" indent="-342900">
              <a:lnSpc>
                <a:spcPts val="1600"/>
              </a:lnSpc>
              <a:buSzPct val="100000"/>
              <a:buChar char="•"/>
            </a:pPr>
            <a:r>
              <a:rPr lang="en-US" sz="1200" dirty="0">
                <a:solidFill>
                  <a:srgbClr val="22282E"/>
                </a:solidFill>
                <a:latin typeface="Calibri" pitchFamily="34" charset="0"/>
                <a:ea typeface="Calibri" pitchFamily="34" charset="-122"/>
                <a:cs typeface="Calibri" pitchFamily="34" charset="-120"/>
              </a:rPr>
              <a:t>Which case types and cohorts for the 2–3 neurologist evaluation panel? You choose, not us.</a:t>
            </a:r>
            <a:endParaRPr lang="en-US" sz="1200" dirty="0"/>
          </a:p>
        </p:txBody>
      </p:sp>
      <p:sp>
        <p:nvSpPr>
          <p:cNvPr id="10" name="Shape 8"/>
          <p:cNvSpPr/>
          <p:nvPr/>
        </p:nvSpPr>
        <p:spPr>
          <a:xfrm>
            <a:off x="548640" y="4892040"/>
            <a:ext cx="11064240" cy="1188720"/>
          </a:xfrm>
          <a:prstGeom prst="roundRect">
            <a:avLst>
              <a:gd name="adj" fmla="val 4615"/>
            </a:avLst>
          </a:prstGeom>
          <a:solidFill>
            <a:srgbClr val="F5F7F9"/>
          </a:solidFill>
          <a:ln w="12700">
            <a:solidFill>
              <a:srgbClr val="1C3F5F"/>
            </a:solidFill>
            <a:prstDash val="solid"/>
          </a:ln>
        </p:spPr>
      </p:sp>
      <p:sp>
        <p:nvSpPr>
          <p:cNvPr id="11" name="Text 9"/>
          <p:cNvSpPr/>
          <p:nvPr/>
        </p:nvSpPr>
        <p:spPr>
          <a:xfrm>
            <a:off x="868680" y="5010912"/>
            <a:ext cx="10424160" cy="274320"/>
          </a:xfrm>
          <a:prstGeom prst="rect">
            <a:avLst/>
          </a:prstGeom>
          <a:noFill/>
          <a:ln/>
        </p:spPr>
        <p:txBody>
          <a:bodyPr wrap="square" lIns="0" tIns="0" rIns="0" bIns="0" rtlCol="0" anchor="ctr"/>
          <a:lstStyle/>
          <a:p>
            <a:pPr indent="0" marL="0">
              <a:buNone/>
            </a:pPr>
            <a:r>
              <a:rPr lang="en-US" sz="1200" b="1" dirty="0">
                <a:solidFill>
                  <a:srgbClr val="1C3F5F"/>
                </a:solidFill>
                <a:latin typeface="Calibri" pitchFamily="34" charset="0"/>
                <a:ea typeface="Calibri" pitchFamily="34" charset="-122"/>
                <a:cs typeface="Calibri" pitchFamily="34" charset="-120"/>
              </a:rPr>
              <a:t>On the Aim 3 cohort — the Research Strategy's own words</a:t>
            </a:r>
            <a:endParaRPr lang="en-US" sz="1200" dirty="0"/>
          </a:p>
        </p:txBody>
      </p:sp>
      <p:sp>
        <p:nvSpPr>
          <p:cNvPr id="12" name="Text 10"/>
          <p:cNvSpPr/>
          <p:nvPr/>
        </p:nvSpPr>
        <p:spPr>
          <a:xfrm>
            <a:off x="868680" y="5303520"/>
            <a:ext cx="10424160" cy="658368"/>
          </a:xfrm>
          <a:prstGeom prst="rect">
            <a:avLst/>
          </a:prstGeom>
          <a:noFill/>
          <a:ln/>
        </p:spPr>
        <p:txBody>
          <a:bodyPr wrap="square" lIns="0" tIns="0" rIns="0" bIns="0" rtlCol="0" anchor="ctr"/>
          <a:lstStyle/>
          <a:p>
            <a:pPr indent="0" marL="0">
              <a:lnSpc>
                <a:spcPts val="1800"/>
              </a:lnSpc>
              <a:buNone/>
            </a:pPr>
            <a:r>
              <a:rPr lang="en-US" sz="1350" i="1" dirty="0">
                <a:solidFill>
                  <a:srgbClr val="22282E"/>
                </a:solidFill>
                <a:latin typeface="Cambria" pitchFamily="34" charset="0"/>
                <a:ea typeface="Cambria" pitchFamily="34" charset="-122"/>
                <a:cs typeface="Cambria" pitchFamily="34" charset="-120"/>
              </a:rPr>
              <a:t>“Replace every Aim 3 bracket with a confirmed dataset and actual feasibility numbers. If this cannot be done, the three-aim R01 should not be submitted in its current form.”</a:t>
            </a:r>
            <a:endParaRPr lang="en-US" sz="13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C3F5F"/>
        </a:solidFill>
      </p:bgPr>
    </p:bg>
    <p:spTree>
      <p:nvGrpSpPr>
        <p:cNvPr id="1" name=""/>
        <p:cNvGrpSpPr/>
        <p:nvPr/>
      </p:nvGrpSpPr>
      <p:grpSpPr>
        <a:xfrm>
          <a:off x="0" y="0"/>
          <a:ext cx="0" cy="0"/>
          <a:chOff x="0" y="0"/>
          <a:chExt cx="0" cy="0"/>
        </a:xfrm>
      </p:grpSpPr>
      <p:sp>
        <p:nvSpPr>
          <p:cNvPr id="2" name="Text 0"/>
          <p:cNvSpPr/>
          <p:nvPr/>
        </p:nvSpPr>
        <p:spPr>
          <a:xfrm>
            <a:off x="822960" y="1371600"/>
            <a:ext cx="10515600" cy="320040"/>
          </a:xfrm>
          <a:prstGeom prst="rect">
            <a:avLst/>
          </a:prstGeom>
          <a:noFill/>
          <a:ln/>
        </p:spPr>
        <p:txBody>
          <a:bodyPr wrap="square" rtlCol="0" anchor="ctr"/>
          <a:lstStyle/>
          <a:p>
            <a:pPr indent="0" marL="0">
              <a:buNone/>
            </a:pPr>
            <a:r>
              <a:rPr lang="en-US" sz="1300" b="1" spc="300" kern="0" dirty="0">
                <a:solidFill>
                  <a:srgbClr val="9DB6CC"/>
                </a:solidFill>
                <a:latin typeface="Calibri" pitchFamily="34" charset="0"/>
                <a:ea typeface="Calibri" pitchFamily="34" charset="-122"/>
                <a:cs typeface="Calibri" pitchFamily="34" charset="-120"/>
              </a:rPr>
              <a:t>WHERE WE ARE</a:t>
            </a:r>
            <a:endParaRPr lang="en-US" sz="1300" dirty="0"/>
          </a:p>
        </p:txBody>
      </p:sp>
      <p:sp>
        <p:nvSpPr>
          <p:cNvPr id="3" name="Text 1"/>
          <p:cNvSpPr/>
          <p:nvPr/>
        </p:nvSpPr>
        <p:spPr>
          <a:xfrm>
            <a:off x="822960" y="1783080"/>
            <a:ext cx="10515600" cy="1371600"/>
          </a:xfrm>
          <a:prstGeom prst="rect">
            <a:avLst/>
          </a:prstGeom>
          <a:noFill/>
          <a:ln/>
        </p:spPr>
        <p:txBody>
          <a:bodyPr wrap="square" rtlCol="0" anchor="ctr"/>
          <a:lstStyle/>
          <a:p>
            <a:pPr indent="0" marL="0">
              <a:lnSpc>
                <a:spcPts val="4400"/>
              </a:lnSpc>
              <a:buNone/>
            </a:pPr>
            <a:r>
              <a:rPr lang="en-US" sz="4000" b="1" dirty="0">
                <a:solidFill>
                  <a:srgbClr val="FFFFFF"/>
                </a:solidFill>
                <a:latin typeface="Cambria" pitchFamily="34" charset="0"/>
                <a:ea typeface="Cambria" pitchFamily="34" charset="-122"/>
                <a:cs typeface="Cambria" pitchFamily="34" charset="-120"/>
              </a:rPr>
              <a:t>Solid evidence. One claim to earn.</a:t>
            </a:r>
            <a:endParaRPr lang="en-US" sz="4000" dirty="0"/>
          </a:p>
          <a:p>
            <a:pPr indent="0" marL="0">
              <a:lnSpc>
                <a:spcPts val="4400"/>
              </a:lnSpc>
              <a:buNone/>
            </a:pPr>
            <a:r>
              <a:rPr lang="en-US" sz="4000" b="1" dirty="0">
                <a:solidFill>
                  <a:srgbClr val="FFFFFF"/>
                </a:solidFill>
                <a:latin typeface="Cambria" pitchFamily="34" charset="0"/>
                <a:ea typeface="Cambria" pitchFamily="34" charset="-122"/>
                <a:cs typeface="Cambria" pitchFamily="34" charset="-120"/>
              </a:rPr>
              <a:t>A scope decision to make.</a:t>
            </a:r>
            <a:endParaRPr lang="en-US" sz="4000" dirty="0"/>
          </a:p>
        </p:txBody>
      </p:sp>
      <p:sp>
        <p:nvSpPr>
          <p:cNvPr id="4" name="Shape 2"/>
          <p:cNvSpPr/>
          <p:nvPr/>
        </p:nvSpPr>
        <p:spPr>
          <a:xfrm>
            <a:off x="822960" y="3429000"/>
            <a:ext cx="10515600" cy="713232"/>
          </a:xfrm>
          <a:prstGeom prst="roundRect">
            <a:avLst>
              <a:gd name="adj" fmla="val 7692"/>
            </a:avLst>
          </a:prstGeom>
          <a:solidFill>
            <a:srgbClr val="27506F"/>
          </a:solidFill>
          <a:ln/>
        </p:spPr>
      </p:sp>
      <p:sp>
        <p:nvSpPr>
          <p:cNvPr id="5" name="Text 3"/>
          <p:cNvSpPr/>
          <p:nvPr/>
        </p:nvSpPr>
        <p:spPr>
          <a:xfrm>
            <a:off x="1097280" y="3483864"/>
            <a:ext cx="1554480" cy="603504"/>
          </a:xfrm>
          <a:prstGeom prst="rect">
            <a:avLst/>
          </a:prstGeom>
          <a:noFill/>
          <a:ln/>
        </p:spPr>
        <p:txBody>
          <a:bodyPr wrap="square" lIns="0" tIns="0" rIns="0" bIns="0" rtlCol="0" anchor="ctr"/>
          <a:lstStyle/>
          <a:p>
            <a:pPr indent="0" marL="0">
              <a:buNone/>
            </a:pPr>
            <a:r>
              <a:rPr lang="en-US" sz="1300" b="1" dirty="0">
                <a:solidFill>
                  <a:srgbClr val="C25A2E"/>
                </a:solidFill>
                <a:latin typeface="Calibri" pitchFamily="34" charset="0"/>
                <a:ea typeface="Calibri" pitchFamily="34" charset="-122"/>
                <a:cs typeface="Calibri" pitchFamily="34" charset="-120"/>
              </a:rPr>
              <a:t>Locked</a:t>
            </a:r>
            <a:endParaRPr lang="en-US" sz="1300" dirty="0"/>
          </a:p>
        </p:txBody>
      </p:sp>
      <p:sp>
        <p:nvSpPr>
          <p:cNvPr id="6" name="Text 4"/>
          <p:cNvSpPr/>
          <p:nvPr/>
        </p:nvSpPr>
        <p:spPr>
          <a:xfrm>
            <a:off x="2743200" y="3483864"/>
            <a:ext cx="8412480" cy="603504"/>
          </a:xfrm>
          <a:prstGeom prst="rect">
            <a:avLst/>
          </a:prstGeom>
          <a:noFill/>
          <a:ln/>
        </p:spPr>
        <p:txBody>
          <a:bodyPr wrap="square" lIns="0" tIns="0" rIns="0" bIns="0" rtlCol="0" anchor="ctr"/>
          <a:lstStyle/>
          <a:p>
            <a:pPr indent="0" marL="0">
              <a:lnSpc>
                <a:spcPts val="1600"/>
              </a:lnSpc>
              <a:buNone/>
            </a:pPr>
            <a:r>
              <a:rPr lang="en-US" sz="1250" dirty="0">
                <a:solidFill>
                  <a:srgbClr val="E3ECF4"/>
                </a:solidFill>
                <a:latin typeface="Calibri" pitchFamily="34" charset="0"/>
                <a:ea typeface="Calibri" pitchFamily="34" charset="-122"/>
                <a:cs typeface="Calibri" pitchFamily="34" charset="-120"/>
              </a:rPr>
              <a:t>Two experiments reproducible with validation checks; K = 1 null is a strong, reviewer-proof result</a:t>
            </a:r>
            <a:endParaRPr lang="en-US" sz="1250" dirty="0"/>
          </a:p>
        </p:txBody>
      </p:sp>
      <p:sp>
        <p:nvSpPr>
          <p:cNvPr id="7" name="Shape 5"/>
          <p:cNvSpPr/>
          <p:nvPr/>
        </p:nvSpPr>
        <p:spPr>
          <a:xfrm>
            <a:off x="822960" y="4270248"/>
            <a:ext cx="10515600" cy="713232"/>
          </a:xfrm>
          <a:prstGeom prst="roundRect">
            <a:avLst>
              <a:gd name="adj" fmla="val 7692"/>
            </a:avLst>
          </a:prstGeom>
          <a:solidFill>
            <a:srgbClr val="27506F"/>
          </a:solidFill>
          <a:ln/>
        </p:spPr>
      </p:sp>
      <p:sp>
        <p:nvSpPr>
          <p:cNvPr id="8" name="Text 6"/>
          <p:cNvSpPr/>
          <p:nvPr/>
        </p:nvSpPr>
        <p:spPr>
          <a:xfrm>
            <a:off x="1097280" y="4325112"/>
            <a:ext cx="1554480" cy="603504"/>
          </a:xfrm>
          <a:prstGeom prst="rect">
            <a:avLst/>
          </a:prstGeom>
          <a:noFill/>
          <a:ln/>
        </p:spPr>
        <p:txBody>
          <a:bodyPr wrap="square" lIns="0" tIns="0" rIns="0" bIns="0" rtlCol="0" anchor="ctr"/>
          <a:lstStyle/>
          <a:p>
            <a:pPr indent="0" marL="0">
              <a:buNone/>
            </a:pPr>
            <a:r>
              <a:rPr lang="en-US" sz="1300" b="1" dirty="0">
                <a:solidFill>
                  <a:srgbClr val="C25A2E"/>
                </a:solidFill>
                <a:latin typeface="Calibri" pitchFamily="34" charset="0"/>
                <a:ea typeface="Calibri" pitchFamily="34" charset="-122"/>
                <a:cs typeface="Calibri" pitchFamily="34" charset="-120"/>
              </a:rPr>
              <a:t>Found</a:t>
            </a:r>
            <a:endParaRPr lang="en-US" sz="1300" dirty="0"/>
          </a:p>
        </p:txBody>
      </p:sp>
      <p:sp>
        <p:nvSpPr>
          <p:cNvPr id="9" name="Text 7"/>
          <p:cNvSpPr/>
          <p:nvPr/>
        </p:nvSpPr>
        <p:spPr>
          <a:xfrm>
            <a:off x="2743200" y="4325112"/>
            <a:ext cx="8412480" cy="603504"/>
          </a:xfrm>
          <a:prstGeom prst="rect">
            <a:avLst/>
          </a:prstGeom>
          <a:noFill/>
          <a:ln/>
        </p:spPr>
        <p:txBody>
          <a:bodyPr wrap="square" lIns="0" tIns="0" rIns="0" bIns="0" rtlCol="0" anchor="ctr"/>
          <a:lstStyle/>
          <a:p>
            <a:pPr indent="0" marL="0">
              <a:lnSpc>
                <a:spcPts val="1600"/>
              </a:lnSpc>
              <a:buNone/>
            </a:pPr>
            <a:r>
              <a:rPr lang="en-US" sz="1250" dirty="0">
                <a:solidFill>
                  <a:srgbClr val="E3ECF4"/>
                </a:solidFill>
                <a:latin typeface="Calibri" pitchFamily="34" charset="0"/>
                <a:ea typeface="Calibri" pitchFamily="34" charset="-122"/>
                <a:cs typeface="Calibri" pitchFamily="34" charset="-120"/>
              </a:rPr>
              <a:t>The counterfactual collapse is analytic, not empirical — traced in the code, redesign proposed</a:t>
            </a:r>
            <a:endParaRPr lang="en-US" sz="1250" dirty="0"/>
          </a:p>
        </p:txBody>
      </p:sp>
      <p:sp>
        <p:nvSpPr>
          <p:cNvPr id="10" name="Shape 8"/>
          <p:cNvSpPr/>
          <p:nvPr/>
        </p:nvSpPr>
        <p:spPr>
          <a:xfrm>
            <a:off x="822960" y="5111496"/>
            <a:ext cx="10515600" cy="713232"/>
          </a:xfrm>
          <a:prstGeom prst="roundRect">
            <a:avLst>
              <a:gd name="adj" fmla="val 7692"/>
            </a:avLst>
          </a:prstGeom>
          <a:solidFill>
            <a:srgbClr val="27506F"/>
          </a:solidFill>
          <a:ln/>
        </p:spPr>
      </p:sp>
      <p:sp>
        <p:nvSpPr>
          <p:cNvPr id="11" name="Text 9"/>
          <p:cNvSpPr/>
          <p:nvPr/>
        </p:nvSpPr>
        <p:spPr>
          <a:xfrm>
            <a:off x="1097280" y="5166360"/>
            <a:ext cx="1554480" cy="603504"/>
          </a:xfrm>
          <a:prstGeom prst="rect">
            <a:avLst/>
          </a:prstGeom>
          <a:noFill/>
          <a:ln/>
        </p:spPr>
        <p:txBody>
          <a:bodyPr wrap="square" lIns="0" tIns="0" rIns="0" bIns="0" rtlCol="0" anchor="ctr"/>
          <a:lstStyle/>
          <a:p>
            <a:pPr indent="0" marL="0">
              <a:buNone/>
            </a:pPr>
            <a:r>
              <a:rPr lang="en-US" sz="1300" b="1" dirty="0">
                <a:solidFill>
                  <a:srgbClr val="C25A2E"/>
                </a:solidFill>
                <a:latin typeface="Calibri" pitchFamily="34" charset="0"/>
                <a:ea typeface="Calibri" pitchFamily="34" charset="-122"/>
                <a:cs typeface="Calibri" pitchFamily="34" charset="-120"/>
              </a:rPr>
              <a:t>Needed</a:t>
            </a:r>
            <a:endParaRPr lang="en-US" sz="1300" dirty="0"/>
          </a:p>
        </p:txBody>
      </p:sp>
      <p:sp>
        <p:nvSpPr>
          <p:cNvPr id="12" name="Text 10"/>
          <p:cNvSpPr/>
          <p:nvPr/>
        </p:nvSpPr>
        <p:spPr>
          <a:xfrm>
            <a:off x="2743200" y="5166360"/>
            <a:ext cx="8412480" cy="603504"/>
          </a:xfrm>
          <a:prstGeom prst="rect">
            <a:avLst/>
          </a:prstGeom>
          <a:noFill/>
          <a:ln/>
        </p:spPr>
        <p:txBody>
          <a:bodyPr wrap="square" lIns="0" tIns="0" rIns="0" bIns="0" rtlCol="0" anchor="ctr"/>
          <a:lstStyle/>
          <a:p>
            <a:pPr indent="0" marL="0">
              <a:lnSpc>
                <a:spcPts val="1600"/>
              </a:lnSpc>
              <a:buNone/>
            </a:pPr>
            <a:r>
              <a:rPr lang="en-US" sz="1250" dirty="0">
                <a:solidFill>
                  <a:srgbClr val="E3ECF4"/>
                </a:solidFill>
                <a:latin typeface="Calibri" pitchFamily="34" charset="0"/>
                <a:ea typeface="Calibri" pitchFamily="34" charset="-122"/>
                <a:cs typeface="Calibri" pitchFamily="34" charset="-120"/>
              </a:rPr>
              <a:t>~28 h to the decisive answer · a scope call · a named Aim 3 cohort</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2026-08-03T06:41:42Z</dcterms:created>
  <dcterms:modified xsi:type="dcterms:W3CDTF">2026-08-03T06:41:42Z</dcterms:modified>
</cp:coreProperties>
</file>